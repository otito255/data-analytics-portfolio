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embeddedFontLst>
    <p:embeddedFont>
      <p:font typeface="Liter" charset="-122" pitchFamily="34"/>
      <p:regular r:id="rId21"/>
    </p:embeddedFont>
    <p:embeddedFont>
      <p:font typeface="Hedvig Letters Sans" charset="-122" pitchFamily="34"/>
      <p:regular r:id="rId22"/>
    </p:embeddedFont>
    <p:embeddedFont>
      <p:font typeface="Quattrocento Sans" charset="-122" pitchFamily="34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font" Target="fonts/font1.fntdata"/><Relationship Id="rId22" Type="http://schemas.openxmlformats.org/officeDocument/2006/relationships/font" Target="fonts/font2.fntdata"/><Relationship Id="rId23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gd-hbimg.huaban.com/257e01069bacb95ae3568d02edba8901af78fbf5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4">
                  <a:alpha val="95000"/>
                </a:srgbClr>
              </a:gs>
              <a:gs pos="50000">
                <a:srgbClr val="1A1D24">
                  <a:alpha val="85000"/>
                </a:srgbClr>
              </a:gs>
              <a:gs pos="100000">
                <a:srgbClr val="4A6C8C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385763"/>
            <a:ext cx="2562225" cy="428625"/>
          </a:xfrm>
          <a:custGeom>
            <a:avLst/>
            <a:gdLst/>
            <a:ahLst/>
            <a:cxnLst/>
            <a:rect l="l" t="t" r="r" b="b"/>
            <a:pathLst>
              <a:path w="2562225" h="428625">
                <a:moveTo>
                  <a:pt x="38100" y="0"/>
                </a:moveTo>
                <a:lnTo>
                  <a:pt x="2524125" y="0"/>
                </a:lnTo>
                <a:cubicBezTo>
                  <a:pt x="2545167" y="0"/>
                  <a:pt x="2562225" y="17058"/>
                  <a:pt x="2562225" y="38100"/>
                </a:cubicBezTo>
                <a:lnTo>
                  <a:pt x="2562225" y="390525"/>
                </a:lnTo>
                <a:cubicBezTo>
                  <a:pt x="2562225" y="411567"/>
                  <a:pt x="2545167" y="428625"/>
                  <a:pt x="2524125" y="428625"/>
                </a:cubicBezTo>
                <a:lnTo>
                  <a:pt x="38100" y="428625"/>
                </a:lnTo>
                <a:cubicBezTo>
                  <a:pt x="17058" y="428625"/>
                  <a:pt x="0" y="411567"/>
                  <a:pt x="0" y="3905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9A8C">
              <a:alpha val="20000"/>
            </a:srgbClr>
          </a:solidFill>
          <a:ln w="12700">
            <a:solidFill>
              <a:srgbClr val="4E9A8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1025" y="466725"/>
            <a:ext cx="2257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135" kern="0" dirty="0">
                <a:solidFill>
                  <a:srgbClr val="4E9A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BOARD PRESENTATION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678716" y="381000"/>
            <a:ext cx="1133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50" dirty="0">
                <a:solidFill>
                  <a:srgbClr val="7D8A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January 2026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790825"/>
            <a:ext cx="1185862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750" b="1" spc="-169" kern="0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Road Safety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6750" b="1" spc="-169" kern="0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Analytics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733925"/>
            <a:ext cx="1524000" cy="76200"/>
          </a:xfrm>
          <a:custGeom>
            <a:avLst/>
            <a:gdLst/>
            <a:ahLst/>
            <a:cxnLst/>
            <a:rect l="l" t="t" r="r" b="b"/>
            <a:pathLst>
              <a:path w="1524000" h="76200">
                <a:moveTo>
                  <a:pt x="0" y="0"/>
                </a:moveTo>
                <a:lnTo>
                  <a:pt x="1524000" y="0"/>
                </a:lnTo>
                <a:lnTo>
                  <a:pt x="1524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4E9A8C"/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5114925"/>
            <a:ext cx="1163002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150" spc="79" kern="0" dirty="0">
                <a:solidFill>
                  <a:srgbClr val="4A6C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Data-Driven Accident Risk Prediction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Impact Metrics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9525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E9A8C"/>
          </a:solidFill>
          <a:ln/>
        </p:spPr>
      </p:sp>
      <p:sp>
        <p:nvSpPr>
          <p:cNvPr id="4" name="Shape 2"/>
          <p:cNvSpPr/>
          <p:nvPr/>
        </p:nvSpPr>
        <p:spPr>
          <a:xfrm>
            <a:off x="1670000" y="2038350"/>
            <a:ext cx="1028700" cy="1028700"/>
          </a:xfrm>
          <a:custGeom>
            <a:avLst/>
            <a:gdLst/>
            <a:ahLst/>
            <a:cxnLst/>
            <a:rect l="l" t="t" r="r" b="b"/>
            <a:pathLst>
              <a:path w="1028700" h="1028700">
                <a:moveTo>
                  <a:pt x="514350" y="0"/>
                </a:moveTo>
                <a:lnTo>
                  <a:pt x="514350" y="0"/>
                </a:lnTo>
                <a:cubicBezTo>
                  <a:pt x="798227" y="0"/>
                  <a:pt x="1028700" y="230473"/>
                  <a:pt x="1028700" y="514350"/>
                </a:cubicBezTo>
                <a:lnTo>
                  <a:pt x="1028700" y="514350"/>
                </a:lnTo>
                <a:cubicBezTo>
                  <a:pt x="1028700" y="798227"/>
                  <a:pt x="798227" y="1028700"/>
                  <a:pt x="514350" y="1028700"/>
                </a:cubicBezTo>
                <a:lnTo>
                  <a:pt x="514350" y="1028700"/>
                </a:lnTo>
                <a:cubicBezTo>
                  <a:pt x="230473" y="1028700"/>
                  <a:pt x="0" y="798227"/>
                  <a:pt x="0" y="514350"/>
                </a:cubicBezTo>
                <a:lnTo>
                  <a:pt x="0" y="514350"/>
                </a:lnTo>
                <a:cubicBezTo>
                  <a:pt x="0" y="230473"/>
                  <a:pt x="230473" y="0"/>
                  <a:pt x="514350" y="0"/>
                </a:cubicBezTo>
                <a:close/>
              </a:path>
            </a:pathLst>
          </a:custGeom>
          <a:solidFill>
            <a:srgbClr val="4E9A8C">
              <a:alpha val="20000"/>
            </a:srgbClr>
          </a:solidFill>
          <a:ln w="50800">
            <a:solidFill>
              <a:srgbClr val="4E9A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98600" y="226695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285750" y="120439"/>
                </a:moveTo>
                <a:lnTo>
                  <a:pt x="269007" y="97222"/>
                </a:lnTo>
                <a:cubicBezTo>
                  <a:pt x="241102" y="58601"/>
                  <a:pt x="196342" y="35719"/>
                  <a:pt x="148568" y="35719"/>
                </a:cubicBezTo>
                <a:cubicBezTo>
                  <a:pt x="66526" y="35719"/>
                  <a:pt x="0" y="102245"/>
                  <a:pt x="0" y="184286"/>
                </a:cubicBezTo>
                <a:lnTo>
                  <a:pt x="0" y="187189"/>
                </a:lnTo>
                <a:cubicBezTo>
                  <a:pt x="0" y="213531"/>
                  <a:pt x="6921" y="240767"/>
                  <a:pt x="18529" y="267891"/>
                </a:cubicBezTo>
                <a:lnTo>
                  <a:pt x="136847" y="267891"/>
                </a:lnTo>
                <a:cubicBezTo>
                  <a:pt x="140419" y="267891"/>
                  <a:pt x="143656" y="265770"/>
                  <a:pt x="145107" y="262421"/>
                </a:cubicBezTo>
                <a:lnTo>
                  <a:pt x="180603" y="177254"/>
                </a:lnTo>
                <a:cubicBezTo>
                  <a:pt x="184733" y="167432"/>
                  <a:pt x="194332" y="160958"/>
                  <a:pt x="204936" y="160734"/>
                </a:cubicBezTo>
                <a:cubicBezTo>
                  <a:pt x="215540" y="160511"/>
                  <a:pt x="225363" y="166762"/>
                  <a:pt x="229716" y="176473"/>
                </a:cubicBezTo>
                <a:lnTo>
                  <a:pt x="286978" y="303609"/>
                </a:lnTo>
                <a:lnTo>
                  <a:pt x="333189" y="211187"/>
                </a:lnTo>
                <a:cubicBezTo>
                  <a:pt x="337765" y="202146"/>
                  <a:pt x="347030" y="196342"/>
                  <a:pt x="357188" y="196342"/>
                </a:cubicBezTo>
                <a:cubicBezTo>
                  <a:pt x="367345" y="196342"/>
                  <a:pt x="376610" y="202034"/>
                  <a:pt x="381186" y="211187"/>
                </a:cubicBezTo>
                <a:lnTo>
                  <a:pt x="407082" y="262868"/>
                </a:lnTo>
                <a:cubicBezTo>
                  <a:pt x="408645" y="265881"/>
                  <a:pt x="411659" y="267779"/>
                  <a:pt x="415119" y="267779"/>
                </a:cubicBezTo>
                <a:lnTo>
                  <a:pt x="553083" y="267779"/>
                </a:lnTo>
                <a:cubicBezTo>
                  <a:pt x="564803" y="240655"/>
                  <a:pt x="571612" y="213420"/>
                  <a:pt x="571612" y="187077"/>
                </a:cubicBezTo>
                <a:lnTo>
                  <a:pt x="571612" y="184175"/>
                </a:lnTo>
                <a:cubicBezTo>
                  <a:pt x="571500" y="102245"/>
                  <a:pt x="504974" y="35719"/>
                  <a:pt x="422932" y="35719"/>
                </a:cubicBezTo>
                <a:cubicBezTo>
                  <a:pt x="375270" y="35719"/>
                  <a:pt x="330398" y="58601"/>
                  <a:pt x="302493" y="97222"/>
                </a:cubicBezTo>
                <a:lnTo>
                  <a:pt x="285750" y="120328"/>
                </a:lnTo>
                <a:close/>
                <a:moveTo>
                  <a:pt x="524173" y="321469"/>
                </a:moveTo>
                <a:lnTo>
                  <a:pt x="415007" y="321469"/>
                </a:lnTo>
                <a:cubicBezTo>
                  <a:pt x="391344" y="321469"/>
                  <a:pt x="369689" y="308074"/>
                  <a:pt x="359085" y="286866"/>
                </a:cubicBezTo>
                <a:lnTo>
                  <a:pt x="357188" y="283071"/>
                </a:lnTo>
                <a:lnTo>
                  <a:pt x="309749" y="378061"/>
                </a:lnTo>
                <a:cubicBezTo>
                  <a:pt x="305172" y="387325"/>
                  <a:pt x="295573" y="393129"/>
                  <a:pt x="285192" y="392906"/>
                </a:cubicBezTo>
                <a:cubicBezTo>
                  <a:pt x="274811" y="392683"/>
                  <a:pt x="265547" y="386544"/>
                  <a:pt x="261305" y="377168"/>
                </a:cubicBezTo>
                <a:lnTo>
                  <a:pt x="206276" y="254943"/>
                </a:lnTo>
                <a:lnTo>
                  <a:pt x="194556" y="283071"/>
                </a:lnTo>
                <a:cubicBezTo>
                  <a:pt x="184845" y="306400"/>
                  <a:pt x="162074" y="321580"/>
                  <a:pt x="136847" y="321580"/>
                </a:cubicBezTo>
                <a:lnTo>
                  <a:pt x="47327" y="321580"/>
                </a:lnTo>
                <a:cubicBezTo>
                  <a:pt x="100013" y="403957"/>
                  <a:pt x="184621" y="479747"/>
                  <a:pt x="237530" y="520154"/>
                </a:cubicBezTo>
                <a:cubicBezTo>
                  <a:pt x="251371" y="530647"/>
                  <a:pt x="268337" y="535893"/>
                  <a:pt x="285638" y="535893"/>
                </a:cubicBezTo>
                <a:cubicBezTo>
                  <a:pt x="302940" y="535893"/>
                  <a:pt x="320018" y="530758"/>
                  <a:pt x="333747" y="520154"/>
                </a:cubicBezTo>
                <a:cubicBezTo>
                  <a:pt x="386879" y="479636"/>
                  <a:pt x="471488" y="403845"/>
                  <a:pt x="524173" y="321469"/>
                </a:cubicBezTo>
                <a:close/>
              </a:path>
            </a:pathLst>
          </a:custGeom>
          <a:solidFill>
            <a:srgbClr val="4E9A8C"/>
          </a:solidFill>
          <a:ln/>
        </p:spPr>
      </p:sp>
      <p:sp>
        <p:nvSpPr>
          <p:cNvPr id="6" name="Text 4"/>
          <p:cNvSpPr/>
          <p:nvPr/>
        </p:nvSpPr>
        <p:spPr>
          <a:xfrm>
            <a:off x="238125" y="3314700"/>
            <a:ext cx="38957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150-250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09563" y="4000500"/>
            <a:ext cx="37528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Lives Saved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33375" y="4419600"/>
            <a:ext cx="370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Annually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81501" y="2038350"/>
            <a:ext cx="1028700" cy="1028700"/>
          </a:xfrm>
          <a:custGeom>
            <a:avLst/>
            <a:gdLst/>
            <a:ahLst/>
            <a:cxnLst/>
            <a:rect l="l" t="t" r="r" b="b"/>
            <a:pathLst>
              <a:path w="1028700" h="1028700">
                <a:moveTo>
                  <a:pt x="514350" y="0"/>
                </a:moveTo>
                <a:lnTo>
                  <a:pt x="514350" y="0"/>
                </a:lnTo>
                <a:cubicBezTo>
                  <a:pt x="798227" y="0"/>
                  <a:pt x="1028700" y="230473"/>
                  <a:pt x="1028700" y="514350"/>
                </a:cubicBezTo>
                <a:lnTo>
                  <a:pt x="1028700" y="514350"/>
                </a:lnTo>
                <a:cubicBezTo>
                  <a:pt x="1028700" y="798227"/>
                  <a:pt x="798227" y="1028700"/>
                  <a:pt x="514350" y="1028700"/>
                </a:cubicBezTo>
                <a:lnTo>
                  <a:pt x="514350" y="1028700"/>
                </a:lnTo>
                <a:cubicBezTo>
                  <a:pt x="230473" y="1028700"/>
                  <a:pt x="0" y="798227"/>
                  <a:pt x="0" y="514350"/>
                </a:cubicBezTo>
                <a:lnTo>
                  <a:pt x="0" y="514350"/>
                </a:lnTo>
                <a:cubicBezTo>
                  <a:pt x="0" y="230473"/>
                  <a:pt x="230473" y="0"/>
                  <a:pt x="514350" y="0"/>
                </a:cubicBezTo>
                <a:close/>
              </a:path>
            </a:pathLst>
          </a:custGeom>
          <a:solidFill>
            <a:srgbClr val="4E9A8C">
              <a:alpha val="20000"/>
            </a:srgbClr>
          </a:solidFill>
          <a:ln w="50800">
            <a:solidFill>
              <a:srgbClr val="4E9A8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10101" y="226695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71438" y="71438"/>
                </a:moveTo>
                <a:cubicBezTo>
                  <a:pt x="71438" y="51681"/>
                  <a:pt x="55476" y="35719"/>
                  <a:pt x="35719" y="35719"/>
                </a:cubicBezTo>
                <a:cubicBezTo>
                  <a:pt x="15962" y="35719"/>
                  <a:pt x="0" y="51681"/>
                  <a:pt x="0" y="71438"/>
                </a:cubicBezTo>
                <a:lnTo>
                  <a:pt x="0" y="446484"/>
                </a:lnTo>
                <a:cubicBezTo>
                  <a:pt x="0" y="495821"/>
                  <a:pt x="39960" y="535781"/>
                  <a:pt x="89297" y="535781"/>
                </a:cubicBezTo>
                <a:lnTo>
                  <a:pt x="535781" y="535781"/>
                </a:lnTo>
                <a:cubicBezTo>
                  <a:pt x="555538" y="535781"/>
                  <a:pt x="571500" y="519819"/>
                  <a:pt x="571500" y="500063"/>
                </a:cubicBezTo>
                <a:cubicBezTo>
                  <a:pt x="571500" y="480306"/>
                  <a:pt x="555538" y="464344"/>
                  <a:pt x="535781" y="464344"/>
                </a:cubicBezTo>
                <a:lnTo>
                  <a:pt x="89297" y="464344"/>
                </a:lnTo>
                <a:cubicBezTo>
                  <a:pt x="79474" y="464344"/>
                  <a:pt x="71438" y="456307"/>
                  <a:pt x="71438" y="446484"/>
                </a:cubicBezTo>
                <a:lnTo>
                  <a:pt x="71438" y="71438"/>
                </a:lnTo>
                <a:close/>
                <a:moveTo>
                  <a:pt x="525289" y="168101"/>
                </a:moveTo>
                <a:cubicBezTo>
                  <a:pt x="539242" y="154149"/>
                  <a:pt x="539242" y="131490"/>
                  <a:pt x="525289" y="117537"/>
                </a:cubicBezTo>
                <a:cubicBezTo>
                  <a:pt x="511336" y="103584"/>
                  <a:pt x="488677" y="103584"/>
                  <a:pt x="474725" y="117537"/>
                </a:cubicBezTo>
                <a:lnTo>
                  <a:pt x="357188" y="235186"/>
                </a:lnTo>
                <a:lnTo>
                  <a:pt x="293117" y="171227"/>
                </a:lnTo>
                <a:cubicBezTo>
                  <a:pt x="279164" y="157274"/>
                  <a:pt x="256505" y="157274"/>
                  <a:pt x="242553" y="171227"/>
                </a:cubicBezTo>
                <a:lnTo>
                  <a:pt x="135396" y="278383"/>
                </a:lnTo>
                <a:cubicBezTo>
                  <a:pt x="121444" y="292336"/>
                  <a:pt x="121444" y="314995"/>
                  <a:pt x="135396" y="328947"/>
                </a:cubicBezTo>
                <a:cubicBezTo>
                  <a:pt x="149349" y="342900"/>
                  <a:pt x="172008" y="342900"/>
                  <a:pt x="185961" y="328947"/>
                </a:cubicBezTo>
                <a:lnTo>
                  <a:pt x="267891" y="247017"/>
                </a:lnTo>
                <a:lnTo>
                  <a:pt x="331961" y="311088"/>
                </a:lnTo>
                <a:cubicBezTo>
                  <a:pt x="345914" y="325041"/>
                  <a:pt x="368573" y="325041"/>
                  <a:pt x="382525" y="311088"/>
                </a:cubicBezTo>
                <a:lnTo>
                  <a:pt x="525400" y="168213"/>
                </a:lnTo>
                <a:close/>
              </a:path>
            </a:pathLst>
          </a:custGeom>
          <a:solidFill>
            <a:srgbClr val="4E9A8C"/>
          </a:solidFill>
          <a:ln/>
        </p:spPr>
      </p:sp>
      <p:sp>
        <p:nvSpPr>
          <p:cNvPr id="11" name="Text 9"/>
          <p:cNvSpPr/>
          <p:nvPr/>
        </p:nvSpPr>
        <p:spPr>
          <a:xfrm>
            <a:off x="4149626" y="3314700"/>
            <a:ext cx="38957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7-15x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21063" y="4000500"/>
            <a:ext cx="37528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Return 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244876" y="4419600"/>
            <a:ext cx="370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Investment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493151" y="2038350"/>
            <a:ext cx="1028700" cy="1028700"/>
          </a:xfrm>
          <a:custGeom>
            <a:avLst/>
            <a:gdLst/>
            <a:ahLst/>
            <a:cxnLst/>
            <a:rect l="l" t="t" r="r" b="b"/>
            <a:pathLst>
              <a:path w="1028700" h="1028700">
                <a:moveTo>
                  <a:pt x="514350" y="0"/>
                </a:moveTo>
                <a:lnTo>
                  <a:pt x="514350" y="0"/>
                </a:lnTo>
                <a:cubicBezTo>
                  <a:pt x="798227" y="0"/>
                  <a:pt x="1028700" y="230473"/>
                  <a:pt x="1028700" y="514350"/>
                </a:cubicBezTo>
                <a:lnTo>
                  <a:pt x="1028700" y="514350"/>
                </a:lnTo>
                <a:cubicBezTo>
                  <a:pt x="1028700" y="798227"/>
                  <a:pt x="798227" y="1028700"/>
                  <a:pt x="514350" y="1028700"/>
                </a:cubicBezTo>
                <a:lnTo>
                  <a:pt x="514350" y="1028700"/>
                </a:lnTo>
                <a:cubicBezTo>
                  <a:pt x="230473" y="1028700"/>
                  <a:pt x="0" y="798227"/>
                  <a:pt x="0" y="514350"/>
                </a:cubicBezTo>
                <a:lnTo>
                  <a:pt x="0" y="514350"/>
                </a:lnTo>
                <a:cubicBezTo>
                  <a:pt x="0" y="230473"/>
                  <a:pt x="230473" y="0"/>
                  <a:pt x="514350" y="0"/>
                </a:cubicBezTo>
                <a:close/>
              </a:path>
            </a:pathLst>
          </a:custGeom>
          <a:solidFill>
            <a:srgbClr val="4E9A8C">
              <a:alpha val="20000"/>
            </a:srgbClr>
          </a:solidFill>
          <a:ln w="50800">
            <a:solidFill>
              <a:srgbClr val="4E9A8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21751" y="226695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285750" y="0"/>
                </a:moveTo>
                <a:cubicBezTo>
                  <a:pt x="443460" y="0"/>
                  <a:pt x="571500" y="128040"/>
                  <a:pt x="571500" y="285750"/>
                </a:cubicBezTo>
                <a:cubicBezTo>
                  <a:pt x="571500" y="443460"/>
                  <a:pt x="443460" y="571500"/>
                  <a:pt x="285750" y="571500"/>
                </a:cubicBezTo>
                <a:cubicBezTo>
                  <a:pt x="128040" y="571500"/>
                  <a:pt x="0" y="443460"/>
                  <a:pt x="0" y="285750"/>
                </a:cubicBezTo>
                <a:cubicBezTo>
                  <a:pt x="0" y="128040"/>
                  <a:pt x="128040" y="0"/>
                  <a:pt x="285750" y="0"/>
                </a:cubicBezTo>
                <a:close/>
                <a:moveTo>
                  <a:pt x="258961" y="133945"/>
                </a:moveTo>
                <a:lnTo>
                  <a:pt x="258961" y="285750"/>
                </a:lnTo>
                <a:cubicBezTo>
                  <a:pt x="258961" y="294680"/>
                  <a:pt x="263426" y="303051"/>
                  <a:pt x="270904" y="308074"/>
                </a:cubicBezTo>
                <a:lnTo>
                  <a:pt x="378061" y="379512"/>
                </a:lnTo>
                <a:cubicBezTo>
                  <a:pt x="390339" y="387772"/>
                  <a:pt x="406971" y="384423"/>
                  <a:pt x="415230" y="372033"/>
                </a:cubicBezTo>
                <a:cubicBezTo>
                  <a:pt x="423490" y="359643"/>
                  <a:pt x="420142" y="343123"/>
                  <a:pt x="407752" y="334863"/>
                </a:cubicBezTo>
                <a:lnTo>
                  <a:pt x="312539" y="271463"/>
                </a:lnTo>
                <a:lnTo>
                  <a:pt x="312539" y="133945"/>
                </a:lnTo>
                <a:cubicBezTo>
                  <a:pt x="312539" y="119100"/>
                  <a:pt x="300596" y="107156"/>
                  <a:pt x="285750" y="107156"/>
                </a:cubicBezTo>
                <a:cubicBezTo>
                  <a:pt x="270904" y="107156"/>
                  <a:pt x="258961" y="119100"/>
                  <a:pt x="258961" y="133945"/>
                </a:cubicBezTo>
                <a:close/>
              </a:path>
            </a:pathLst>
          </a:custGeom>
          <a:solidFill>
            <a:srgbClr val="4E9A8C"/>
          </a:solidFill>
          <a:ln/>
        </p:spPr>
      </p:sp>
      <p:sp>
        <p:nvSpPr>
          <p:cNvPr id="16" name="Text 14"/>
          <p:cNvSpPr/>
          <p:nvPr/>
        </p:nvSpPr>
        <p:spPr>
          <a:xfrm>
            <a:off x="8061275" y="3314700"/>
            <a:ext cx="38957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8-18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32713" y="4000500"/>
            <a:ext cx="37528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56525" y="4419600"/>
            <a:ext cx="370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Payback Period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376910" y="5067300"/>
            <a:ext cx="5457825" cy="685800"/>
          </a:xfrm>
          <a:custGeom>
            <a:avLst/>
            <a:gdLst/>
            <a:ahLst/>
            <a:cxnLst/>
            <a:rect l="l" t="t" r="r" b="b"/>
            <a:pathLst>
              <a:path w="5457825" h="685800">
                <a:moveTo>
                  <a:pt x="0" y="0"/>
                </a:moveTo>
                <a:lnTo>
                  <a:pt x="5457825" y="0"/>
                </a:lnTo>
                <a:lnTo>
                  <a:pt x="5457825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4E9A8C">
              <a:alpha val="3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376910" y="506730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4E9A8C"/>
          </a:solidFill>
          <a:ln/>
        </p:spPr>
      </p:sp>
      <p:sp>
        <p:nvSpPr>
          <p:cNvPr id="21" name="Text 19"/>
          <p:cNvSpPr/>
          <p:nvPr/>
        </p:nvSpPr>
        <p:spPr>
          <a:xfrm>
            <a:off x="3796010" y="5257800"/>
            <a:ext cx="46386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E9A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 we implement Phase 1</a:t>
            </a:r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0E2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over next 6 months...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1707" y="371707"/>
            <a:ext cx="11671610" cy="446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12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1707" y="929268"/>
            <a:ext cx="11560098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6" dirty="0">
                <a:solidFill>
                  <a:srgbClr val="7D8A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What's wrong TODAY — and how we fix it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1707" y="1338146"/>
            <a:ext cx="1189463" cy="37171"/>
          </a:xfrm>
          <a:custGeom>
            <a:avLst/>
            <a:gdLst/>
            <a:ahLst/>
            <a:cxnLst/>
            <a:rect l="l" t="t" r="r" b="b"/>
            <a:pathLst>
              <a:path w="1189463" h="37171">
                <a:moveTo>
                  <a:pt x="0" y="0"/>
                </a:moveTo>
                <a:lnTo>
                  <a:pt x="1189463" y="0"/>
                </a:lnTo>
                <a:lnTo>
                  <a:pt x="1189463" y="37171"/>
                </a:lnTo>
                <a:lnTo>
                  <a:pt x="0" y="37171"/>
                </a:lnTo>
                <a:lnTo>
                  <a:pt x="0" y="0"/>
                </a:lnTo>
                <a:close/>
              </a:path>
            </a:pathLst>
          </a:custGeom>
          <a:solidFill>
            <a:srgbClr val="4E9A8C"/>
          </a:solidFill>
          <a:ln/>
        </p:spPr>
      </p:sp>
      <p:sp>
        <p:nvSpPr>
          <p:cNvPr id="5" name="Shape 3"/>
          <p:cNvSpPr/>
          <p:nvPr/>
        </p:nvSpPr>
        <p:spPr>
          <a:xfrm>
            <a:off x="931882" y="1602988"/>
            <a:ext cx="2499732" cy="529683"/>
          </a:xfrm>
          <a:custGeom>
            <a:avLst/>
            <a:gdLst/>
            <a:ahLst/>
            <a:cxnLst/>
            <a:rect l="l" t="t" r="r" b="b"/>
            <a:pathLst>
              <a:path w="2499732" h="529683">
                <a:moveTo>
                  <a:pt x="0" y="0"/>
                </a:moveTo>
                <a:lnTo>
                  <a:pt x="2499732" y="0"/>
                </a:lnTo>
                <a:lnTo>
                  <a:pt x="2499732" y="529683"/>
                </a:lnTo>
                <a:lnTo>
                  <a:pt x="0" y="529683"/>
                </a:lnTo>
                <a:lnTo>
                  <a:pt x="0" y="0"/>
                </a:lnTo>
                <a:close/>
              </a:path>
            </a:pathLst>
          </a:custGeom>
          <a:solidFill>
            <a:srgbClr val="7D8A99">
              <a:alpha val="20000"/>
            </a:srgbClr>
          </a:solidFill>
          <a:ln w="12700">
            <a:solidFill>
              <a:srgbClr val="7D8A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8138" y="1719146"/>
            <a:ext cx="2007220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56" b="1" spc="88" kern="0" dirty="0">
                <a:solidFill>
                  <a:srgbClr val="7D8A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STATE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90293" y="2360341"/>
            <a:ext cx="3596268" cy="1077951"/>
          </a:xfrm>
          <a:custGeom>
            <a:avLst/>
            <a:gdLst/>
            <a:ahLst/>
            <a:cxnLst/>
            <a:rect l="l" t="t" r="r" b="b"/>
            <a:pathLst>
              <a:path w="3596268" h="1077951">
                <a:moveTo>
                  <a:pt x="0" y="0"/>
                </a:moveTo>
                <a:lnTo>
                  <a:pt x="3596268" y="0"/>
                </a:lnTo>
                <a:lnTo>
                  <a:pt x="3596268" y="1077951"/>
                </a:lnTo>
                <a:lnTo>
                  <a:pt x="0" y="1077951"/>
                </a:lnTo>
                <a:lnTo>
                  <a:pt x="0" y="0"/>
                </a:lnTo>
                <a:close/>
              </a:path>
            </a:pathLst>
          </a:custGeom>
          <a:solidFill>
            <a:srgbClr val="7D8A99">
              <a:alpha val="1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90293" y="2360341"/>
            <a:ext cx="37171" cy="1077951"/>
          </a:xfrm>
          <a:custGeom>
            <a:avLst/>
            <a:gdLst/>
            <a:ahLst/>
            <a:cxnLst/>
            <a:rect l="l" t="t" r="r" b="b"/>
            <a:pathLst>
              <a:path w="37171" h="1077951">
                <a:moveTo>
                  <a:pt x="0" y="0"/>
                </a:moveTo>
                <a:lnTo>
                  <a:pt x="37171" y="0"/>
                </a:lnTo>
                <a:lnTo>
                  <a:pt x="37171" y="1077951"/>
                </a:lnTo>
                <a:lnTo>
                  <a:pt x="0" y="1077951"/>
                </a:lnTo>
                <a:lnTo>
                  <a:pt x="0" y="0"/>
                </a:lnTo>
                <a:close/>
              </a:path>
            </a:pathLst>
          </a:custGeom>
          <a:solidFill>
            <a:srgbClr val="7D8A99"/>
          </a:solidFill>
          <a:ln/>
        </p:spPr>
      </p:sp>
      <p:sp>
        <p:nvSpPr>
          <p:cNvPr id="9" name="Shape 7"/>
          <p:cNvSpPr/>
          <p:nvPr/>
        </p:nvSpPr>
        <p:spPr>
          <a:xfrm>
            <a:off x="614479" y="2574073"/>
            <a:ext cx="313628" cy="278780"/>
          </a:xfrm>
          <a:custGeom>
            <a:avLst/>
            <a:gdLst/>
            <a:ahLst/>
            <a:cxnLst/>
            <a:rect l="l" t="t" r="r" b="b"/>
            <a:pathLst>
              <a:path w="313628" h="278780">
                <a:moveTo>
                  <a:pt x="34848" y="17424"/>
                </a:moveTo>
                <a:cubicBezTo>
                  <a:pt x="15627" y="17424"/>
                  <a:pt x="0" y="33051"/>
                  <a:pt x="0" y="52271"/>
                </a:cubicBezTo>
                <a:lnTo>
                  <a:pt x="0" y="209085"/>
                </a:lnTo>
                <a:cubicBezTo>
                  <a:pt x="0" y="228306"/>
                  <a:pt x="15627" y="243933"/>
                  <a:pt x="34848" y="243933"/>
                </a:cubicBezTo>
                <a:lnTo>
                  <a:pt x="36644" y="243933"/>
                </a:lnTo>
                <a:cubicBezTo>
                  <a:pt x="42307" y="264025"/>
                  <a:pt x="60820" y="278780"/>
                  <a:pt x="82763" y="278780"/>
                </a:cubicBezTo>
                <a:cubicBezTo>
                  <a:pt x="104706" y="278780"/>
                  <a:pt x="123164" y="264025"/>
                  <a:pt x="128882" y="243933"/>
                </a:cubicBezTo>
                <a:lnTo>
                  <a:pt x="184747" y="243933"/>
                </a:lnTo>
                <a:cubicBezTo>
                  <a:pt x="190409" y="264025"/>
                  <a:pt x="208922" y="278780"/>
                  <a:pt x="230865" y="278780"/>
                </a:cubicBezTo>
                <a:cubicBezTo>
                  <a:pt x="252808" y="278780"/>
                  <a:pt x="271266" y="264025"/>
                  <a:pt x="276984" y="243933"/>
                </a:cubicBezTo>
                <a:lnTo>
                  <a:pt x="278780" y="243933"/>
                </a:lnTo>
                <a:cubicBezTo>
                  <a:pt x="298001" y="243933"/>
                  <a:pt x="313628" y="228306"/>
                  <a:pt x="313628" y="209085"/>
                </a:cubicBezTo>
                <a:lnTo>
                  <a:pt x="313628" y="129208"/>
                </a:lnTo>
                <a:cubicBezTo>
                  <a:pt x="313628" y="119952"/>
                  <a:pt x="309980" y="111077"/>
                  <a:pt x="303446" y="104543"/>
                </a:cubicBezTo>
                <a:lnTo>
                  <a:pt x="278780" y="79877"/>
                </a:lnTo>
                <a:cubicBezTo>
                  <a:pt x="272247" y="73343"/>
                  <a:pt x="263371" y="69695"/>
                  <a:pt x="254115" y="69695"/>
                </a:cubicBezTo>
                <a:lnTo>
                  <a:pt x="226509" y="69695"/>
                </a:lnTo>
                <a:lnTo>
                  <a:pt x="226509" y="52271"/>
                </a:lnTo>
                <a:cubicBezTo>
                  <a:pt x="226509" y="33051"/>
                  <a:pt x="210882" y="17424"/>
                  <a:pt x="191662" y="17424"/>
                </a:cubicBezTo>
                <a:lnTo>
                  <a:pt x="34848" y="17424"/>
                </a:lnTo>
                <a:close/>
                <a:moveTo>
                  <a:pt x="278780" y="129208"/>
                </a:moveTo>
                <a:lnTo>
                  <a:pt x="278780" y="156814"/>
                </a:lnTo>
                <a:lnTo>
                  <a:pt x="226509" y="156814"/>
                </a:lnTo>
                <a:lnTo>
                  <a:pt x="226509" y="104543"/>
                </a:lnTo>
                <a:lnTo>
                  <a:pt x="254115" y="104543"/>
                </a:lnTo>
                <a:lnTo>
                  <a:pt x="278780" y="129208"/>
                </a:lnTo>
                <a:close/>
                <a:moveTo>
                  <a:pt x="82763" y="209085"/>
                </a:moveTo>
                <a:cubicBezTo>
                  <a:pt x="94784" y="209085"/>
                  <a:pt x="104543" y="218845"/>
                  <a:pt x="104543" y="230865"/>
                </a:cubicBezTo>
                <a:cubicBezTo>
                  <a:pt x="104543" y="242886"/>
                  <a:pt x="94784" y="252645"/>
                  <a:pt x="82763" y="252645"/>
                </a:cubicBezTo>
                <a:cubicBezTo>
                  <a:pt x="70742" y="252645"/>
                  <a:pt x="60983" y="242886"/>
                  <a:pt x="60983" y="230865"/>
                </a:cubicBezTo>
                <a:cubicBezTo>
                  <a:pt x="60983" y="218845"/>
                  <a:pt x="70742" y="209085"/>
                  <a:pt x="82763" y="209085"/>
                </a:cubicBezTo>
                <a:close/>
                <a:moveTo>
                  <a:pt x="209085" y="230865"/>
                </a:moveTo>
                <a:cubicBezTo>
                  <a:pt x="209085" y="218845"/>
                  <a:pt x="218845" y="209085"/>
                  <a:pt x="230865" y="209085"/>
                </a:cubicBezTo>
                <a:cubicBezTo>
                  <a:pt x="242886" y="209085"/>
                  <a:pt x="252645" y="218845"/>
                  <a:pt x="252645" y="230865"/>
                </a:cubicBezTo>
                <a:cubicBezTo>
                  <a:pt x="252645" y="242886"/>
                  <a:pt x="242886" y="252645"/>
                  <a:pt x="230865" y="252645"/>
                </a:cubicBezTo>
                <a:cubicBezTo>
                  <a:pt x="218845" y="252645"/>
                  <a:pt x="209085" y="242886"/>
                  <a:pt x="209085" y="230865"/>
                </a:cubicBezTo>
                <a:close/>
                <a:moveTo>
                  <a:pt x="95831" y="74051"/>
                </a:moveTo>
                <a:cubicBezTo>
                  <a:pt x="95831" y="69260"/>
                  <a:pt x="99751" y="65339"/>
                  <a:pt x="104543" y="65339"/>
                </a:cubicBezTo>
                <a:lnTo>
                  <a:pt x="121966" y="65339"/>
                </a:lnTo>
                <a:cubicBezTo>
                  <a:pt x="126758" y="65339"/>
                  <a:pt x="130678" y="69260"/>
                  <a:pt x="130678" y="74051"/>
                </a:cubicBezTo>
                <a:lnTo>
                  <a:pt x="130678" y="95831"/>
                </a:lnTo>
                <a:lnTo>
                  <a:pt x="152458" y="95831"/>
                </a:lnTo>
                <a:cubicBezTo>
                  <a:pt x="157250" y="95831"/>
                  <a:pt x="161170" y="99751"/>
                  <a:pt x="161170" y="104543"/>
                </a:cubicBezTo>
                <a:lnTo>
                  <a:pt x="161170" y="121966"/>
                </a:lnTo>
                <a:cubicBezTo>
                  <a:pt x="161170" y="126758"/>
                  <a:pt x="157250" y="130678"/>
                  <a:pt x="152458" y="130678"/>
                </a:cubicBezTo>
                <a:lnTo>
                  <a:pt x="130678" y="130678"/>
                </a:lnTo>
                <a:lnTo>
                  <a:pt x="130678" y="152458"/>
                </a:lnTo>
                <a:cubicBezTo>
                  <a:pt x="130678" y="157250"/>
                  <a:pt x="126758" y="161170"/>
                  <a:pt x="121966" y="161170"/>
                </a:cubicBezTo>
                <a:lnTo>
                  <a:pt x="104543" y="161170"/>
                </a:lnTo>
                <a:cubicBezTo>
                  <a:pt x="99751" y="161170"/>
                  <a:pt x="95831" y="157250"/>
                  <a:pt x="95831" y="152458"/>
                </a:cubicBezTo>
                <a:lnTo>
                  <a:pt x="95831" y="130678"/>
                </a:lnTo>
                <a:lnTo>
                  <a:pt x="74051" y="130678"/>
                </a:lnTo>
                <a:cubicBezTo>
                  <a:pt x="69260" y="130678"/>
                  <a:pt x="65339" y="126758"/>
                  <a:pt x="65339" y="121966"/>
                </a:cubicBezTo>
                <a:lnTo>
                  <a:pt x="65339" y="104543"/>
                </a:lnTo>
                <a:cubicBezTo>
                  <a:pt x="65339" y="99751"/>
                  <a:pt x="69260" y="95831"/>
                  <a:pt x="74051" y="95831"/>
                </a:cubicBezTo>
                <a:lnTo>
                  <a:pt x="95831" y="95831"/>
                </a:lnTo>
                <a:lnTo>
                  <a:pt x="95831" y="74051"/>
                </a:lnTo>
                <a:close/>
              </a:path>
            </a:pathLst>
          </a:custGeom>
          <a:solidFill>
            <a:srgbClr val="7D8A99"/>
          </a:solidFill>
          <a:ln/>
        </p:spPr>
      </p:sp>
      <p:sp>
        <p:nvSpPr>
          <p:cNvPr id="10" name="Text 8"/>
          <p:cNvSpPr/>
          <p:nvPr/>
        </p:nvSpPr>
        <p:spPr>
          <a:xfrm>
            <a:off x="1054720" y="2546195"/>
            <a:ext cx="1245220" cy="334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95" b="1" dirty="0">
                <a:solidFill>
                  <a:srgbClr val="7D8A99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Reactive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732" y="2992244"/>
            <a:ext cx="3289610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7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Emergency response </a:t>
            </a:r>
            <a:pPr>
              <a:lnSpc>
                <a:spcPct val="130000"/>
              </a:lnSpc>
            </a:pPr>
            <a:r>
              <a:rPr lang="en-US" sz="1317" b="1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AFTER</a:t>
            </a:r>
            <a:pPr>
              <a:lnSpc>
                <a:spcPct val="130000"/>
              </a:lnSpc>
            </a:pPr>
            <a:r>
              <a:rPr lang="en-US" sz="1317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accidents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90293" y="3735659"/>
            <a:ext cx="3596268" cy="1077951"/>
          </a:xfrm>
          <a:custGeom>
            <a:avLst/>
            <a:gdLst/>
            <a:ahLst/>
            <a:cxnLst/>
            <a:rect l="l" t="t" r="r" b="b"/>
            <a:pathLst>
              <a:path w="3596268" h="1077951">
                <a:moveTo>
                  <a:pt x="0" y="0"/>
                </a:moveTo>
                <a:lnTo>
                  <a:pt x="3596268" y="0"/>
                </a:lnTo>
                <a:lnTo>
                  <a:pt x="3596268" y="1077951"/>
                </a:lnTo>
                <a:lnTo>
                  <a:pt x="0" y="1077951"/>
                </a:lnTo>
                <a:lnTo>
                  <a:pt x="0" y="0"/>
                </a:lnTo>
                <a:close/>
              </a:path>
            </a:pathLst>
          </a:custGeom>
          <a:solidFill>
            <a:srgbClr val="7D8A99">
              <a:alpha val="1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90293" y="3735659"/>
            <a:ext cx="37171" cy="1077951"/>
          </a:xfrm>
          <a:custGeom>
            <a:avLst/>
            <a:gdLst/>
            <a:ahLst/>
            <a:cxnLst/>
            <a:rect l="l" t="t" r="r" b="b"/>
            <a:pathLst>
              <a:path w="37171" h="1077951">
                <a:moveTo>
                  <a:pt x="0" y="0"/>
                </a:moveTo>
                <a:lnTo>
                  <a:pt x="37171" y="0"/>
                </a:lnTo>
                <a:lnTo>
                  <a:pt x="37171" y="1077951"/>
                </a:lnTo>
                <a:lnTo>
                  <a:pt x="0" y="1077951"/>
                </a:lnTo>
                <a:lnTo>
                  <a:pt x="0" y="0"/>
                </a:lnTo>
                <a:close/>
              </a:path>
            </a:pathLst>
          </a:custGeom>
          <a:solidFill>
            <a:srgbClr val="7D8A99"/>
          </a:solidFill>
          <a:ln/>
        </p:spPr>
      </p:sp>
      <p:sp>
        <p:nvSpPr>
          <p:cNvPr id="14" name="Shape 12"/>
          <p:cNvSpPr/>
          <p:nvPr/>
        </p:nvSpPr>
        <p:spPr>
          <a:xfrm>
            <a:off x="649326" y="3949390"/>
            <a:ext cx="243933" cy="278780"/>
          </a:xfrm>
          <a:custGeom>
            <a:avLst/>
            <a:gdLst/>
            <a:ahLst/>
            <a:cxnLst/>
            <a:rect l="l" t="t" r="r" b="b"/>
            <a:pathLst>
              <a:path w="243933" h="278780">
                <a:moveTo>
                  <a:pt x="17424" y="69695"/>
                </a:moveTo>
                <a:cubicBezTo>
                  <a:pt x="7786" y="69695"/>
                  <a:pt x="0" y="77481"/>
                  <a:pt x="0" y="87119"/>
                </a:cubicBezTo>
                <a:cubicBezTo>
                  <a:pt x="0" y="96756"/>
                  <a:pt x="7786" y="104543"/>
                  <a:pt x="17424" y="104543"/>
                </a:cubicBezTo>
                <a:lnTo>
                  <a:pt x="226509" y="104543"/>
                </a:lnTo>
                <a:cubicBezTo>
                  <a:pt x="236147" y="104543"/>
                  <a:pt x="243933" y="96756"/>
                  <a:pt x="243933" y="87119"/>
                </a:cubicBezTo>
                <a:cubicBezTo>
                  <a:pt x="243933" y="77481"/>
                  <a:pt x="236147" y="69695"/>
                  <a:pt x="226509" y="69695"/>
                </a:cubicBezTo>
                <a:lnTo>
                  <a:pt x="17424" y="69695"/>
                </a:lnTo>
                <a:close/>
                <a:moveTo>
                  <a:pt x="17424" y="174238"/>
                </a:moveTo>
                <a:cubicBezTo>
                  <a:pt x="7786" y="174238"/>
                  <a:pt x="0" y="182024"/>
                  <a:pt x="0" y="191662"/>
                </a:cubicBezTo>
                <a:cubicBezTo>
                  <a:pt x="0" y="201299"/>
                  <a:pt x="7786" y="209085"/>
                  <a:pt x="17424" y="209085"/>
                </a:cubicBezTo>
                <a:lnTo>
                  <a:pt x="226509" y="209085"/>
                </a:lnTo>
                <a:cubicBezTo>
                  <a:pt x="236147" y="209085"/>
                  <a:pt x="243933" y="201299"/>
                  <a:pt x="243933" y="191662"/>
                </a:cubicBezTo>
                <a:cubicBezTo>
                  <a:pt x="243933" y="182024"/>
                  <a:pt x="236147" y="174238"/>
                  <a:pt x="226509" y="174238"/>
                </a:cubicBezTo>
                <a:lnTo>
                  <a:pt x="17424" y="174238"/>
                </a:lnTo>
                <a:close/>
              </a:path>
            </a:pathLst>
          </a:custGeom>
          <a:solidFill>
            <a:srgbClr val="7D8A99"/>
          </a:solidFill>
          <a:ln/>
        </p:spPr>
      </p:sp>
      <p:sp>
        <p:nvSpPr>
          <p:cNvPr id="15" name="Text 13"/>
          <p:cNvSpPr/>
          <p:nvPr/>
        </p:nvSpPr>
        <p:spPr>
          <a:xfrm>
            <a:off x="1054720" y="3921512"/>
            <a:ext cx="2564780" cy="334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95" b="1" dirty="0">
                <a:solidFill>
                  <a:srgbClr val="7D8A99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Uniform Resources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4732" y="4367561"/>
            <a:ext cx="3289610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7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Spreading budget evenly across network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0293" y="5110976"/>
            <a:ext cx="3596268" cy="1338146"/>
          </a:xfrm>
          <a:custGeom>
            <a:avLst/>
            <a:gdLst/>
            <a:ahLst/>
            <a:cxnLst/>
            <a:rect l="l" t="t" r="r" b="b"/>
            <a:pathLst>
              <a:path w="3596268" h="1338146">
                <a:moveTo>
                  <a:pt x="0" y="0"/>
                </a:moveTo>
                <a:lnTo>
                  <a:pt x="3596268" y="0"/>
                </a:lnTo>
                <a:lnTo>
                  <a:pt x="3596268" y="1338146"/>
                </a:lnTo>
                <a:lnTo>
                  <a:pt x="0" y="1338146"/>
                </a:lnTo>
                <a:lnTo>
                  <a:pt x="0" y="0"/>
                </a:lnTo>
                <a:close/>
              </a:path>
            </a:pathLst>
          </a:custGeom>
          <a:solidFill>
            <a:srgbClr val="7D8A99">
              <a:alpha val="1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90293" y="5110976"/>
            <a:ext cx="37171" cy="1338146"/>
          </a:xfrm>
          <a:custGeom>
            <a:avLst/>
            <a:gdLst/>
            <a:ahLst/>
            <a:cxnLst/>
            <a:rect l="l" t="t" r="r" b="b"/>
            <a:pathLst>
              <a:path w="37171" h="1338146">
                <a:moveTo>
                  <a:pt x="0" y="0"/>
                </a:moveTo>
                <a:lnTo>
                  <a:pt x="37171" y="0"/>
                </a:lnTo>
                <a:lnTo>
                  <a:pt x="37171" y="1338146"/>
                </a:lnTo>
                <a:lnTo>
                  <a:pt x="0" y="1338146"/>
                </a:lnTo>
                <a:lnTo>
                  <a:pt x="0" y="0"/>
                </a:lnTo>
                <a:close/>
              </a:path>
            </a:pathLst>
          </a:custGeom>
          <a:solidFill>
            <a:srgbClr val="7D8A99"/>
          </a:solidFill>
          <a:ln/>
        </p:spPr>
      </p:sp>
      <p:sp>
        <p:nvSpPr>
          <p:cNvPr id="19" name="Shape 17"/>
          <p:cNvSpPr/>
          <p:nvPr/>
        </p:nvSpPr>
        <p:spPr>
          <a:xfrm>
            <a:off x="649326" y="5324707"/>
            <a:ext cx="243933" cy="278780"/>
          </a:xfrm>
          <a:custGeom>
            <a:avLst/>
            <a:gdLst/>
            <a:ahLst/>
            <a:cxnLst/>
            <a:rect l="l" t="t" r="r" b="b"/>
            <a:pathLst>
              <a:path w="243933" h="278780">
                <a:moveTo>
                  <a:pt x="69695" y="0"/>
                </a:moveTo>
                <a:cubicBezTo>
                  <a:pt x="60058" y="0"/>
                  <a:pt x="52271" y="7786"/>
                  <a:pt x="52271" y="17424"/>
                </a:cubicBezTo>
                <a:lnTo>
                  <a:pt x="52271" y="34848"/>
                </a:lnTo>
                <a:lnTo>
                  <a:pt x="34848" y="34848"/>
                </a:lnTo>
                <a:cubicBezTo>
                  <a:pt x="15627" y="34848"/>
                  <a:pt x="0" y="50475"/>
                  <a:pt x="0" y="69695"/>
                </a:cubicBezTo>
                <a:lnTo>
                  <a:pt x="0" y="95831"/>
                </a:lnTo>
                <a:lnTo>
                  <a:pt x="243933" y="95831"/>
                </a:lnTo>
                <a:lnTo>
                  <a:pt x="243933" y="69695"/>
                </a:lnTo>
                <a:cubicBezTo>
                  <a:pt x="243933" y="50475"/>
                  <a:pt x="228306" y="34848"/>
                  <a:pt x="209085" y="34848"/>
                </a:cubicBezTo>
                <a:lnTo>
                  <a:pt x="191662" y="34848"/>
                </a:lnTo>
                <a:lnTo>
                  <a:pt x="191662" y="17424"/>
                </a:lnTo>
                <a:cubicBezTo>
                  <a:pt x="191662" y="7786"/>
                  <a:pt x="183875" y="0"/>
                  <a:pt x="174238" y="0"/>
                </a:cubicBezTo>
                <a:cubicBezTo>
                  <a:pt x="164600" y="0"/>
                  <a:pt x="156814" y="7786"/>
                  <a:pt x="156814" y="17424"/>
                </a:cubicBezTo>
                <a:lnTo>
                  <a:pt x="156814" y="34848"/>
                </a:lnTo>
                <a:lnTo>
                  <a:pt x="87119" y="34848"/>
                </a:lnTo>
                <a:lnTo>
                  <a:pt x="87119" y="17424"/>
                </a:lnTo>
                <a:cubicBezTo>
                  <a:pt x="87119" y="7786"/>
                  <a:pt x="79333" y="0"/>
                  <a:pt x="69695" y="0"/>
                </a:cubicBezTo>
                <a:close/>
                <a:moveTo>
                  <a:pt x="0" y="121966"/>
                </a:moveTo>
                <a:lnTo>
                  <a:pt x="0" y="226509"/>
                </a:lnTo>
                <a:cubicBezTo>
                  <a:pt x="0" y="245730"/>
                  <a:pt x="15627" y="261357"/>
                  <a:pt x="34848" y="261357"/>
                </a:cubicBezTo>
                <a:lnTo>
                  <a:pt x="209085" y="261357"/>
                </a:lnTo>
                <a:cubicBezTo>
                  <a:pt x="228306" y="261357"/>
                  <a:pt x="243933" y="245730"/>
                  <a:pt x="243933" y="226509"/>
                </a:cubicBezTo>
                <a:lnTo>
                  <a:pt x="243933" y="121966"/>
                </a:lnTo>
                <a:lnTo>
                  <a:pt x="0" y="121966"/>
                </a:lnTo>
                <a:close/>
              </a:path>
            </a:pathLst>
          </a:custGeom>
          <a:solidFill>
            <a:srgbClr val="7D8A99"/>
          </a:solidFill>
          <a:ln/>
        </p:spPr>
      </p:sp>
      <p:sp>
        <p:nvSpPr>
          <p:cNvPr id="20" name="Text 18"/>
          <p:cNvSpPr/>
          <p:nvPr/>
        </p:nvSpPr>
        <p:spPr>
          <a:xfrm>
            <a:off x="1054720" y="5296829"/>
            <a:ext cx="2183780" cy="334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95" b="1" dirty="0">
                <a:solidFill>
                  <a:srgbClr val="7D8A99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Calendar-Based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4732" y="5742878"/>
            <a:ext cx="3289610" cy="52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7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Holiday/school seasonal programs </a:t>
            </a:r>
            <a:pPr>
              <a:lnSpc>
                <a:spcPct val="130000"/>
              </a:lnSpc>
            </a:pPr>
            <a:r>
              <a:rPr lang="en-US" sz="1317" b="1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without data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817074" y="2927195"/>
            <a:ext cx="836341" cy="557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390" dirty="0">
                <a:solidFill>
                  <a:srgbClr val="4E9A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817074" y="3782122"/>
            <a:ext cx="836341" cy="557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390" dirty="0">
                <a:solidFill>
                  <a:srgbClr val="4E9A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817074" y="4637049"/>
            <a:ext cx="836341" cy="557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390" dirty="0">
                <a:solidFill>
                  <a:srgbClr val="4E9A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854039" y="1602988"/>
            <a:ext cx="2313878" cy="529683"/>
          </a:xfrm>
          <a:custGeom>
            <a:avLst/>
            <a:gdLst/>
            <a:ahLst/>
            <a:cxnLst/>
            <a:rect l="l" t="t" r="r" b="b"/>
            <a:pathLst>
              <a:path w="2313878" h="529683">
                <a:moveTo>
                  <a:pt x="0" y="0"/>
                </a:moveTo>
                <a:lnTo>
                  <a:pt x="2313878" y="0"/>
                </a:lnTo>
                <a:lnTo>
                  <a:pt x="2313878" y="529683"/>
                </a:lnTo>
                <a:lnTo>
                  <a:pt x="0" y="529683"/>
                </a:lnTo>
                <a:lnTo>
                  <a:pt x="0" y="0"/>
                </a:lnTo>
                <a:close/>
              </a:path>
            </a:pathLst>
          </a:custGeom>
          <a:solidFill>
            <a:srgbClr val="4E9A8C">
              <a:alpha val="30196"/>
            </a:srgbClr>
          </a:solidFill>
          <a:ln w="12700">
            <a:solidFill>
              <a:srgbClr val="4E9A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00295" y="1719146"/>
            <a:ext cx="1821366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56" b="1" spc="88" kern="0" dirty="0">
                <a:solidFill>
                  <a:srgbClr val="4E9A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STATE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220830" y="2360341"/>
            <a:ext cx="3596268" cy="1077951"/>
          </a:xfrm>
          <a:custGeom>
            <a:avLst/>
            <a:gdLst/>
            <a:ahLst/>
            <a:cxnLst/>
            <a:rect l="l" t="t" r="r" b="b"/>
            <a:pathLst>
              <a:path w="3596268" h="1077951">
                <a:moveTo>
                  <a:pt x="0" y="0"/>
                </a:moveTo>
                <a:lnTo>
                  <a:pt x="3596268" y="0"/>
                </a:lnTo>
                <a:lnTo>
                  <a:pt x="3596268" y="1077951"/>
                </a:lnTo>
                <a:lnTo>
                  <a:pt x="0" y="1077951"/>
                </a:lnTo>
                <a:lnTo>
                  <a:pt x="0" y="0"/>
                </a:lnTo>
                <a:close/>
              </a:path>
            </a:pathLst>
          </a:custGeom>
          <a:solidFill>
            <a:srgbClr val="4E9A8C">
              <a:alpha val="2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220830" y="2360341"/>
            <a:ext cx="37171" cy="1077951"/>
          </a:xfrm>
          <a:custGeom>
            <a:avLst/>
            <a:gdLst/>
            <a:ahLst/>
            <a:cxnLst/>
            <a:rect l="l" t="t" r="r" b="b"/>
            <a:pathLst>
              <a:path w="37171" h="1077951">
                <a:moveTo>
                  <a:pt x="0" y="0"/>
                </a:moveTo>
                <a:lnTo>
                  <a:pt x="37171" y="0"/>
                </a:lnTo>
                <a:lnTo>
                  <a:pt x="37171" y="1077951"/>
                </a:lnTo>
                <a:lnTo>
                  <a:pt x="0" y="1077951"/>
                </a:lnTo>
                <a:lnTo>
                  <a:pt x="0" y="0"/>
                </a:lnTo>
                <a:close/>
              </a:path>
            </a:pathLst>
          </a:custGeom>
          <a:solidFill>
            <a:srgbClr val="4E9A8C"/>
          </a:solidFill>
          <a:ln/>
        </p:spPr>
      </p:sp>
      <p:sp>
        <p:nvSpPr>
          <p:cNvPr id="29" name="Shape 27"/>
          <p:cNvSpPr/>
          <p:nvPr/>
        </p:nvSpPr>
        <p:spPr>
          <a:xfrm>
            <a:off x="8462440" y="2574073"/>
            <a:ext cx="278780" cy="278780"/>
          </a:xfrm>
          <a:custGeom>
            <a:avLst/>
            <a:gdLst/>
            <a:ahLst/>
            <a:cxnLst/>
            <a:rect l="l" t="t" r="r" b="b"/>
            <a:pathLst>
              <a:path w="278780" h="278780">
                <a:moveTo>
                  <a:pt x="139390" y="0"/>
                </a:moveTo>
                <a:cubicBezTo>
                  <a:pt x="141895" y="0"/>
                  <a:pt x="144400" y="544"/>
                  <a:pt x="146686" y="1579"/>
                </a:cubicBezTo>
                <a:lnTo>
                  <a:pt x="249269" y="45084"/>
                </a:lnTo>
                <a:cubicBezTo>
                  <a:pt x="261248" y="50148"/>
                  <a:pt x="270177" y="61963"/>
                  <a:pt x="270123" y="76229"/>
                </a:cubicBezTo>
                <a:cubicBezTo>
                  <a:pt x="269851" y="130243"/>
                  <a:pt x="247635" y="229068"/>
                  <a:pt x="153819" y="273989"/>
                </a:cubicBezTo>
                <a:cubicBezTo>
                  <a:pt x="144726" y="278345"/>
                  <a:pt x="134163" y="278345"/>
                  <a:pt x="125070" y="273989"/>
                </a:cubicBezTo>
                <a:cubicBezTo>
                  <a:pt x="31199" y="229068"/>
                  <a:pt x="9039" y="130243"/>
                  <a:pt x="8766" y="76229"/>
                </a:cubicBezTo>
                <a:cubicBezTo>
                  <a:pt x="8712" y="61963"/>
                  <a:pt x="17642" y="50148"/>
                  <a:pt x="29620" y="45084"/>
                </a:cubicBezTo>
                <a:lnTo>
                  <a:pt x="132148" y="1579"/>
                </a:lnTo>
                <a:cubicBezTo>
                  <a:pt x="134435" y="544"/>
                  <a:pt x="136886" y="0"/>
                  <a:pt x="139390" y="0"/>
                </a:cubicBezTo>
                <a:close/>
                <a:moveTo>
                  <a:pt x="139390" y="36372"/>
                </a:moveTo>
                <a:lnTo>
                  <a:pt x="139390" y="242245"/>
                </a:lnTo>
                <a:cubicBezTo>
                  <a:pt x="214530" y="205873"/>
                  <a:pt x="234731" y="125288"/>
                  <a:pt x="235221" y="77046"/>
                </a:cubicBezTo>
                <a:lnTo>
                  <a:pt x="139390" y="36427"/>
                </a:lnTo>
                <a:lnTo>
                  <a:pt x="139390" y="36427"/>
                </a:lnTo>
                <a:close/>
              </a:path>
            </a:pathLst>
          </a:custGeom>
          <a:solidFill>
            <a:srgbClr val="4E9A8C"/>
          </a:solidFill>
          <a:ln/>
        </p:spPr>
      </p:sp>
      <p:sp>
        <p:nvSpPr>
          <p:cNvPr id="30" name="Text 28"/>
          <p:cNvSpPr/>
          <p:nvPr/>
        </p:nvSpPr>
        <p:spPr>
          <a:xfrm>
            <a:off x="8885257" y="2546195"/>
            <a:ext cx="1347439" cy="334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95" b="1" dirty="0">
                <a:solidFill>
                  <a:srgbClr val="4E9A8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Proactive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425269" y="2992244"/>
            <a:ext cx="3289610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7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Prevention </a:t>
            </a:r>
            <a:pPr>
              <a:lnSpc>
                <a:spcPct val="130000"/>
              </a:lnSpc>
            </a:pPr>
            <a:r>
              <a:rPr lang="en-US" sz="1317" b="1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</a:t>
            </a:r>
            <a:pPr>
              <a:lnSpc>
                <a:spcPct val="130000"/>
              </a:lnSpc>
            </a:pPr>
            <a:r>
              <a:rPr lang="en-US" sz="1317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accidents happen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220830" y="3735659"/>
            <a:ext cx="3596268" cy="1077951"/>
          </a:xfrm>
          <a:custGeom>
            <a:avLst/>
            <a:gdLst/>
            <a:ahLst/>
            <a:cxnLst/>
            <a:rect l="l" t="t" r="r" b="b"/>
            <a:pathLst>
              <a:path w="3596268" h="1077951">
                <a:moveTo>
                  <a:pt x="0" y="0"/>
                </a:moveTo>
                <a:lnTo>
                  <a:pt x="3596268" y="0"/>
                </a:lnTo>
                <a:lnTo>
                  <a:pt x="3596268" y="1077951"/>
                </a:lnTo>
                <a:lnTo>
                  <a:pt x="0" y="1077951"/>
                </a:lnTo>
                <a:lnTo>
                  <a:pt x="0" y="0"/>
                </a:lnTo>
                <a:close/>
              </a:path>
            </a:pathLst>
          </a:custGeom>
          <a:solidFill>
            <a:srgbClr val="4E9A8C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220830" y="3735659"/>
            <a:ext cx="37171" cy="1077951"/>
          </a:xfrm>
          <a:custGeom>
            <a:avLst/>
            <a:gdLst/>
            <a:ahLst/>
            <a:cxnLst/>
            <a:rect l="l" t="t" r="r" b="b"/>
            <a:pathLst>
              <a:path w="37171" h="1077951">
                <a:moveTo>
                  <a:pt x="0" y="0"/>
                </a:moveTo>
                <a:lnTo>
                  <a:pt x="37171" y="0"/>
                </a:lnTo>
                <a:lnTo>
                  <a:pt x="37171" y="1077951"/>
                </a:lnTo>
                <a:lnTo>
                  <a:pt x="0" y="1077951"/>
                </a:lnTo>
                <a:lnTo>
                  <a:pt x="0" y="0"/>
                </a:lnTo>
                <a:close/>
              </a:path>
            </a:pathLst>
          </a:custGeom>
          <a:solidFill>
            <a:srgbClr val="4E9A8C"/>
          </a:solidFill>
          <a:ln/>
        </p:spPr>
      </p:sp>
      <p:sp>
        <p:nvSpPr>
          <p:cNvPr id="34" name="Shape 32"/>
          <p:cNvSpPr/>
          <p:nvPr/>
        </p:nvSpPr>
        <p:spPr>
          <a:xfrm>
            <a:off x="8445016" y="3949390"/>
            <a:ext cx="313628" cy="278780"/>
          </a:xfrm>
          <a:custGeom>
            <a:avLst/>
            <a:gdLst/>
            <a:ahLst/>
            <a:cxnLst/>
            <a:rect l="l" t="t" r="r" b="b"/>
            <a:pathLst>
              <a:path w="313628" h="278780">
                <a:moveTo>
                  <a:pt x="156814" y="-8712"/>
                </a:moveTo>
                <a:cubicBezTo>
                  <a:pt x="166452" y="-8712"/>
                  <a:pt x="174238" y="-926"/>
                  <a:pt x="174238" y="8712"/>
                </a:cubicBezTo>
                <a:lnTo>
                  <a:pt x="174238" y="18676"/>
                </a:lnTo>
                <a:cubicBezTo>
                  <a:pt x="227653" y="26299"/>
                  <a:pt x="269905" y="68552"/>
                  <a:pt x="277528" y="121966"/>
                </a:cubicBezTo>
                <a:lnTo>
                  <a:pt x="287492" y="121966"/>
                </a:lnTo>
                <a:cubicBezTo>
                  <a:pt x="297130" y="121966"/>
                  <a:pt x="304916" y="129753"/>
                  <a:pt x="304916" y="139390"/>
                </a:cubicBezTo>
                <a:cubicBezTo>
                  <a:pt x="304916" y="149028"/>
                  <a:pt x="297130" y="156814"/>
                  <a:pt x="287492" y="156814"/>
                </a:cubicBezTo>
                <a:lnTo>
                  <a:pt x="277528" y="156814"/>
                </a:lnTo>
                <a:cubicBezTo>
                  <a:pt x="269905" y="210229"/>
                  <a:pt x="227653" y="252481"/>
                  <a:pt x="174238" y="260104"/>
                </a:cubicBezTo>
                <a:lnTo>
                  <a:pt x="174238" y="270069"/>
                </a:lnTo>
                <a:cubicBezTo>
                  <a:pt x="174238" y="279706"/>
                  <a:pt x="166452" y="287492"/>
                  <a:pt x="156814" y="287492"/>
                </a:cubicBezTo>
                <a:cubicBezTo>
                  <a:pt x="147176" y="287492"/>
                  <a:pt x="139390" y="279706"/>
                  <a:pt x="139390" y="270069"/>
                </a:cubicBezTo>
                <a:lnTo>
                  <a:pt x="139390" y="260104"/>
                </a:lnTo>
                <a:cubicBezTo>
                  <a:pt x="85975" y="252481"/>
                  <a:pt x="43723" y="210229"/>
                  <a:pt x="36100" y="156814"/>
                </a:cubicBezTo>
                <a:lnTo>
                  <a:pt x="26136" y="156814"/>
                </a:lnTo>
                <a:cubicBezTo>
                  <a:pt x="16498" y="156814"/>
                  <a:pt x="8712" y="149028"/>
                  <a:pt x="8712" y="139390"/>
                </a:cubicBezTo>
                <a:cubicBezTo>
                  <a:pt x="8712" y="129753"/>
                  <a:pt x="16498" y="121966"/>
                  <a:pt x="26136" y="121966"/>
                </a:cubicBezTo>
                <a:lnTo>
                  <a:pt x="36100" y="121966"/>
                </a:lnTo>
                <a:cubicBezTo>
                  <a:pt x="43723" y="68552"/>
                  <a:pt x="85975" y="26299"/>
                  <a:pt x="139390" y="18676"/>
                </a:cubicBezTo>
                <a:lnTo>
                  <a:pt x="139390" y="8712"/>
                </a:lnTo>
                <a:cubicBezTo>
                  <a:pt x="139390" y="-926"/>
                  <a:pt x="147176" y="-8712"/>
                  <a:pt x="156814" y="-8712"/>
                </a:cubicBezTo>
                <a:close/>
                <a:moveTo>
                  <a:pt x="71438" y="156814"/>
                </a:moveTo>
                <a:cubicBezTo>
                  <a:pt x="78353" y="190954"/>
                  <a:pt x="105251" y="217852"/>
                  <a:pt x="139390" y="224767"/>
                </a:cubicBezTo>
                <a:lnTo>
                  <a:pt x="139390" y="217797"/>
                </a:lnTo>
                <a:cubicBezTo>
                  <a:pt x="139390" y="208160"/>
                  <a:pt x="147176" y="200373"/>
                  <a:pt x="156814" y="200373"/>
                </a:cubicBezTo>
                <a:cubicBezTo>
                  <a:pt x="166452" y="200373"/>
                  <a:pt x="174238" y="208160"/>
                  <a:pt x="174238" y="217797"/>
                </a:cubicBezTo>
                <a:lnTo>
                  <a:pt x="174238" y="224767"/>
                </a:lnTo>
                <a:cubicBezTo>
                  <a:pt x="208378" y="217852"/>
                  <a:pt x="235275" y="190954"/>
                  <a:pt x="242191" y="156814"/>
                </a:cubicBezTo>
                <a:lnTo>
                  <a:pt x="235221" y="156814"/>
                </a:lnTo>
                <a:cubicBezTo>
                  <a:pt x="225584" y="156814"/>
                  <a:pt x="217797" y="149028"/>
                  <a:pt x="217797" y="139390"/>
                </a:cubicBezTo>
                <a:cubicBezTo>
                  <a:pt x="217797" y="129753"/>
                  <a:pt x="225584" y="121966"/>
                  <a:pt x="235221" y="121966"/>
                </a:cubicBezTo>
                <a:lnTo>
                  <a:pt x="242191" y="121966"/>
                </a:lnTo>
                <a:cubicBezTo>
                  <a:pt x="235275" y="87827"/>
                  <a:pt x="208378" y="60929"/>
                  <a:pt x="174238" y="54014"/>
                </a:cubicBezTo>
                <a:lnTo>
                  <a:pt x="174238" y="60983"/>
                </a:lnTo>
                <a:cubicBezTo>
                  <a:pt x="174238" y="70621"/>
                  <a:pt x="166452" y="78407"/>
                  <a:pt x="156814" y="78407"/>
                </a:cubicBezTo>
                <a:cubicBezTo>
                  <a:pt x="147176" y="78407"/>
                  <a:pt x="139390" y="70621"/>
                  <a:pt x="139390" y="60983"/>
                </a:cubicBezTo>
                <a:lnTo>
                  <a:pt x="139390" y="54014"/>
                </a:lnTo>
                <a:cubicBezTo>
                  <a:pt x="105251" y="60929"/>
                  <a:pt x="78353" y="87827"/>
                  <a:pt x="71438" y="121966"/>
                </a:cubicBezTo>
                <a:lnTo>
                  <a:pt x="78407" y="121966"/>
                </a:lnTo>
                <a:cubicBezTo>
                  <a:pt x="88045" y="121966"/>
                  <a:pt x="95831" y="129753"/>
                  <a:pt x="95831" y="139390"/>
                </a:cubicBezTo>
                <a:cubicBezTo>
                  <a:pt x="95831" y="149028"/>
                  <a:pt x="88045" y="156814"/>
                  <a:pt x="78407" y="156814"/>
                </a:cubicBezTo>
                <a:lnTo>
                  <a:pt x="71438" y="156814"/>
                </a:lnTo>
                <a:close/>
                <a:moveTo>
                  <a:pt x="156814" y="113255"/>
                </a:moveTo>
                <a:cubicBezTo>
                  <a:pt x="171239" y="113255"/>
                  <a:pt x="182950" y="124966"/>
                  <a:pt x="182950" y="139390"/>
                </a:cubicBezTo>
                <a:cubicBezTo>
                  <a:pt x="182950" y="153815"/>
                  <a:pt x="171239" y="165526"/>
                  <a:pt x="156814" y="165526"/>
                </a:cubicBezTo>
                <a:cubicBezTo>
                  <a:pt x="142389" y="165526"/>
                  <a:pt x="130678" y="153815"/>
                  <a:pt x="130678" y="139390"/>
                </a:cubicBezTo>
                <a:cubicBezTo>
                  <a:pt x="130678" y="124966"/>
                  <a:pt x="142389" y="113255"/>
                  <a:pt x="156814" y="113255"/>
                </a:cubicBezTo>
                <a:close/>
              </a:path>
            </a:pathLst>
          </a:custGeom>
          <a:solidFill>
            <a:srgbClr val="4E9A8C"/>
          </a:solidFill>
          <a:ln/>
        </p:spPr>
      </p:sp>
      <p:sp>
        <p:nvSpPr>
          <p:cNvPr id="35" name="Text 33"/>
          <p:cNvSpPr/>
          <p:nvPr/>
        </p:nvSpPr>
        <p:spPr>
          <a:xfrm>
            <a:off x="8885257" y="3921512"/>
            <a:ext cx="2806390" cy="334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95" b="1" dirty="0">
                <a:solidFill>
                  <a:srgbClr val="4E9A8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Targeted Investment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425269" y="4367561"/>
            <a:ext cx="3289610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7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Focus resources on highest-risk areas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220830" y="5110976"/>
            <a:ext cx="3596268" cy="1412488"/>
          </a:xfrm>
          <a:custGeom>
            <a:avLst/>
            <a:gdLst/>
            <a:ahLst/>
            <a:cxnLst/>
            <a:rect l="l" t="t" r="r" b="b"/>
            <a:pathLst>
              <a:path w="3596268" h="1412488">
                <a:moveTo>
                  <a:pt x="0" y="0"/>
                </a:moveTo>
                <a:lnTo>
                  <a:pt x="3596268" y="0"/>
                </a:lnTo>
                <a:lnTo>
                  <a:pt x="3596268" y="1412488"/>
                </a:lnTo>
                <a:lnTo>
                  <a:pt x="0" y="1412488"/>
                </a:lnTo>
                <a:lnTo>
                  <a:pt x="0" y="0"/>
                </a:lnTo>
                <a:close/>
              </a:path>
            </a:pathLst>
          </a:custGeom>
          <a:solidFill>
            <a:srgbClr val="4E9A8C">
              <a:alpha val="2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220830" y="5110976"/>
            <a:ext cx="37171" cy="1412488"/>
          </a:xfrm>
          <a:custGeom>
            <a:avLst/>
            <a:gdLst/>
            <a:ahLst/>
            <a:cxnLst/>
            <a:rect l="l" t="t" r="r" b="b"/>
            <a:pathLst>
              <a:path w="37171" h="1412488">
                <a:moveTo>
                  <a:pt x="0" y="0"/>
                </a:moveTo>
                <a:lnTo>
                  <a:pt x="37171" y="0"/>
                </a:lnTo>
                <a:lnTo>
                  <a:pt x="37171" y="1412488"/>
                </a:lnTo>
                <a:lnTo>
                  <a:pt x="0" y="1412488"/>
                </a:lnTo>
                <a:lnTo>
                  <a:pt x="0" y="0"/>
                </a:lnTo>
                <a:close/>
              </a:path>
            </a:pathLst>
          </a:custGeom>
          <a:solidFill>
            <a:srgbClr val="4E9A8C"/>
          </a:solidFill>
          <a:ln/>
        </p:spPr>
      </p:sp>
      <p:sp>
        <p:nvSpPr>
          <p:cNvPr id="39" name="Shape 37"/>
          <p:cNvSpPr/>
          <p:nvPr/>
        </p:nvSpPr>
        <p:spPr>
          <a:xfrm>
            <a:off x="8453147" y="5491976"/>
            <a:ext cx="278780" cy="278780"/>
          </a:xfrm>
          <a:custGeom>
            <a:avLst/>
            <a:gdLst/>
            <a:ahLst/>
            <a:cxnLst/>
            <a:rect l="l" t="t" r="r" b="b"/>
            <a:pathLst>
              <a:path w="278780" h="278780">
                <a:moveTo>
                  <a:pt x="17424" y="17424"/>
                </a:moveTo>
                <a:cubicBezTo>
                  <a:pt x="27061" y="17424"/>
                  <a:pt x="34848" y="25210"/>
                  <a:pt x="34848" y="34848"/>
                </a:cubicBezTo>
                <a:lnTo>
                  <a:pt x="34848" y="217797"/>
                </a:lnTo>
                <a:cubicBezTo>
                  <a:pt x="34848" y="222589"/>
                  <a:pt x="38768" y="226509"/>
                  <a:pt x="43559" y="226509"/>
                </a:cubicBezTo>
                <a:lnTo>
                  <a:pt x="261357" y="226509"/>
                </a:lnTo>
                <a:cubicBezTo>
                  <a:pt x="270994" y="226509"/>
                  <a:pt x="278780" y="234295"/>
                  <a:pt x="278780" y="243933"/>
                </a:cubicBezTo>
                <a:cubicBezTo>
                  <a:pt x="278780" y="253570"/>
                  <a:pt x="270994" y="261357"/>
                  <a:pt x="261357" y="261357"/>
                </a:cubicBezTo>
                <a:lnTo>
                  <a:pt x="43559" y="261357"/>
                </a:lnTo>
                <a:cubicBezTo>
                  <a:pt x="19493" y="261357"/>
                  <a:pt x="0" y="241864"/>
                  <a:pt x="0" y="217797"/>
                </a:cubicBezTo>
                <a:lnTo>
                  <a:pt x="0" y="34848"/>
                </a:lnTo>
                <a:cubicBezTo>
                  <a:pt x="0" y="25210"/>
                  <a:pt x="7786" y="17424"/>
                  <a:pt x="17424" y="17424"/>
                </a:cubicBezTo>
                <a:close/>
                <a:moveTo>
                  <a:pt x="69695" y="52271"/>
                </a:moveTo>
                <a:cubicBezTo>
                  <a:pt x="69695" y="42634"/>
                  <a:pt x="77481" y="34848"/>
                  <a:pt x="87119" y="34848"/>
                </a:cubicBezTo>
                <a:lnTo>
                  <a:pt x="191662" y="34848"/>
                </a:lnTo>
                <a:cubicBezTo>
                  <a:pt x="201299" y="34848"/>
                  <a:pt x="209085" y="42634"/>
                  <a:pt x="209085" y="52271"/>
                </a:cubicBezTo>
                <a:cubicBezTo>
                  <a:pt x="209085" y="61909"/>
                  <a:pt x="201299" y="69695"/>
                  <a:pt x="191662" y="69695"/>
                </a:cubicBezTo>
                <a:lnTo>
                  <a:pt x="87119" y="69695"/>
                </a:lnTo>
                <a:cubicBezTo>
                  <a:pt x="77481" y="69695"/>
                  <a:pt x="69695" y="61909"/>
                  <a:pt x="69695" y="52271"/>
                </a:cubicBezTo>
                <a:close/>
                <a:moveTo>
                  <a:pt x="87119" y="95831"/>
                </a:moveTo>
                <a:lnTo>
                  <a:pt x="156814" y="95831"/>
                </a:lnTo>
                <a:cubicBezTo>
                  <a:pt x="166452" y="95831"/>
                  <a:pt x="174238" y="103617"/>
                  <a:pt x="174238" y="113255"/>
                </a:cubicBezTo>
                <a:cubicBezTo>
                  <a:pt x="174238" y="122892"/>
                  <a:pt x="166452" y="130678"/>
                  <a:pt x="156814" y="130678"/>
                </a:cubicBezTo>
                <a:lnTo>
                  <a:pt x="87119" y="130678"/>
                </a:lnTo>
                <a:cubicBezTo>
                  <a:pt x="77481" y="130678"/>
                  <a:pt x="69695" y="122892"/>
                  <a:pt x="69695" y="113255"/>
                </a:cubicBezTo>
                <a:cubicBezTo>
                  <a:pt x="69695" y="103617"/>
                  <a:pt x="77481" y="95831"/>
                  <a:pt x="87119" y="95831"/>
                </a:cubicBezTo>
                <a:close/>
                <a:moveTo>
                  <a:pt x="87119" y="156814"/>
                </a:moveTo>
                <a:lnTo>
                  <a:pt x="226509" y="156814"/>
                </a:lnTo>
                <a:cubicBezTo>
                  <a:pt x="236147" y="156814"/>
                  <a:pt x="243933" y="164600"/>
                  <a:pt x="243933" y="174238"/>
                </a:cubicBezTo>
                <a:cubicBezTo>
                  <a:pt x="243933" y="183875"/>
                  <a:pt x="236147" y="191662"/>
                  <a:pt x="226509" y="191662"/>
                </a:cubicBezTo>
                <a:lnTo>
                  <a:pt x="87119" y="191662"/>
                </a:lnTo>
                <a:cubicBezTo>
                  <a:pt x="77481" y="191662"/>
                  <a:pt x="69695" y="183875"/>
                  <a:pt x="69695" y="174238"/>
                </a:cubicBezTo>
                <a:cubicBezTo>
                  <a:pt x="69695" y="164600"/>
                  <a:pt x="77481" y="156814"/>
                  <a:pt x="87119" y="156814"/>
                </a:cubicBezTo>
                <a:close/>
              </a:path>
            </a:pathLst>
          </a:custGeom>
          <a:solidFill>
            <a:srgbClr val="4E9A8C"/>
          </a:solidFill>
          <a:ln/>
        </p:spPr>
      </p:sp>
      <p:sp>
        <p:nvSpPr>
          <p:cNvPr id="40" name="Text 38"/>
          <p:cNvSpPr/>
          <p:nvPr/>
        </p:nvSpPr>
        <p:spPr>
          <a:xfrm>
            <a:off x="8875529" y="5296829"/>
            <a:ext cx="2899317" cy="6690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95" b="1" dirty="0">
                <a:solidFill>
                  <a:srgbClr val="4E9A8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Data-Driven Decisions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425269" y="6077415"/>
            <a:ext cx="3289610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7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Evidence-based interventions that work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Built Confidence Through Multiple Models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9525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7D8A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 three models agree on top risk factors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3335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E9A8C"/>
          </a:solidFill>
          <a:ln/>
        </p:spPr>
      </p:sp>
      <p:sp>
        <p:nvSpPr>
          <p:cNvPr id="5" name="Shape 3"/>
          <p:cNvSpPr/>
          <p:nvPr/>
        </p:nvSpPr>
        <p:spPr>
          <a:xfrm>
            <a:off x="385763" y="1528763"/>
            <a:ext cx="3648075" cy="2124075"/>
          </a:xfrm>
          <a:custGeom>
            <a:avLst/>
            <a:gdLst/>
            <a:ahLst/>
            <a:cxnLst/>
            <a:rect l="l" t="t" r="r" b="b"/>
            <a:pathLst>
              <a:path w="3648075" h="2124075">
                <a:moveTo>
                  <a:pt x="0" y="0"/>
                </a:moveTo>
                <a:lnTo>
                  <a:pt x="3648075" y="0"/>
                </a:lnTo>
                <a:lnTo>
                  <a:pt x="3648075" y="2124075"/>
                </a:lnTo>
                <a:lnTo>
                  <a:pt x="0" y="2124075"/>
                </a:lnTo>
                <a:lnTo>
                  <a:pt x="0" y="0"/>
                </a:lnTo>
                <a:close/>
              </a:path>
            </a:pathLst>
          </a:custGeom>
          <a:solidFill>
            <a:srgbClr val="7D8A99">
              <a:alpha val="10196"/>
            </a:srgbClr>
          </a:solidFill>
          <a:ln w="12700">
            <a:solidFill>
              <a:srgbClr val="7D8A99">
                <a:alpha val="30196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1025" y="1724025"/>
            <a:ext cx="3371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1025" y="2219325"/>
            <a:ext cx="847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ROC-AUC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093244" y="2181225"/>
            <a:ext cx="8858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91.9%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1025" y="2600325"/>
            <a:ext cx="3257550" cy="114300"/>
          </a:xfrm>
          <a:custGeom>
            <a:avLst/>
            <a:gdLst/>
            <a:ahLst/>
            <a:cxnLst/>
            <a:rect l="l" t="t" r="r" b="b"/>
            <a:pathLst>
              <a:path w="3257550" h="114300">
                <a:moveTo>
                  <a:pt x="0" y="0"/>
                </a:moveTo>
                <a:lnTo>
                  <a:pt x="3257550" y="0"/>
                </a:lnTo>
                <a:lnTo>
                  <a:pt x="325755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7D8A99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81025" y="2600325"/>
            <a:ext cx="2990850" cy="114300"/>
          </a:xfrm>
          <a:custGeom>
            <a:avLst/>
            <a:gdLst/>
            <a:ahLst/>
            <a:cxnLst/>
            <a:rect l="l" t="t" r="r" b="b"/>
            <a:pathLst>
              <a:path w="2990850" h="114300">
                <a:moveTo>
                  <a:pt x="0" y="0"/>
                </a:moveTo>
                <a:lnTo>
                  <a:pt x="2990850" y="0"/>
                </a:lnTo>
                <a:lnTo>
                  <a:pt x="299085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7D8A99"/>
          </a:solidFill>
          <a:ln/>
        </p:spPr>
      </p:sp>
      <p:sp>
        <p:nvSpPr>
          <p:cNvPr id="11" name="Text 9"/>
          <p:cNvSpPr/>
          <p:nvPr/>
        </p:nvSpPr>
        <p:spPr>
          <a:xfrm>
            <a:off x="581025" y="2905125"/>
            <a:ext cx="78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042345" y="2867025"/>
            <a:ext cx="9429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83.6%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81025" y="3286125"/>
            <a:ext cx="3257550" cy="114300"/>
          </a:xfrm>
          <a:custGeom>
            <a:avLst/>
            <a:gdLst/>
            <a:ahLst/>
            <a:cxnLst/>
            <a:rect l="l" t="t" r="r" b="b"/>
            <a:pathLst>
              <a:path w="3257550" h="114300">
                <a:moveTo>
                  <a:pt x="0" y="0"/>
                </a:moveTo>
                <a:lnTo>
                  <a:pt x="3257550" y="0"/>
                </a:lnTo>
                <a:lnTo>
                  <a:pt x="325755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7D8A99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81025" y="3286125"/>
            <a:ext cx="2724150" cy="114300"/>
          </a:xfrm>
          <a:custGeom>
            <a:avLst/>
            <a:gdLst/>
            <a:ahLst/>
            <a:cxnLst/>
            <a:rect l="l" t="t" r="r" b="b"/>
            <a:pathLst>
              <a:path w="2724150" h="114300">
                <a:moveTo>
                  <a:pt x="0" y="0"/>
                </a:moveTo>
                <a:lnTo>
                  <a:pt x="2724150" y="0"/>
                </a:lnTo>
                <a:lnTo>
                  <a:pt x="272415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7D8A99"/>
          </a:solidFill>
          <a:ln/>
        </p:spPr>
      </p:sp>
      <p:sp>
        <p:nvSpPr>
          <p:cNvPr id="15" name="Shape 13"/>
          <p:cNvSpPr/>
          <p:nvPr/>
        </p:nvSpPr>
        <p:spPr>
          <a:xfrm>
            <a:off x="4271963" y="1528763"/>
            <a:ext cx="3648075" cy="2124075"/>
          </a:xfrm>
          <a:custGeom>
            <a:avLst/>
            <a:gdLst/>
            <a:ahLst/>
            <a:cxnLst/>
            <a:rect l="l" t="t" r="r" b="b"/>
            <a:pathLst>
              <a:path w="3648075" h="2124075">
                <a:moveTo>
                  <a:pt x="0" y="0"/>
                </a:moveTo>
                <a:lnTo>
                  <a:pt x="3648075" y="0"/>
                </a:lnTo>
                <a:lnTo>
                  <a:pt x="3648075" y="2124075"/>
                </a:lnTo>
                <a:lnTo>
                  <a:pt x="0" y="212407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67225" y="1724025"/>
            <a:ext cx="3371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67225" y="2219325"/>
            <a:ext cx="847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ROC-AUC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51464" y="2181225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95.7%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67225" y="2600325"/>
            <a:ext cx="3257550" cy="114300"/>
          </a:xfrm>
          <a:custGeom>
            <a:avLst/>
            <a:gdLst/>
            <a:ahLst/>
            <a:cxnLst/>
            <a:rect l="l" t="t" r="r" b="b"/>
            <a:pathLst>
              <a:path w="3257550" h="114300">
                <a:moveTo>
                  <a:pt x="0" y="0"/>
                </a:moveTo>
                <a:lnTo>
                  <a:pt x="3257550" y="0"/>
                </a:lnTo>
                <a:lnTo>
                  <a:pt x="325755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467225" y="2600325"/>
            <a:ext cx="3114675" cy="114300"/>
          </a:xfrm>
          <a:custGeom>
            <a:avLst/>
            <a:gdLst/>
            <a:ahLst/>
            <a:cxnLst/>
            <a:rect l="l" t="t" r="r" b="b"/>
            <a:pathLst>
              <a:path w="3114675" h="114300">
                <a:moveTo>
                  <a:pt x="0" y="0"/>
                </a:moveTo>
                <a:lnTo>
                  <a:pt x="3114675" y="0"/>
                </a:lnTo>
                <a:lnTo>
                  <a:pt x="3114675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1" name="Text 19"/>
          <p:cNvSpPr/>
          <p:nvPr/>
        </p:nvSpPr>
        <p:spPr>
          <a:xfrm>
            <a:off x="4467225" y="2905125"/>
            <a:ext cx="78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10090" y="2867025"/>
            <a:ext cx="9620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88.0%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67225" y="3286125"/>
            <a:ext cx="3257550" cy="114300"/>
          </a:xfrm>
          <a:custGeom>
            <a:avLst/>
            <a:gdLst/>
            <a:ahLst/>
            <a:cxnLst/>
            <a:rect l="l" t="t" r="r" b="b"/>
            <a:pathLst>
              <a:path w="3257550" h="114300">
                <a:moveTo>
                  <a:pt x="0" y="0"/>
                </a:moveTo>
                <a:lnTo>
                  <a:pt x="3257550" y="0"/>
                </a:lnTo>
                <a:lnTo>
                  <a:pt x="325755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467225" y="3286125"/>
            <a:ext cx="2867025" cy="114300"/>
          </a:xfrm>
          <a:custGeom>
            <a:avLst/>
            <a:gdLst/>
            <a:ahLst/>
            <a:cxnLst/>
            <a:rect l="l" t="t" r="r" b="b"/>
            <a:pathLst>
              <a:path w="2867025" h="114300">
                <a:moveTo>
                  <a:pt x="0" y="0"/>
                </a:moveTo>
                <a:lnTo>
                  <a:pt x="2867025" y="0"/>
                </a:lnTo>
                <a:lnTo>
                  <a:pt x="2867025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5" name="Shape 23"/>
          <p:cNvSpPr/>
          <p:nvPr/>
        </p:nvSpPr>
        <p:spPr>
          <a:xfrm>
            <a:off x="8172450" y="1543050"/>
            <a:ext cx="3619500" cy="2095500"/>
          </a:xfrm>
          <a:custGeom>
            <a:avLst/>
            <a:gdLst/>
            <a:ahLst/>
            <a:cxnLst/>
            <a:rect l="l" t="t" r="r" b="b"/>
            <a:pathLst>
              <a:path w="3619500" h="2095500">
                <a:moveTo>
                  <a:pt x="0" y="0"/>
                </a:moveTo>
                <a:lnTo>
                  <a:pt x="3619500" y="0"/>
                </a:lnTo>
                <a:lnTo>
                  <a:pt x="3619500" y="2095500"/>
                </a:lnTo>
                <a:lnTo>
                  <a:pt x="0" y="2095500"/>
                </a:lnTo>
                <a:lnTo>
                  <a:pt x="0" y="0"/>
                </a:lnTo>
                <a:close/>
              </a:path>
            </a:pathLst>
          </a:custGeom>
          <a:solidFill>
            <a:srgbClr val="4E9A8C">
              <a:alpha val="20000"/>
            </a:srgbClr>
          </a:solidFill>
          <a:ln w="50800">
            <a:solidFill>
              <a:srgbClr val="4E9A8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57061" y="1409700"/>
            <a:ext cx="1866900" cy="419100"/>
          </a:xfrm>
          <a:custGeom>
            <a:avLst/>
            <a:gdLst/>
            <a:ahLst/>
            <a:cxnLst/>
            <a:rect l="l" t="t" r="r" b="b"/>
            <a:pathLst>
              <a:path w="1866900" h="419100">
                <a:moveTo>
                  <a:pt x="0" y="0"/>
                </a:moveTo>
                <a:lnTo>
                  <a:pt x="1866900" y="0"/>
                </a:lnTo>
                <a:lnTo>
                  <a:pt x="18669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4E9A8C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7061" y="1409700"/>
            <a:ext cx="1952625" cy="419100"/>
          </a:xfrm>
          <a:prstGeom prst="rect">
            <a:avLst/>
          </a:prstGeom>
          <a:noFill/>
          <a:ln/>
        </p:spPr>
        <p:txBody>
          <a:bodyPr wrap="square" lIns="190500" tIns="76200" rIns="190500" bIns="7620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D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 RECOMMENDED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382000" y="1752600"/>
            <a:ext cx="3314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Gradient Boosting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382000" y="2247900"/>
            <a:ext cx="847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ROC-AUC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836176" y="2209800"/>
            <a:ext cx="8858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4E9A8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96.1%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382000" y="2628900"/>
            <a:ext cx="3200400" cy="114300"/>
          </a:xfrm>
          <a:custGeom>
            <a:avLst/>
            <a:gdLst/>
            <a:ahLst/>
            <a:cxnLst/>
            <a:rect l="l" t="t" r="r" b="b"/>
            <a:pathLst>
              <a:path w="3200400" h="114300">
                <a:moveTo>
                  <a:pt x="0" y="0"/>
                </a:moveTo>
                <a:lnTo>
                  <a:pt x="3200400" y="0"/>
                </a:lnTo>
                <a:lnTo>
                  <a:pt x="32004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4E9A8C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382000" y="2628900"/>
            <a:ext cx="3076575" cy="114300"/>
          </a:xfrm>
          <a:custGeom>
            <a:avLst/>
            <a:gdLst/>
            <a:ahLst/>
            <a:cxnLst/>
            <a:rect l="l" t="t" r="r" b="b"/>
            <a:pathLst>
              <a:path w="3076575" h="114300">
                <a:moveTo>
                  <a:pt x="0" y="0"/>
                </a:moveTo>
                <a:lnTo>
                  <a:pt x="3076575" y="0"/>
                </a:lnTo>
                <a:lnTo>
                  <a:pt x="3076575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4E9A8C"/>
          </a:solidFill>
          <a:ln/>
        </p:spPr>
      </p:sp>
      <p:sp>
        <p:nvSpPr>
          <p:cNvPr id="33" name="Text 31"/>
          <p:cNvSpPr/>
          <p:nvPr/>
        </p:nvSpPr>
        <p:spPr>
          <a:xfrm>
            <a:off x="8382000" y="2933700"/>
            <a:ext cx="78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777686" y="2895600"/>
            <a:ext cx="9429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4E9A8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88.6%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382000" y="3314700"/>
            <a:ext cx="3200400" cy="114300"/>
          </a:xfrm>
          <a:custGeom>
            <a:avLst/>
            <a:gdLst/>
            <a:ahLst/>
            <a:cxnLst/>
            <a:rect l="l" t="t" r="r" b="b"/>
            <a:pathLst>
              <a:path w="3200400" h="114300">
                <a:moveTo>
                  <a:pt x="0" y="0"/>
                </a:moveTo>
                <a:lnTo>
                  <a:pt x="3200400" y="0"/>
                </a:lnTo>
                <a:lnTo>
                  <a:pt x="32004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4E9A8C">
              <a:alpha val="2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382000" y="3314700"/>
            <a:ext cx="2838450" cy="114300"/>
          </a:xfrm>
          <a:custGeom>
            <a:avLst/>
            <a:gdLst/>
            <a:ahLst/>
            <a:cxnLst/>
            <a:rect l="l" t="t" r="r" b="b"/>
            <a:pathLst>
              <a:path w="2838450" h="114300">
                <a:moveTo>
                  <a:pt x="0" y="0"/>
                </a:moveTo>
                <a:lnTo>
                  <a:pt x="2838450" y="0"/>
                </a:lnTo>
                <a:lnTo>
                  <a:pt x="283845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4E9A8C"/>
          </a:solidFill>
          <a:ln/>
        </p:spPr>
      </p:sp>
      <p:sp>
        <p:nvSpPr>
          <p:cNvPr id="37" name="Shape 35"/>
          <p:cNvSpPr/>
          <p:nvPr/>
        </p:nvSpPr>
        <p:spPr>
          <a:xfrm>
            <a:off x="385763" y="3890962"/>
            <a:ext cx="11420475" cy="2676525"/>
          </a:xfrm>
          <a:custGeom>
            <a:avLst/>
            <a:gdLst/>
            <a:ahLst/>
            <a:cxnLst/>
            <a:rect l="l" t="t" r="r" b="b"/>
            <a:pathLst>
              <a:path w="11420475" h="2676525">
                <a:moveTo>
                  <a:pt x="0" y="0"/>
                </a:moveTo>
                <a:lnTo>
                  <a:pt x="11420475" y="0"/>
                </a:lnTo>
                <a:lnTo>
                  <a:pt x="11420475" y="2676525"/>
                </a:lnTo>
                <a:lnTo>
                  <a:pt x="0" y="267652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2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1025" y="4086225"/>
            <a:ext cx="11125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Model Performance Comparison</a:t>
            </a:r>
            <a:endParaRPr lang="en-US" sz="1600" dirty="0"/>
          </a:p>
        </p:txBody>
      </p:sp>
      <p:pic>
        <p:nvPicPr>
          <p:cNvPr id="39" name="Image 0" descr="https://kimi-img.moonshot.cn/pub/slides/26-01-13-21:30:59-d5j4i4oosk9tp21ehdb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1025" y="4467225"/>
            <a:ext cx="11029950" cy="1905000"/>
          </a:xfrm>
          <a:prstGeom prst="roundRect">
            <a:avLst>
              <a:gd name="adj" fmla="val 0"/>
            </a:avLst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Three Factors Explain 90% of Accident Risk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9525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E9A8C"/>
          </a:solidFill>
          <a:ln/>
        </p:spPr>
      </p:sp>
      <p:sp>
        <p:nvSpPr>
          <p:cNvPr id="4" name="Shape 2"/>
          <p:cNvSpPr/>
          <p:nvPr/>
        </p:nvSpPr>
        <p:spPr>
          <a:xfrm>
            <a:off x="385763" y="1147763"/>
            <a:ext cx="3648075" cy="5324475"/>
          </a:xfrm>
          <a:custGeom>
            <a:avLst/>
            <a:gdLst/>
            <a:ahLst/>
            <a:cxnLst/>
            <a:rect l="l" t="t" r="r" b="b"/>
            <a:pathLst>
              <a:path w="3648075" h="5324475">
                <a:moveTo>
                  <a:pt x="0" y="0"/>
                </a:moveTo>
                <a:lnTo>
                  <a:pt x="3648075" y="0"/>
                </a:lnTo>
                <a:lnTo>
                  <a:pt x="3648075" y="5324475"/>
                </a:lnTo>
                <a:lnTo>
                  <a:pt x="0" y="532447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5450" y="1400175"/>
            <a:ext cx="1028700" cy="1028700"/>
          </a:xfrm>
          <a:custGeom>
            <a:avLst/>
            <a:gdLst/>
            <a:ahLst/>
            <a:cxnLst/>
            <a:rect l="l" t="t" r="r" b="b"/>
            <a:pathLst>
              <a:path w="1028700" h="1028700">
                <a:moveTo>
                  <a:pt x="514350" y="0"/>
                </a:moveTo>
                <a:lnTo>
                  <a:pt x="514350" y="0"/>
                </a:lnTo>
                <a:cubicBezTo>
                  <a:pt x="798227" y="0"/>
                  <a:pt x="1028700" y="230473"/>
                  <a:pt x="1028700" y="514350"/>
                </a:cubicBezTo>
                <a:lnTo>
                  <a:pt x="1028700" y="514350"/>
                </a:lnTo>
                <a:cubicBezTo>
                  <a:pt x="1028700" y="798227"/>
                  <a:pt x="798227" y="1028700"/>
                  <a:pt x="514350" y="1028700"/>
                </a:cubicBezTo>
                <a:lnTo>
                  <a:pt x="514350" y="1028700"/>
                </a:lnTo>
                <a:cubicBezTo>
                  <a:pt x="230473" y="1028700"/>
                  <a:pt x="0" y="798227"/>
                  <a:pt x="0" y="514350"/>
                </a:cubicBezTo>
                <a:lnTo>
                  <a:pt x="0" y="514350"/>
                </a:lnTo>
                <a:cubicBezTo>
                  <a:pt x="0" y="230473"/>
                  <a:pt x="230473" y="0"/>
                  <a:pt x="51435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50800">
            <a:solidFill>
              <a:srgbClr val="4A6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81200" y="16859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102334" y="0"/>
                  <a:pt x="0" y="102334"/>
                  <a:pt x="0" y="228600"/>
                </a:cubicBezTo>
                <a:cubicBezTo>
                  <a:pt x="0" y="354866"/>
                  <a:pt x="102334" y="457200"/>
                  <a:pt x="228600" y="457200"/>
                </a:cubicBezTo>
                <a:cubicBezTo>
                  <a:pt x="290036" y="457200"/>
                  <a:pt x="345847" y="432911"/>
                  <a:pt x="386923" y="393442"/>
                </a:cubicBezTo>
                <a:cubicBezTo>
                  <a:pt x="393442" y="387191"/>
                  <a:pt x="395317" y="377458"/>
                  <a:pt x="391656" y="369243"/>
                </a:cubicBezTo>
                <a:cubicBezTo>
                  <a:pt x="387995" y="361027"/>
                  <a:pt x="379422" y="355937"/>
                  <a:pt x="370403" y="356652"/>
                </a:cubicBezTo>
                <a:cubicBezTo>
                  <a:pt x="366028" y="357009"/>
                  <a:pt x="361652" y="357188"/>
                  <a:pt x="357188" y="357188"/>
                </a:cubicBezTo>
                <a:cubicBezTo>
                  <a:pt x="266462" y="357188"/>
                  <a:pt x="192881" y="283607"/>
                  <a:pt x="192881" y="192881"/>
                </a:cubicBezTo>
                <a:cubicBezTo>
                  <a:pt x="192881" y="128498"/>
                  <a:pt x="229939" y="72688"/>
                  <a:pt x="284053" y="45720"/>
                </a:cubicBezTo>
                <a:cubicBezTo>
                  <a:pt x="292179" y="41702"/>
                  <a:pt x="296823" y="32951"/>
                  <a:pt x="295751" y="23932"/>
                </a:cubicBezTo>
                <a:cubicBezTo>
                  <a:pt x="294680" y="14913"/>
                  <a:pt x="288072" y="7590"/>
                  <a:pt x="279231" y="5626"/>
                </a:cubicBezTo>
                <a:cubicBezTo>
                  <a:pt x="262890" y="1965"/>
                  <a:pt x="245924" y="0"/>
                  <a:pt x="2286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7" name="Text 5"/>
          <p:cNvSpPr/>
          <p:nvPr/>
        </p:nvSpPr>
        <p:spPr>
          <a:xfrm>
            <a:off x="547688" y="2600325"/>
            <a:ext cx="33242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Lighting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1500" y="3019425"/>
            <a:ext cx="3276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Night vs Day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7675" y="3988594"/>
            <a:ext cx="3524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4A6C8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62%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1975" y="4750594"/>
            <a:ext cx="3295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Increased Risk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6263" y="5207794"/>
            <a:ext cx="32670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Poor lighting conditions significantly increase accident probability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71963" y="1147763"/>
            <a:ext cx="3648075" cy="5324475"/>
          </a:xfrm>
          <a:custGeom>
            <a:avLst/>
            <a:gdLst/>
            <a:ahLst/>
            <a:cxnLst/>
            <a:rect l="l" t="t" r="r" b="b"/>
            <a:pathLst>
              <a:path w="3648075" h="5324475">
                <a:moveTo>
                  <a:pt x="0" y="0"/>
                </a:moveTo>
                <a:lnTo>
                  <a:pt x="3648075" y="0"/>
                </a:lnTo>
                <a:lnTo>
                  <a:pt x="3648075" y="5324475"/>
                </a:lnTo>
                <a:lnTo>
                  <a:pt x="0" y="5324475"/>
                </a:lnTo>
                <a:lnTo>
                  <a:pt x="0" y="0"/>
                </a:lnTo>
                <a:close/>
              </a:path>
            </a:pathLst>
          </a:custGeom>
          <a:solidFill>
            <a:srgbClr val="4E9A8C">
              <a:alpha val="10196"/>
            </a:srgbClr>
          </a:solidFill>
          <a:ln w="12700">
            <a:solidFill>
              <a:srgbClr val="4E9A8C">
                <a:alpha val="3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81650" y="1400175"/>
            <a:ext cx="1028700" cy="1028700"/>
          </a:xfrm>
          <a:custGeom>
            <a:avLst/>
            <a:gdLst/>
            <a:ahLst/>
            <a:cxnLst/>
            <a:rect l="l" t="t" r="r" b="b"/>
            <a:pathLst>
              <a:path w="1028700" h="1028700">
                <a:moveTo>
                  <a:pt x="514350" y="0"/>
                </a:moveTo>
                <a:lnTo>
                  <a:pt x="514350" y="0"/>
                </a:lnTo>
                <a:cubicBezTo>
                  <a:pt x="798227" y="0"/>
                  <a:pt x="1028700" y="230473"/>
                  <a:pt x="1028700" y="514350"/>
                </a:cubicBezTo>
                <a:lnTo>
                  <a:pt x="1028700" y="514350"/>
                </a:lnTo>
                <a:cubicBezTo>
                  <a:pt x="1028700" y="798227"/>
                  <a:pt x="798227" y="1028700"/>
                  <a:pt x="514350" y="1028700"/>
                </a:cubicBezTo>
                <a:lnTo>
                  <a:pt x="514350" y="1028700"/>
                </a:lnTo>
                <a:cubicBezTo>
                  <a:pt x="230473" y="1028700"/>
                  <a:pt x="0" y="798227"/>
                  <a:pt x="0" y="514350"/>
                </a:cubicBezTo>
                <a:lnTo>
                  <a:pt x="0" y="514350"/>
                </a:lnTo>
                <a:cubicBezTo>
                  <a:pt x="0" y="230473"/>
                  <a:pt x="230473" y="0"/>
                  <a:pt x="514350" y="0"/>
                </a:cubicBezTo>
                <a:close/>
              </a:path>
            </a:pathLst>
          </a:custGeom>
          <a:solidFill>
            <a:srgbClr val="4E9A8C">
              <a:alpha val="20000"/>
            </a:srgbClr>
          </a:solidFill>
          <a:ln w="50800">
            <a:solidFill>
              <a:srgbClr val="4E9A8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67400" y="16859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cubicBezTo>
                  <a:pt x="0" y="102432"/>
                  <a:pt x="102432" y="0"/>
                  <a:pt x="228600" y="0"/>
                </a:cubicBez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lose/>
                <a:moveTo>
                  <a:pt x="257175" y="85725"/>
                </a:moveTo>
                <a:cubicBezTo>
                  <a:pt x="257175" y="69954"/>
                  <a:pt x="244371" y="57150"/>
                  <a:pt x="228600" y="57150"/>
                </a:cubicBezTo>
                <a:cubicBezTo>
                  <a:pt x="212829" y="57150"/>
                  <a:pt x="200025" y="69954"/>
                  <a:pt x="200025" y="85725"/>
                </a:cubicBezTo>
                <a:cubicBezTo>
                  <a:pt x="200025" y="101496"/>
                  <a:pt x="212829" y="114300"/>
                  <a:pt x="228600" y="114300"/>
                </a:cubicBezTo>
                <a:cubicBezTo>
                  <a:pt x="244371" y="114300"/>
                  <a:pt x="257175" y="101496"/>
                  <a:pt x="257175" y="85725"/>
                </a:cubicBezTo>
                <a:close/>
                <a:moveTo>
                  <a:pt x="228600" y="371475"/>
                </a:moveTo>
                <a:cubicBezTo>
                  <a:pt x="260122" y="371475"/>
                  <a:pt x="285750" y="345847"/>
                  <a:pt x="285750" y="314325"/>
                </a:cubicBezTo>
                <a:cubicBezTo>
                  <a:pt x="285750" y="299859"/>
                  <a:pt x="280392" y="286554"/>
                  <a:pt x="271463" y="276552"/>
                </a:cubicBezTo>
                <a:lnTo>
                  <a:pt x="333524" y="152519"/>
                </a:lnTo>
                <a:cubicBezTo>
                  <a:pt x="338792" y="141893"/>
                  <a:pt x="334506" y="129034"/>
                  <a:pt x="323969" y="123765"/>
                </a:cubicBezTo>
                <a:cubicBezTo>
                  <a:pt x="313432" y="118497"/>
                  <a:pt x="300484" y="122783"/>
                  <a:pt x="295215" y="133320"/>
                </a:cubicBezTo>
                <a:lnTo>
                  <a:pt x="233154" y="257354"/>
                </a:lnTo>
                <a:cubicBezTo>
                  <a:pt x="231636" y="257264"/>
                  <a:pt x="230118" y="257175"/>
                  <a:pt x="228600" y="257175"/>
                </a:cubicBezTo>
                <a:cubicBezTo>
                  <a:pt x="197078" y="257175"/>
                  <a:pt x="171450" y="282803"/>
                  <a:pt x="171450" y="314325"/>
                </a:cubicBezTo>
                <a:cubicBezTo>
                  <a:pt x="171450" y="345847"/>
                  <a:pt x="197078" y="371475"/>
                  <a:pt x="228600" y="371475"/>
                </a:cubicBezTo>
                <a:close/>
                <a:moveTo>
                  <a:pt x="157163" y="128588"/>
                </a:moveTo>
                <a:cubicBezTo>
                  <a:pt x="157163" y="112817"/>
                  <a:pt x="144358" y="100013"/>
                  <a:pt x="128588" y="100013"/>
                </a:cubicBezTo>
                <a:cubicBezTo>
                  <a:pt x="112817" y="100013"/>
                  <a:pt x="100013" y="112817"/>
                  <a:pt x="100013" y="128588"/>
                </a:cubicBezTo>
                <a:cubicBezTo>
                  <a:pt x="100013" y="144358"/>
                  <a:pt x="112817" y="157163"/>
                  <a:pt x="128588" y="157163"/>
                </a:cubicBezTo>
                <a:cubicBezTo>
                  <a:pt x="144358" y="157163"/>
                  <a:pt x="157163" y="144358"/>
                  <a:pt x="157163" y="128588"/>
                </a:cubicBezTo>
                <a:close/>
                <a:moveTo>
                  <a:pt x="85725" y="257175"/>
                </a:moveTo>
                <a:cubicBezTo>
                  <a:pt x="101496" y="257175"/>
                  <a:pt x="114300" y="244371"/>
                  <a:pt x="114300" y="228600"/>
                </a:cubicBezTo>
                <a:cubicBezTo>
                  <a:pt x="114300" y="212829"/>
                  <a:pt x="101496" y="200025"/>
                  <a:pt x="85725" y="200025"/>
                </a:cubicBezTo>
                <a:cubicBezTo>
                  <a:pt x="69954" y="200025"/>
                  <a:pt x="57150" y="212829"/>
                  <a:pt x="57150" y="228600"/>
                </a:cubicBezTo>
                <a:cubicBezTo>
                  <a:pt x="57150" y="244371"/>
                  <a:pt x="69954" y="257175"/>
                  <a:pt x="85725" y="257175"/>
                </a:cubicBezTo>
                <a:close/>
                <a:moveTo>
                  <a:pt x="400050" y="228600"/>
                </a:moveTo>
                <a:cubicBezTo>
                  <a:pt x="400050" y="212829"/>
                  <a:pt x="387246" y="200025"/>
                  <a:pt x="371475" y="200025"/>
                </a:cubicBezTo>
                <a:cubicBezTo>
                  <a:pt x="355704" y="200025"/>
                  <a:pt x="342900" y="212829"/>
                  <a:pt x="342900" y="228600"/>
                </a:cubicBezTo>
                <a:cubicBezTo>
                  <a:pt x="342900" y="244371"/>
                  <a:pt x="355704" y="257175"/>
                  <a:pt x="371475" y="257175"/>
                </a:cubicBezTo>
                <a:cubicBezTo>
                  <a:pt x="387246" y="257175"/>
                  <a:pt x="400050" y="244371"/>
                  <a:pt x="400050" y="228600"/>
                </a:cubicBezTo>
                <a:close/>
              </a:path>
            </a:pathLst>
          </a:custGeom>
          <a:solidFill>
            <a:srgbClr val="4E9A8C"/>
          </a:solidFill>
          <a:ln/>
        </p:spPr>
      </p:sp>
      <p:sp>
        <p:nvSpPr>
          <p:cNvPr id="15" name="Text 13"/>
          <p:cNvSpPr/>
          <p:nvPr/>
        </p:nvSpPr>
        <p:spPr>
          <a:xfrm>
            <a:off x="4433888" y="2600325"/>
            <a:ext cx="33242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Speed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57700" y="3019425"/>
            <a:ext cx="3276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vs Low Speed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333875" y="3988594"/>
            <a:ext cx="3524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4E9A8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66%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48175" y="4750594"/>
            <a:ext cx="3295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Increased Risk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62463" y="5207794"/>
            <a:ext cx="32670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speeds dramatically reduce reaction time and increase impact severity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158163" y="1147763"/>
            <a:ext cx="3648075" cy="5324475"/>
          </a:xfrm>
          <a:custGeom>
            <a:avLst/>
            <a:gdLst/>
            <a:ahLst/>
            <a:cxnLst/>
            <a:rect l="l" t="t" r="r" b="b"/>
            <a:pathLst>
              <a:path w="3648075" h="5324475">
                <a:moveTo>
                  <a:pt x="0" y="0"/>
                </a:moveTo>
                <a:lnTo>
                  <a:pt x="3648075" y="0"/>
                </a:lnTo>
                <a:lnTo>
                  <a:pt x="3648075" y="5324475"/>
                </a:lnTo>
                <a:lnTo>
                  <a:pt x="0" y="5324475"/>
                </a:lnTo>
                <a:lnTo>
                  <a:pt x="0" y="0"/>
                </a:lnTo>
                <a:close/>
              </a:path>
            </a:pathLst>
          </a:custGeom>
          <a:solidFill>
            <a:srgbClr val="7D8A99">
              <a:alpha val="10196"/>
            </a:srgbClr>
          </a:solidFill>
          <a:ln w="12700">
            <a:solidFill>
              <a:srgbClr val="7D8A99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67850" y="1400175"/>
            <a:ext cx="1028700" cy="1028700"/>
          </a:xfrm>
          <a:custGeom>
            <a:avLst/>
            <a:gdLst/>
            <a:ahLst/>
            <a:cxnLst/>
            <a:rect l="l" t="t" r="r" b="b"/>
            <a:pathLst>
              <a:path w="1028700" h="1028700">
                <a:moveTo>
                  <a:pt x="514350" y="0"/>
                </a:moveTo>
                <a:lnTo>
                  <a:pt x="514350" y="0"/>
                </a:lnTo>
                <a:cubicBezTo>
                  <a:pt x="798227" y="0"/>
                  <a:pt x="1028700" y="230473"/>
                  <a:pt x="1028700" y="514350"/>
                </a:cubicBezTo>
                <a:lnTo>
                  <a:pt x="1028700" y="514350"/>
                </a:lnTo>
                <a:cubicBezTo>
                  <a:pt x="1028700" y="798227"/>
                  <a:pt x="798227" y="1028700"/>
                  <a:pt x="514350" y="1028700"/>
                </a:cubicBezTo>
                <a:lnTo>
                  <a:pt x="514350" y="1028700"/>
                </a:lnTo>
                <a:cubicBezTo>
                  <a:pt x="230473" y="1028700"/>
                  <a:pt x="0" y="798227"/>
                  <a:pt x="0" y="514350"/>
                </a:cubicBezTo>
                <a:lnTo>
                  <a:pt x="0" y="514350"/>
                </a:lnTo>
                <a:cubicBezTo>
                  <a:pt x="0" y="230473"/>
                  <a:pt x="230473" y="0"/>
                  <a:pt x="514350" y="0"/>
                </a:cubicBezTo>
                <a:close/>
              </a:path>
            </a:pathLst>
          </a:custGeom>
          <a:solidFill>
            <a:srgbClr val="7D8A99">
              <a:alpha val="20000"/>
            </a:srgbClr>
          </a:solidFill>
          <a:ln w="50800">
            <a:solidFill>
              <a:srgbClr val="7D8A9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53600" y="16859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99936" y="28575"/>
                </a:moveTo>
                <a:lnTo>
                  <a:pt x="131891" y="28575"/>
                </a:lnTo>
                <a:cubicBezTo>
                  <a:pt x="105638" y="28575"/>
                  <a:pt x="82689" y="46524"/>
                  <a:pt x="76438" y="71973"/>
                </a:cubicBezTo>
                <a:lnTo>
                  <a:pt x="1250" y="375493"/>
                </a:lnTo>
                <a:cubicBezTo>
                  <a:pt x="-5447" y="402461"/>
                  <a:pt x="15002" y="428625"/>
                  <a:pt x="42863" y="428625"/>
                </a:cubicBezTo>
                <a:lnTo>
                  <a:pt x="199936" y="428625"/>
                </a:lnTo>
                <a:lnTo>
                  <a:pt x="199936" y="371475"/>
                </a:lnTo>
                <a:cubicBezTo>
                  <a:pt x="199936" y="355669"/>
                  <a:pt x="212705" y="342900"/>
                  <a:pt x="228511" y="342900"/>
                </a:cubicBezTo>
                <a:cubicBezTo>
                  <a:pt x="244316" y="342900"/>
                  <a:pt x="257086" y="355669"/>
                  <a:pt x="257086" y="371475"/>
                </a:cubicBezTo>
                <a:lnTo>
                  <a:pt x="257086" y="428625"/>
                </a:lnTo>
                <a:lnTo>
                  <a:pt x="414338" y="428625"/>
                </a:lnTo>
                <a:cubicBezTo>
                  <a:pt x="442198" y="428625"/>
                  <a:pt x="462647" y="402461"/>
                  <a:pt x="455950" y="375493"/>
                </a:cubicBezTo>
                <a:lnTo>
                  <a:pt x="380851" y="71973"/>
                </a:lnTo>
                <a:cubicBezTo>
                  <a:pt x="374511" y="46524"/>
                  <a:pt x="351651" y="28575"/>
                  <a:pt x="325309" y="28575"/>
                </a:cubicBezTo>
                <a:lnTo>
                  <a:pt x="257086" y="28575"/>
                </a:lnTo>
                <a:lnTo>
                  <a:pt x="257086" y="85725"/>
                </a:lnTo>
                <a:cubicBezTo>
                  <a:pt x="257086" y="101531"/>
                  <a:pt x="244316" y="114300"/>
                  <a:pt x="228511" y="114300"/>
                </a:cubicBezTo>
                <a:cubicBezTo>
                  <a:pt x="212705" y="114300"/>
                  <a:pt x="199936" y="101531"/>
                  <a:pt x="199936" y="85725"/>
                </a:cubicBezTo>
                <a:lnTo>
                  <a:pt x="199936" y="28575"/>
                </a:lnTo>
                <a:close/>
                <a:moveTo>
                  <a:pt x="257086" y="200025"/>
                </a:moveTo>
                <a:lnTo>
                  <a:pt x="257086" y="257175"/>
                </a:lnTo>
                <a:cubicBezTo>
                  <a:pt x="257086" y="272981"/>
                  <a:pt x="244316" y="285750"/>
                  <a:pt x="228511" y="285750"/>
                </a:cubicBezTo>
                <a:cubicBezTo>
                  <a:pt x="212705" y="285750"/>
                  <a:pt x="199936" y="272981"/>
                  <a:pt x="199936" y="257175"/>
                </a:cubicBezTo>
                <a:lnTo>
                  <a:pt x="199936" y="200025"/>
                </a:lnTo>
                <a:cubicBezTo>
                  <a:pt x="199936" y="184219"/>
                  <a:pt x="212705" y="171450"/>
                  <a:pt x="228511" y="171450"/>
                </a:cubicBezTo>
                <a:cubicBezTo>
                  <a:pt x="244316" y="171450"/>
                  <a:pt x="257086" y="184219"/>
                  <a:pt x="257086" y="200025"/>
                </a:cubicBezTo>
                <a:close/>
              </a:path>
            </a:pathLst>
          </a:custGeom>
          <a:solidFill>
            <a:srgbClr val="7D8A99"/>
          </a:solidFill>
          <a:ln/>
        </p:spPr>
      </p:sp>
      <p:sp>
        <p:nvSpPr>
          <p:cNvPr id="23" name="Text 21"/>
          <p:cNvSpPr/>
          <p:nvPr/>
        </p:nvSpPr>
        <p:spPr>
          <a:xfrm>
            <a:off x="8320088" y="2600325"/>
            <a:ext cx="33242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Curvature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43900" y="3019425"/>
            <a:ext cx="3276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Curved vs Straight Roads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20075" y="3988594"/>
            <a:ext cx="3524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7D8A99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48%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334375" y="4750594"/>
            <a:ext cx="3295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Increased Risk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48663" y="5207794"/>
            <a:ext cx="32670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Road curvature requires enhanced driver attention and vehicle control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Danger Zone: Where Accidents Cluster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9525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E9A8C"/>
          </a:solidFill>
          <a:ln/>
        </p:spPr>
      </p:sp>
      <p:sp>
        <p:nvSpPr>
          <p:cNvPr id="4" name="Shape 2"/>
          <p:cNvSpPr/>
          <p:nvPr/>
        </p:nvSpPr>
        <p:spPr>
          <a:xfrm>
            <a:off x="1305669" y="1285875"/>
            <a:ext cx="2962275" cy="4286250"/>
          </a:xfrm>
          <a:custGeom>
            <a:avLst/>
            <a:gdLst/>
            <a:ahLst/>
            <a:cxnLst/>
            <a:rect l="l" t="t" r="r" b="b"/>
            <a:pathLst>
              <a:path w="2962275" h="4286250">
                <a:moveTo>
                  <a:pt x="0" y="0"/>
                </a:moveTo>
                <a:lnTo>
                  <a:pt x="2962275" y="0"/>
                </a:lnTo>
                <a:lnTo>
                  <a:pt x="2962275" y="4286250"/>
                </a:lnTo>
                <a:lnTo>
                  <a:pt x="0" y="4286250"/>
                </a:lnTo>
                <a:lnTo>
                  <a:pt x="0" y="0"/>
                </a:lnTo>
                <a:close/>
              </a:path>
            </a:pathLst>
          </a:custGeom>
          <a:solidFill>
            <a:srgbClr val="4E9A8C">
              <a:alpha val="20000"/>
            </a:srgbClr>
          </a:solidFill>
          <a:ln w="50800">
            <a:solidFill>
              <a:srgbClr val="4E9A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09477" y="1609725"/>
            <a:ext cx="1562100" cy="419100"/>
          </a:xfrm>
          <a:custGeom>
            <a:avLst/>
            <a:gdLst/>
            <a:ahLst/>
            <a:cxnLst/>
            <a:rect l="l" t="t" r="r" b="b"/>
            <a:pathLst>
              <a:path w="1562100" h="419100">
                <a:moveTo>
                  <a:pt x="0" y="0"/>
                </a:moveTo>
                <a:lnTo>
                  <a:pt x="1562100" y="0"/>
                </a:lnTo>
                <a:lnTo>
                  <a:pt x="1562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4E9A8C"/>
          </a:solidFill>
          <a:ln/>
        </p:spPr>
      </p:sp>
      <p:sp>
        <p:nvSpPr>
          <p:cNvPr id="6" name="Text 4"/>
          <p:cNvSpPr/>
          <p:nvPr/>
        </p:nvSpPr>
        <p:spPr>
          <a:xfrm>
            <a:off x="1961852" y="1609725"/>
            <a:ext cx="1657350" cy="419100"/>
          </a:xfrm>
          <a:prstGeom prst="rect">
            <a:avLst/>
          </a:prstGeom>
          <a:noFill/>
          <a:ln/>
        </p:spPr>
        <p:txBody>
          <a:bodyPr wrap="square" lIns="228600" tIns="76200" rIns="228600" bIns="7620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SCENARIO 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8082" y="2181225"/>
            <a:ext cx="24574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4E9A8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Safest Conditions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658094" y="27908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4E9A8C"/>
          </a:solidFill>
          <a:ln/>
        </p:spPr>
      </p:sp>
      <p:sp>
        <p:nvSpPr>
          <p:cNvPr id="9" name="Text 7"/>
          <p:cNvSpPr/>
          <p:nvPr/>
        </p:nvSpPr>
        <p:spPr>
          <a:xfrm>
            <a:off x="2029569" y="2752725"/>
            <a:ext cx="121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Speed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658094" y="32480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4E9A8C"/>
          </a:solidFill>
          <a:ln/>
        </p:spPr>
      </p:sp>
      <p:sp>
        <p:nvSpPr>
          <p:cNvPr id="11" name="Text 9"/>
          <p:cNvSpPr/>
          <p:nvPr/>
        </p:nvSpPr>
        <p:spPr>
          <a:xfrm>
            <a:off x="2029569" y="3209925"/>
            <a:ext cx="1438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Straight Road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658094" y="37052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4E9A8C"/>
          </a:solidFill>
          <a:ln/>
        </p:spPr>
      </p:sp>
      <p:sp>
        <p:nvSpPr>
          <p:cNvPr id="13" name="Text 11"/>
          <p:cNvSpPr/>
          <p:nvPr/>
        </p:nvSpPr>
        <p:spPr>
          <a:xfrm>
            <a:off x="2029569" y="3667125"/>
            <a:ext cx="923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Daylight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629519" y="4210050"/>
            <a:ext cx="2314575" cy="19050"/>
          </a:xfrm>
          <a:custGeom>
            <a:avLst/>
            <a:gdLst/>
            <a:ahLst/>
            <a:cxnLst/>
            <a:rect l="l" t="t" r="r" b="b"/>
            <a:pathLst>
              <a:path w="2314575" h="19050">
                <a:moveTo>
                  <a:pt x="0" y="0"/>
                </a:moveTo>
                <a:lnTo>
                  <a:pt x="2314575" y="0"/>
                </a:lnTo>
                <a:lnTo>
                  <a:pt x="2314575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4E9A8C"/>
          </a:solidFill>
          <a:ln/>
        </p:spPr>
      </p:sp>
      <p:sp>
        <p:nvSpPr>
          <p:cNvPr id="15" name="Text 13"/>
          <p:cNvSpPr/>
          <p:nvPr/>
        </p:nvSpPr>
        <p:spPr>
          <a:xfrm>
            <a:off x="1586657" y="4371975"/>
            <a:ext cx="2400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 Level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86644" y="4676775"/>
            <a:ext cx="26003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4E9A8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16%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53100" y="18669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673209" y="373172"/>
                </a:moveTo>
                <a:cubicBezTo>
                  <a:pt x="689952" y="356428"/>
                  <a:pt x="689952" y="329238"/>
                  <a:pt x="673209" y="312494"/>
                </a:cubicBezTo>
                <a:lnTo>
                  <a:pt x="458897" y="98182"/>
                </a:lnTo>
                <a:cubicBezTo>
                  <a:pt x="442153" y="81439"/>
                  <a:pt x="414963" y="81439"/>
                  <a:pt x="398219" y="98182"/>
                </a:cubicBezTo>
                <a:cubicBezTo>
                  <a:pt x="381476" y="114925"/>
                  <a:pt x="381476" y="142116"/>
                  <a:pt x="398219" y="158859"/>
                </a:cubicBezTo>
                <a:lnTo>
                  <a:pt x="539398" y="300038"/>
                </a:lnTo>
                <a:lnTo>
                  <a:pt x="42863" y="300038"/>
                </a:lnTo>
                <a:cubicBezTo>
                  <a:pt x="19154" y="300038"/>
                  <a:pt x="0" y="319192"/>
                  <a:pt x="0" y="342900"/>
                </a:cubicBezTo>
                <a:cubicBezTo>
                  <a:pt x="0" y="366608"/>
                  <a:pt x="19154" y="385763"/>
                  <a:pt x="42863" y="385763"/>
                </a:cubicBezTo>
                <a:lnTo>
                  <a:pt x="539398" y="385763"/>
                </a:lnTo>
                <a:lnTo>
                  <a:pt x="398219" y="526941"/>
                </a:lnTo>
                <a:cubicBezTo>
                  <a:pt x="381476" y="543684"/>
                  <a:pt x="381476" y="570875"/>
                  <a:pt x="398219" y="587618"/>
                </a:cubicBezTo>
                <a:cubicBezTo>
                  <a:pt x="414963" y="604361"/>
                  <a:pt x="442153" y="604361"/>
                  <a:pt x="458897" y="587618"/>
                </a:cubicBezTo>
                <a:lnTo>
                  <a:pt x="673209" y="373306"/>
                </a:lnTo>
                <a:close/>
              </a:path>
            </a:pathLst>
          </a:custGeom>
          <a:solidFill>
            <a:srgbClr val="4E9A8C"/>
          </a:solidFill>
          <a:ln/>
        </p:spPr>
      </p:sp>
      <p:sp>
        <p:nvSpPr>
          <p:cNvPr id="18" name="Text 16"/>
          <p:cNvSpPr/>
          <p:nvPr/>
        </p:nvSpPr>
        <p:spPr>
          <a:xfrm>
            <a:off x="4365873" y="2781300"/>
            <a:ext cx="3457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7200" b="1" dirty="0">
                <a:solidFill>
                  <a:srgbClr val="4E9A8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4.38x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37323" y="3771900"/>
            <a:ext cx="31146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 DANGEROUS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53100" y="43053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673209" y="373172"/>
                </a:moveTo>
                <a:cubicBezTo>
                  <a:pt x="689952" y="356428"/>
                  <a:pt x="689952" y="329238"/>
                  <a:pt x="673209" y="312494"/>
                </a:cubicBezTo>
                <a:lnTo>
                  <a:pt x="458897" y="98182"/>
                </a:lnTo>
                <a:cubicBezTo>
                  <a:pt x="442153" y="81439"/>
                  <a:pt x="414963" y="81439"/>
                  <a:pt x="398219" y="98182"/>
                </a:cubicBezTo>
                <a:cubicBezTo>
                  <a:pt x="381476" y="114925"/>
                  <a:pt x="381476" y="142116"/>
                  <a:pt x="398219" y="158859"/>
                </a:cubicBezTo>
                <a:lnTo>
                  <a:pt x="539398" y="300038"/>
                </a:lnTo>
                <a:lnTo>
                  <a:pt x="42863" y="300038"/>
                </a:lnTo>
                <a:cubicBezTo>
                  <a:pt x="19154" y="300038"/>
                  <a:pt x="0" y="319192"/>
                  <a:pt x="0" y="342900"/>
                </a:cubicBezTo>
                <a:cubicBezTo>
                  <a:pt x="0" y="366608"/>
                  <a:pt x="19154" y="385763"/>
                  <a:pt x="42863" y="385763"/>
                </a:cubicBezTo>
                <a:lnTo>
                  <a:pt x="539398" y="385763"/>
                </a:lnTo>
                <a:lnTo>
                  <a:pt x="398219" y="526941"/>
                </a:lnTo>
                <a:cubicBezTo>
                  <a:pt x="381476" y="543684"/>
                  <a:pt x="381476" y="570875"/>
                  <a:pt x="398219" y="587618"/>
                </a:cubicBezTo>
                <a:cubicBezTo>
                  <a:pt x="414963" y="604361"/>
                  <a:pt x="442153" y="604361"/>
                  <a:pt x="458897" y="587618"/>
                </a:cubicBezTo>
                <a:lnTo>
                  <a:pt x="673209" y="373306"/>
                </a:lnTo>
                <a:close/>
              </a:path>
            </a:pathLst>
          </a:custGeom>
          <a:solidFill>
            <a:srgbClr val="4E9A8C"/>
          </a:solidFill>
          <a:ln/>
        </p:spPr>
      </p:sp>
      <p:sp>
        <p:nvSpPr>
          <p:cNvPr id="21" name="Shape 19"/>
          <p:cNvSpPr/>
          <p:nvPr/>
        </p:nvSpPr>
        <p:spPr>
          <a:xfrm>
            <a:off x="7921377" y="1285875"/>
            <a:ext cx="2962275" cy="4286250"/>
          </a:xfrm>
          <a:custGeom>
            <a:avLst/>
            <a:gdLst/>
            <a:ahLst/>
            <a:cxnLst/>
            <a:rect l="l" t="t" r="r" b="b"/>
            <a:pathLst>
              <a:path w="2962275" h="4286250">
                <a:moveTo>
                  <a:pt x="0" y="0"/>
                </a:moveTo>
                <a:lnTo>
                  <a:pt x="2962275" y="0"/>
                </a:lnTo>
                <a:lnTo>
                  <a:pt x="2962275" y="4286250"/>
                </a:lnTo>
                <a:lnTo>
                  <a:pt x="0" y="428625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20000"/>
            </a:srgbClr>
          </a:solidFill>
          <a:ln w="50800">
            <a:solidFill>
              <a:srgbClr val="4A6C8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29501" y="1609725"/>
            <a:ext cx="1552575" cy="419100"/>
          </a:xfrm>
          <a:custGeom>
            <a:avLst/>
            <a:gdLst/>
            <a:ahLst/>
            <a:cxnLst/>
            <a:rect l="l" t="t" r="r" b="b"/>
            <a:pathLst>
              <a:path w="1552575" h="419100">
                <a:moveTo>
                  <a:pt x="0" y="0"/>
                </a:moveTo>
                <a:lnTo>
                  <a:pt x="1552575" y="0"/>
                </a:lnTo>
                <a:lnTo>
                  <a:pt x="1552575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3" name="Text 21"/>
          <p:cNvSpPr/>
          <p:nvPr/>
        </p:nvSpPr>
        <p:spPr>
          <a:xfrm>
            <a:off x="8581876" y="1609725"/>
            <a:ext cx="1647825" cy="419100"/>
          </a:xfrm>
          <a:prstGeom prst="rect">
            <a:avLst/>
          </a:prstGeom>
          <a:noFill/>
          <a:ln/>
        </p:spPr>
        <p:txBody>
          <a:bodyPr wrap="square" lIns="228600" tIns="76200" rIns="228600" bIns="7620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0E2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SCENARIO B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173789" y="2181225"/>
            <a:ext cx="24574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4A6C8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Most Dangerous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273802" y="27908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6" name="Text 24"/>
          <p:cNvSpPr/>
          <p:nvPr/>
        </p:nvSpPr>
        <p:spPr>
          <a:xfrm>
            <a:off x="8645277" y="2752725"/>
            <a:ext cx="1247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Speed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273802" y="32480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8" name="Text 26"/>
          <p:cNvSpPr/>
          <p:nvPr/>
        </p:nvSpPr>
        <p:spPr>
          <a:xfrm>
            <a:off x="8645277" y="3209925"/>
            <a:ext cx="1400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Curved Road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273802" y="37052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0" name="Text 28"/>
          <p:cNvSpPr/>
          <p:nvPr/>
        </p:nvSpPr>
        <p:spPr>
          <a:xfrm>
            <a:off x="8645277" y="3667125"/>
            <a:ext cx="638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Night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245227" y="4210050"/>
            <a:ext cx="2314575" cy="19050"/>
          </a:xfrm>
          <a:custGeom>
            <a:avLst/>
            <a:gdLst/>
            <a:ahLst/>
            <a:cxnLst/>
            <a:rect l="l" t="t" r="r" b="b"/>
            <a:pathLst>
              <a:path w="2314575" h="19050">
                <a:moveTo>
                  <a:pt x="0" y="0"/>
                </a:moveTo>
                <a:lnTo>
                  <a:pt x="2314575" y="0"/>
                </a:lnTo>
                <a:lnTo>
                  <a:pt x="2314575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2" name="Text 30"/>
          <p:cNvSpPr/>
          <p:nvPr/>
        </p:nvSpPr>
        <p:spPr>
          <a:xfrm>
            <a:off x="8202364" y="4371975"/>
            <a:ext cx="2400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 Level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102352" y="4676775"/>
            <a:ext cx="26003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4A6C8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71%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126284" y="5867400"/>
            <a:ext cx="5962650" cy="609600"/>
          </a:xfrm>
          <a:custGeom>
            <a:avLst/>
            <a:gdLst/>
            <a:ahLst/>
            <a:cxnLst/>
            <a:rect l="l" t="t" r="r" b="b"/>
            <a:pathLst>
              <a:path w="5962650" h="609600">
                <a:moveTo>
                  <a:pt x="0" y="0"/>
                </a:moveTo>
                <a:lnTo>
                  <a:pt x="5962650" y="0"/>
                </a:lnTo>
                <a:lnTo>
                  <a:pt x="596265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4E9A8C">
              <a:alpha val="3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126284" y="5867400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0" y="0"/>
                </a:moveTo>
                <a:lnTo>
                  <a:pt x="38100" y="0"/>
                </a:lnTo>
                <a:lnTo>
                  <a:pt x="381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4E9A8C"/>
          </a:solidFill>
          <a:ln/>
        </p:spPr>
      </p:sp>
      <p:sp>
        <p:nvSpPr>
          <p:cNvPr id="36" name="Text 34"/>
          <p:cNvSpPr/>
          <p:nvPr/>
        </p:nvSpPr>
        <p:spPr>
          <a:xfrm>
            <a:off x="3469184" y="6019800"/>
            <a:ext cx="5295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0E2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combination accounts for </a:t>
            </a:r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E9A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majority of accidents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Surprising Findings: Where NOT to Invest Resources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9525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7D8A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Expected vs Reality — Resources we can STOP wasting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3335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E9A8C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524000"/>
            <a:ext cx="11410950" cy="1447800"/>
          </a:xfrm>
          <a:custGeom>
            <a:avLst/>
            <a:gdLst/>
            <a:ahLst/>
            <a:cxnLst/>
            <a:rect l="l" t="t" r="r" b="b"/>
            <a:pathLst>
              <a:path w="11410950" h="1447800">
                <a:moveTo>
                  <a:pt x="0" y="0"/>
                </a:moveTo>
                <a:lnTo>
                  <a:pt x="11410950" y="0"/>
                </a:lnTo>
                <a:lnTo>
                  <a:pt x="11410950" y="1447800"/>
                </a:ln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solidFill>
            <a:srgbClr val="7D8A99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524000"/>
            <a:ext cx="38100" cy="1447800"/>
          </a:xfrm>
          <a:custGeom>
            <a:avLst/>
            <a:gdLst/>
            <a:ahLst/>
            <a:cxnLst/>
            <a:rect l="l" t="t" r="r" b="b"/>
            <a:pathLst>
              <a:path w="38100" h="1447800">
                <a:moveTo>
                  <a:pt x="0" y="0"/>
                </a:moveTo>
                <a:lnTo>
                  <a:pt x="38100" y="0"/>
                </a:lnTo>
                <a:lnTo>
                  <a:pt x="38100" y="1447800"/>
                </a:ln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solidFill>
            <a:srgbClr val="7D8A99"/>
          </a:solidFill>
          <a:ln/>
        </p:spPr>
      </p:sp>
      <p:sp>
        <p:nvSpPr>
          <p:cNvPr id="7" name="Shape 5"/>
          <p:cNvSpPr/>
          <p:nvPr/>
        </p:nvSpPr>
        <p:spPr>
          <a:xfrm>
            <a:off x="581025" y="1876425"/>
            <a:ext cx="742950" cy="742950"/>
          </a:xfrm>
          <a:custGeom>
            <a:avLst/>
            <a:gdLst/>
            <a:ahLst/>
            <a:cxnLst/>
            <a:rect l="l" t="t" r="r" b="b"/>
            <a:pathLst>
              <a:path w="742950" h="742950">
                <a:moveTo>
                  <a:pt x="371475" y="0"/>
                </a:moveTo>
                <a:lnTo>
                  <a:pt x="371475" y="0"/>
                </a:lnTo>
                <a:cubicBezTo>
                  <a:pt x="576498" y="0"/>
                  <a:pt x="742950" y="166452"/>
                  <a:pt x="742950" y="371475"/>
                </a:cubicBezTo>
                <a:lnTo>
                  <a:pt x="742950" y="371475"/>
                </a:lnTo>
                <a:cubicBezTo>
                  <a:pt x="742950" y="576498"/>
                  <a:pt x="576498" y="742950"/>
                  <a:pt x="371475" y="742950"/>
                </a:cubicBezTo>
                <a:lnTo>
                  <a:pt x="371475" y="742950"/>
                </a:lnTo>
                <a:cubicBezTo>
                  <a:pt x="166452" y="742950"/>
                  <a:pt x="0" y="576498"/>
                  <a:pt x="0" y="371475"/>
                </a:cubicBezTo>
                <a:lnTo>
                  <a:pt x="0" y="371475"/>
                </a:lnTo>
                <a:cubicBezTo>
                  <a:pt x="0" y="166452"/>
                  <a:pt x="166452" y="0"/>
                  <a:pt x="371475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25400">
            <a:solidFill>
              <a:srgbClr val="4A6C8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9866" y="210502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71438" y="0"/>
                </a:moveTo>
                <a:cubicBezTo>
                  <a:pt x="81316" y="0"/>
                  <a:pt x="89297" y="7981"/>
                  <a:pt x="89297" y="17859"/>
                </a:cubicBezTo>
                <a:lnTo>
                  <a:pt x="89297" y="35719"/>
                </a:lnTo>
                <a:lnTo>
                  <a:pt x="160734" y="35719"/>
                </a:lnTo>
                <a:lnTo>
                  <a:pt x="160734" y="17859"/>
                </a:lnTo>
                <a:cubicBezTo>
                  <a:pt x="160734" y="7981"/>
                  <a:pt x="168715" y="0"/>
                  <a:pt x="178594" y="0"/>
                </a:cubicBezTo>
                <a:cubicBezTo>
                  <a:pt x="188472" y="0"/>
                  <a:pt x="196453" y="7981"/>
                  <a:pt x="196453" y="17859"/>
                </a:cubicBezTo>
                <a:lnTo>
                  <a:pt x="196453" y="35719"/>
                </a:lnTo>
                <a:lnTo>
                  <a:pt x="214313" y="35719"/>
                </a:lnTo>
                <a:cubicBezTo>
                  <a:pt x="234014" y="35719"/>
                  <a:pt x="250031" y="51736"/>
                  <a:pt x="250031" y="71438"/>
                </a:cubicBezTo>
                <a:lnTo>
                  <a:pt x="250031" y="232172"/>
                </a:lnTo>
                <a:cubicBezTo>
                  <a:pt x="250031" y="251873"/>
                  <a:pt x="234014" y="267891"/>
                  <a:pt x="214313" y="267891"/>
                </a:cubicBezTo>
                <a:lnTo>
                  <a:pt x="35719" y="267891"/>
                </a:lnTo>
                <a:cubicBezTo>
                  <a:pt x="16018" y="267891"/>
                  <a:pt x="0" y="251873"/>
                  <a:pt x="0" y="232172"/>
                </a:cubicBezTo>
                <a:lnTo>
                  <a:pt x="0" y="71438"/>
                </a:lnTo>
                <a:cubicBezTo>
                  <a:pt x="0" y="51736"/>
                  <a:pt x="16018" y="35719"/>
                  <a:pt x="35719" y="35719"/>
                </a:cubicBezTo>
                <a:lnTo>
                  <a:pt x="53578" y="35719"/>
                </a:lnTo>
                <a:lnTo>
                  <a:pt x="53578" y="17859"/>
                </a:lnTo>
                <a:cubicBezTo>
                  <a:pt x="53578" y="7981"/>
                  <a:pt x="61559" y="0"/>
                  <a:pt x="71438" y="0"/>
                </a:cubicBezTo>
                <a:close/>
                <a:moveTo>
                  <a:pt x="162911" y="122839"/>
                </a:moveTo>
                <a:cubicBezTo>
                  <a:pt x="157665" y="117593"/>
                  <a:pt x="149182" y="117593"/>
                  <a:pt x="143991" y="122839"/>
                </a:cubicBezTo>
                <a:lnTo>
                  <a:pt x="125071" y="141759"/>
                </a:lnTo>
                <a:lnTo>
                  <a:pt x="106152" y="122839"/>
                </a:lnTo>
                <a:cubicBezTo>
                  <a:pt x="100905" y="117593"/>
                  <a:pt x="92422" y="117593"/>
                  <a:pt x="87232" y="122839"/>
                </a:cubicBezTo>
                <a:cubicBezTo>
                  <a:pt x="82042" y="128085"/>
                  <a:pt x="81986" y="136568"/>
                  <a:pt x="87232" y="141759"/>
                </a:cubicBezTo>
                <a:lnTo>
                  <a:pt x="106152" y="160679"/>
                </a:lnTo>
                <a:lnTo>
                  <a:pt x="87232" y="179598"/>
                </a:lnTo>
                <a:cubicBezTo>
                  <a:pt x="81986" y="184845"/>
                  <a:pt x="81986" y="193328"/>
                  <a:pt x="87232" y="198518"/>
                </a:cubicBezTo>
                <a:cubicBezTo>
                  <a:pt x="92478" y="203708"/>
                  <a:pt x="100961" y="203764"/>
                  <a:pt x="106152" y="198518"/>
                </a:cubicBezTo>
                <a:lnTo>
                  <a:pt x="125071" y="179598"/>
                </a:lnTo>
                <a:lnTo>
                  <a:pt x="143991" y="198518"/>
                </a:lnTo>
                <a:cubicBezTo>
                  <a:pt x="149237" y="203764"/>
                  <a:pt x="157721" y="203764"/>
                  <a:pt x="162911" y="198518"/>
                </a:cubicBezTo>
                <a:cubicBezTo>
                  <a:pt x="168101" y="193272"/>
                  <a:pt x="168157" y="184789"/>
                  <a:pt x="162911" y="179598"/>
                </a:cubicBezTo>
                <a:lnTo>
                  <a:pt x="143991" y="160679"/>
                </a:lnTo>
                <a:lnTo>
                  <a:pt x="162911" y="141759"/>
                </a:lnTo>
                <a:cubicBezTo>
                  <a:pt x="168157" y="136513"/>
                  <a:pt x="168157" y="128029"/>
                  <a:pt x="162911" y="122839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9" name="Text 7"/>
          <p:cNvSpPr/>
          <p:nvPr/>
        </p:nvSpPr>
        <p:spPr>
          <a:xfrm>
            <a:off x="1485900" y="1676400"/>
            <a:ext cx="1028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Holidays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85900" y="2171700"/>
            <a:ext cx="508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assumed: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85900" y="2438400"/>
            <a:ext cx="509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Holidays cause more accidents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686550" y="22955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93204" y="93204"/>
                </a:moveTo>
                <a:cubicBezTo>
                  <a:pt x="98450" y="87957"/>
                  <a:pt x="106933" y="87957"/>
                  <a:pt x="112123" y="93204"/>
                </a:cubicBezTo>
                <a:lnTo>
                  <a:pt x="142819" y="123899"/>
                </a:lnTo>
                <a:lnTo>
                  <a:pt x="173515" y="93204"/>
                </a:lnTo>
                <a:cubicBezTo>
                  <a:pt x="178761" y="87957"/>
                  <a:pt x="187244" y="87957"/>
                  <a:pt x="192435" y="93204"/>
                </a:cubicBezTo>
                <a:cubicBezTo>
                  <a:pt x="197625" y="98450"/>
                  <a:pt x="197681" y="106933"/>
                  <a:pt x="192435" y="112123"/>
                </a:cubicBezTo>
                <a:lnTo>
                  <a:pt x="161739" y="142819"/>
                </a:lnTo>
                <a:lnTo>
                  <a:pt x="192435" y="173515"/>
                </a:lnTo>
                <a:cubicBezTo>
                  <a:pt x="197681" y="178761"/>
                  <a:pt x="197681" y="187244"/>
                  <a:pt x="192435" y="192435"/>
                </a:cubicBezTo>
                <a:cubicBezTo>
                  <a:pt x="187189" y="197625"/>
                  <a:pt x="178705" y="197681"/>
                  <a:pt x="173515" y="192435"/>
                </a:cubicBezTo>
                <a:lnTo>
                  <a:pt x="142819" y="161739"/>
                </a:lnTo>
                <a:lnTo>
                  <a:pt x="112123" y="192435"/>
                </a:lnTo>
                <a:cubicBezTo>
                  <a:pt x="106877" y="197681"/>
                  <a:pt x="98394" y="197681"/>
                  <a:pt x="93204" y="192435"/>
                </a:cubicBezTo>
                <a:cubicBezTo>
                  <a:pt x="88013" y="187189"/>
                  <a:pt x="87957" y="178705"/>
                  <a:pt x="93204" y="173515"/>
                </a:cubicBezTo>
                <a:lnTo>
                  <a:pt x="123899" y="142819"/>
                </a:lnTo>
                <a:lnTo>
                  <a:pt x="93204" y="112123"/>
                </a:lnTo>
                <a:cubicBezTo>
                  <a:pt x="87957" y="106877"/>
                  <a:pt x="87957" y="98394"/>
                  <a:pt x="93204" y="93204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3" name="Text 11"/>
          <p:cNvSpPr/>
          <p:nvPr/>
        </p:nvSpPr>
        <p:spPr>
          <a:xfrm>
            <a:off x="7119938" y="2057400"/>
            <a:ext cx="1838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Reality: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19938" y="2324100"/>
            <a:ext cx="1857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measurable effect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19938" y="2590800"/>
            <a:ext cx="1838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(0.1% difference)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3086100"/>
            <a:ext cx="11410950" cy="1447800"/>
          </a:xfrm>
          <a:custGeom>
            <a:avLst/>
            <a:gdLst/>
            <a:ahLst/>
            <a:cxnLst/>
            <a:rect l="l" t="t" r="r" b="b"/>
            <a:pathLst>
              <a:path w="11410950" h="1447800">
                <a:moveTo>
                  <a:pt x="0" y="0"/>
                </a:moveTo>
                <a:lnTo>
                  <a:pt x="11410950" y="0"/>
                </a:lnTo>
                <a:lnTo>
                  <a:pt x="11410950" y="1447800"/>
                </a:ln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solidFill>
            <a:srgbClr val="7D8A99">
              <a:alpha val="1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00050" y="3086100"/>
            <a:ext cx="38100" cy="1447800"/>
          </a:xfrm>
          <a:custGeom>
            <a:avLst/>
            <a:gdLst/>
            <a:ahLst/>
            <a:cxnLst/>
            <a:rect l="l" t="t" r="r" b="b"/>
            <a:pathLst>
              <a:path w="38100" h="1447800">
                <a:moveTo>
                  <a:pt x="0" y="0"/>
                </a:moveTo>
                <a:lnTo>
                  <a:pt x="38100" y="0"/>
                </a:lnTo>
                <a:lnTo>
                  <a:pt x="38100" y="1447800"/>
                </a:ln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solidFill>
            <a:srgbClr val="7D8A99"/>
          </a:solidFill>
          <a:ln/>
        </p:spPr>
      </p:sp>
      <p:sp>
        <p:nvSpPr>
          <p:cNvPr id="18" name="Shape 16"/>
          <p:cNvSpPr/>
          <p:nvPr/>
        </p:nvSpPr>
        <p:spPr>
          <a:xfrm>
            <a:off x="581025" y="3438525"/>
            <a:ext cx="742950" cy="742950"/>
          </a:xfrm>
          <a:custGeom>
            <a:avLst/>
            <a:gdLst/>
            <a:ahLst/>
            <a:cxnLst/>
            <a:rect l="l" t="t" r="r" b="b"/>
            <a:pathLst>
              <a:path w="742950" h="742950">
                <a:moveTo>
                  <a:pt x="371475" y="0"/>
                </a:moveTo>
                <a:lnTo>
                  <a:pt x="371475" y="0"/>
                </a:lnTo>
                <a:cubicBezTo>
                  <a:pt x="576498" y="0"/>
                  <a:pt x="742950" y="166452"/>
                  <a:pt x="742950" y="371475"/>
                </a:cubicBezTo>
                <a:lnTo>
                  <a:pt x="742950" y="371475"/>
                </a:lnTo>
                <a:cubicBezTo>
                  <a:pt x="742950" y="576498"/>
                  <a:pt x="576498" y="742950"/>
                  <a:pt x="371475" y="742950"/>
                </a:cubicBezTo>
                <a:lnTo>
                  <a:pt x="371475" y="742950"/>
                </a:lnTo>
                <a:cubicBezTo>
                  <a:pt x="166452" y="742950"/>
                  <a:pt x="0" y="576498"/>
                  <a:pt x="0" y="371475"/>
                </a:cubicBezTo>
                <a:lnTo>
                  <a:pt x="0" y="371475"/>
                </a:lnTo>
                <a:cubicBezTo>
                  <a:pt x="0" y="166452"/>
                  <a:pt x="166452" y="0"/>
                  <a:pt x="371475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25400">
            <a:solidFill>
              <a:srgbClr val="4A6C8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4147" y="366712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0" y="107156"/>
                </a:moveTo>
                <a:cubicBezTo>
                  <a:pt x="0" y="87455"/>
                  <a:pt x="16018" y="71438"/>
                  <a:pt x="35719" y="71438"/>
                </a:cubicBezTo>
                <a:lnTo>
                  <a:pt x="71438" y="71438"/>
                </a:lnTo>
                <a:lnTo>
                  <a:pt x="142819" y="7200"/>
                </a:lnTo>
                <a:cubicBezTo>
                  <a:pt x="153033" y="-1953"/>
                  <a:pt x="168492" y="-1953"/>
                  <a:pt x="178650" y="7200"/>
                </a:cubicBezTo>
                <a:lnTo>
                  <a:pt x="250031" y="71438"/>
                </a:lnTo>
                <a:lnTo>
                  <a:pt x="285750" y="71438"/>
                </a:lnTo>
                <a:cubicBezTo>
                  <a:pt x="305451" y="71438"/>
                  <a:pt x="321469" y="87455"/>
                  <a:pt x="321469" y="107156"/>
                </a:cubicBezTo>
                <a:lnTo>
                  <a:pt x="321469" y="250031"/>
                </a:lnTo>
                <a:cubicBezTo>
                  <a:pt x="321469" y="269732"/>
                  <a:pt x="305451" y="285750"/>
                  <a:pt x="285750" y="285750"/>
                </a:cubicBezTo>
                <a:lnTo>
                  <a:pt x="35719" y="285750"/>
                </a:lnTo>
                <a:cubicBezTo>
                  <a:pt x="16018" y="285750"/>
                  <a:pt x="0" y="269732"/>
                  <a:pt x="0" y="250031"/>
                </a:cubicBezTo>
                <a:lnTo>
                  <a:pt x="0" y="107156"/>
                </a:lnTo>
                <a:close/>
                <a:moveTo>
                  <a:pt x="125016" y="209848"/>
                </a:moveTo>
                <a:lnTo>
                  <a:pt x="125016" y="258961"/>
                </a:lnTo>
                <a:lnTo>
                  <a:pt x="196453" y="258961"/>
                </a:lnTo>
                <a:lnTo>
                  <a:pt x="196453" y="209848"/>
                </a:lnTo>
                <a:cubicBezTo>
                  <a:pt x="196453" y="197514"/>
                  <a:pt x="186463" y="187523"/>
                  <a:pt x="174129" y="187523"/>
                </a:cubicBezTo>
                <a:lnTo>
                  <a:pt x="147340" y="187523"/>
                </a:lnTo>
                <a:cubicBezTo>
                  <a:pt x="135006" y="187523"/>
                  <a:pt x="125016" y="197514"/>
                  <a:pt x="125016" y="209848"/>
                </a:cubicBezTo>
                <a:close/>
                <a:moveTo>
                  <a:pt x="62508" y="214313"/>
                </a:moveTo>
                <a:cubicBezTo>
                  <a:pt x="67419" y="214313"/>
                  <a:pt x="71438" y="210294"/>
                  <a:pt x="71438" y="205383"/>
                </a:cubicBezTo>
                <a:lnTo>
                  <a:pt x="71438" y="187523"/>
                </a:lnTo>
                <a:cubicBezTo>
                  <a:pt x="71438" y="182612"/>
                  <a:pt x="67419" y="178594"/>
                  <a:pt x="62508" y="178594"/>
                </a:cubicBezTo>
                <a:lnTo>
                  <a:pt x="44648" y="178594"/>
                </a:lnTo>
                <a:cubicBezTo>
                  <a:pt x="39737" y="178594"/>
                  <a:pt x="35719" y="182612"/>
                  <a:pt x="35719" y="187523"/>
                </a:cubicBezTo>
                <a:lnTo>
                  <a:pt x="35719" y="205383"/>
                </a:lnTo>
                <a:cubicBezTo>
                  <a:pt x="35719" y="210294"/>
                  <a:pt x="39737" y="214313"/>
                  <a:pt x="44648" y="214313"/>
                </a:cubicBezTo>
                <a:lnTo>
                  <a:pt x="62508" y="214313"/>
                </a:lnTo>
                <a:close/>
                <a:moveTo>
                  <a:pt x="71438" y="133945"/>
                </a:moveTo>
                <a:lnTo>
                  <a:pt x="71438" y="116086"/>
                </a:lnTo>
                <a:cubicBezTo>
                  <a:pt x="71438" y="111175"/>
                  <a:pt x="67419" y="107156"/>
                  <a:pt x="62508" y="107156"/>
                </a:cubicBezTo>
                <a:lnTo>
                  <a:pt x="44648" y="107156"/>
                </a:lnTo>
                <a:cubicBezTo>
                  <a:pt x="39737" y="107156"/>
                  <a:pt x="35719" y="111175"/>
                  <a:pt x="35719" y="116086"/>
                </a:cubicBezTo>
                <a:lnTo>
                  <a:pt x="35719" y="133945"/>
                </a:lnTo>
                <a:cubicBezTo>
                  <a:pt x="35719" y="138857"/>
                  <a:pt x="39737" y="142875"/>
                  <a:pt x="44648" y="142875"/>
                </a:cubicBezTo>
                <a:lnTo>
                  <a:pt x="62508" y="142875"/>
                </a:lnTo>
                <a:cubicBezTo>
                  <a:pt x="67419" y="142875"/>
                  <a:pt x="71438" y="138857"/>
                  <a:pt x="71438" y="133945"/>
                </a:cubicBezTo>
                <a:close/>
                <a:moveTo>
                  <a:pt x="276820" y="214313"/>
                </a:moveTo>
                <a:cubicBezTo>
                  <a:pt x="281732" y="214313"/>
                  <a:pt x="285750" y="210294"/>
                  <a:pt x="285750" y="205383"/>
                </a:cubicBezTo>
                <a:lnTo>
                  <a:pt x="285750" y="187523"/>
                </a:lnTo>
                <a:cubicBezTo>
                  <a:pt x="285750" y="182612"/>
                  <a:pt x="281732" y="178594"/>
                  <a:pt x="276820" y="178594"/>
                </a:cubicBezTo>
                <a:lnTo>
                  <a:pt x="258961" y="178594"/>
                </a:lnTo>
                <a:cubicBezTo>
                  <a:pt x="254050" y="178594"/>
                  <a:pt x="250031" y="182612"/>
                  <a:pt x="250031" y="187523"/>
                </a:cubicBezTo>
                <a:lnTo>
                  <a:pt x="250031" y="205383"/>
                </a:lnTo>
                <a:cubicBezTo>
                  <a:pt x="250031" y="210294"/>
                  <a:pt x="254050" y="214313"/>
                  <a:pt x="258961" y="214313"/>
                </a:cubicBezTo>
                <a:lnTo>
                  <a:pt x="276820" y="214313"/>
                </a:lnTo>
                <a:close/>
                <a:moveTo>
                  <a:pt x="285750" y="133945"/>
                </a:moveTo>
                <a:lnTo>
                  <a:pt x="285750" y="116086"/>
                </a:lnTo>
                <a:cubicBezTo>
                  <a:pt x="285750" y="111175"/>
                  <a:pt x="281732" y="107156"/>
                  <a:pt x="276820" y="107156"/>
                </a:cubicBezTo>
                <a:lnTo>
                  <a:pt x="258961" y="107156"/>
                </a:lnTo>
                <a:cubicBezTo>
                  <a:pt x="254050" y="107156"/>
                  <a:pt x="250031" y="111175"/>
                  <a:pt x="250031" y="116086"/>
                </a:cubicBezTo>
                <a:lnTo>
                  <a:pt x="250031" y="133945"/>
                </a:lnTo>
                <a:cubicBezTo>
                  <a:pt x="250031" y="138857"/>
                  <a:pt x="254050" y="142875"/>
                  <a:pt x="258961" y="142875"/>
                </a:cubicBezTo>
                <a:lnTo>
                  <a:pt x="276820" y="142875"/>
                </a:lnTo>
                <a:cubicBezTo>
                  <a:pt x="281732" y="142875"/>
                  <a:pt x="285750" y="138857"/>
                  <a:pt x="285750" y="133945"/>
                </a:cubicBezTo>
                <a:close/>
                <a:moveTo>
                  <a:pt x="160734" y="142875"/>
                </a:moveTo>
                <a:cubicBezTo>
                  <a:pt x="180448" y="142875"/>
                  <a:pt x="196453" y="126870"/>
                  <a:pt x="196453" y="107156"/>
                </a:cubicBezTo>
                <a:cubicBezTo>
                  <a:pt x="196453" y="87443"/>
                  <a:pt x="180448" y="71438"/>
                  <a:pt x="160734" y="71438"/>
                </a:cubicBezTo>
                <a:cubicBezTo>
                  <a:pt x="141021" y="71438"/>
                  <a:pt x="125016" y="87443"/>
                  <a:pt x="125016" y="107156"/>
                </a:cubicBezTo>
                <a:cubicBezTo>
                  <a:pt x="125016" y="126870"/>
                  <a:pt x="141021" y="142875"/>
                  <a:pt x="160734" y="142875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0" name="Text 18"/>
          <p:cNvSpPr/>
          <p:nvPr/>
        </p:nvSpPr>
        <p:spPr>
          <a:xfrm>
            <a:off x="1485900" y="3238500"/>
            <a:ext cx="1028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School Seasons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85900" y="3733800"/>
            <a:ext cx="508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assumed: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85900" y="4000500"/>
            <a:ext cx="509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School seasons increase accidents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686550" y="38576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93204" y="93204"/>
                </a:moveTo>
                <a:cubicBezTo>
                  <a:pt x="98450" y="87957"/>
                  <a:pt x="106933" y="87957"/>
                  <a:pt x="112123" y="93204"/>
                </a:cubicBezTo>
                <a:lnTo>
                  <a:pt x="142819" y="123899"/>
                </a:lnTo>
                <a:lnTo>
                  <a:pt x="173515" y="93204"/>
                </a:lnTo>
                <a:cubicBezTo>
                  <a:pt x="178761" y="87957"/>
                  <a:pt x="187244" y="87957"/>
                  <a:pt x="192435" y="93204"/>
                </a:cubicBezTo>
                <a:cubicBezTo>
                  <a:pt x="197625" y="98450"/>
                  <a:pt x="197681" y="106933"/>
                  <a:pt x="192435" y="112123"/>
                </a:cubicBezTo>
                <a:lnTo>
                  <a:pt x="161739" y="142819"/>
                </a:lnTo>
                <a:lnTo>
                  <a:pt x="192435" y="173515"/>
                </a:lnTo>
                <a:cubicBezTo>
                  <a:pt x="197681" y="178761"/>
                  <a:pt x="197681" y="187244"/>
                  <a:pt x="192435" y="192435"/>
                </a:cubicBezTo>
                <a:cubicBezTo>
                  <a:pt x="187189" y="197625"/>
                  <a:pt x="178705" y="197681"/>
                  <a:pt x="173515" y="192435"/>
                </a:cubicBezTo>
                <a:lnTo>
                  <a:pt x="142819" y="161739"/>
                </a:lnTo>
                <a:lnTo>
                  <a:pt x="112123" y="192435"/>
                </a:lnTo>
                <a:cubicBezTo>
                  <a:pt x="106877" y="197681"/>
                  <a:pt x="98394" y="197681"/>
                  <a:pt x="93204" y="192435"/>
                </a:cubicBezTo>
                <a:cubicBezTo>
                  <a:pt x="88013" y="187189"/>
                  <a:pt x="87957" y="178705"/>
                  <a:pt x="93204" y="173515"/>
                </a:cubicBezTo>
                <a:lnTo>
                  <a:pt x="123899" y="142819"/>
                </a:lnTo>
                <a:lnTo>
                  <a:pt x="93204" y="112123"/>
                </a:lnTo>
                <a:cubicBezTo>
                  <a:pt x="87957" y="106877"/>
                  <a:pt x="87957" y="98394"/>
                  <a:pt x="93204" y="93204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4" name="Text 22"/>
          <p:cNvSpPr/>
          <p:nvPr/>
        </p:nvSpPr>
        <p:spPr>
          <a:xfrm>
            <a:off x="7119938" y="3619500"/>
            <a:ext cx="1838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Reality: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19938" y="3886200"/>
            <a:ext cx="1857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measurable effect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19938" y="4152900"/>
            <a:ext cx="1838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(0.15% difference)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00050" y="4648200"/>
            <a:ext cx="11410950" cy="1447800"/>
          </a:xfrm>
          <a:custGeom>
            <a:avLst/>
            <a:gdLst/>
            <a:ahLst/>
            <a:cxnLst/>
            <a:rect l="l" t="t" r="r" b="b"/>
            <a:pathLst>
              <a:path w="11410950" h="1447800">
                <a:moveTo>
                  <a:pt x="0" y="0"/>
                </a:moveTo>
                <a:lnTo>
                  <a:pt x="11410950" y="0"/>
                </a:lnTo>
                <a:lnTo>
                  <a:pt x="11410950" y="1447800"/>
                </a:ln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solidFill>
            <a:srgbClr val="7D8A99">
              <a:alpha val="1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00050" y="4648200"/>
            <a:ext cx="38100" cy="1447800"/>
          </a:xfrm>
          <a:custGeom>
            <a:avLst/>
            <a:gdLst/>
            <a:ahLst/>
            <a:cxnLst/>
            <a:rect l="l" t="t" r="r" b="b"/>
            <a:pathLst>
              <a:path w="38100" h="1447800">
                <a:moveTo>
                  <a:pt x="0" y="0"/>
                </a:moveTo>
                <a:lnTo>
                  <a:pt x="38100" y="0"/>
                </a:lnTo>
                <a:lnTo>
                  <a:pt x="38100" y="1447800"/>
                </a:ln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solidFill>
            <a:srgbClr val="7D8A99"/>
          </a:solidFill>
          <a:ln/>
        </p:spPr>
      </p:sp>
      <p:sp>
        <p:nvSpPr>
          <p:cNvPr id="29" name="Shape 27"/>
          <p:cNvSpPr/>
          <p:nvPr/>
        </p:nvSpPr>
        <p:spPr>
          <a:xfrm>
            <a:off x="581025" y="5000625"/>
            <a:ext cx="742950" cy="742950"/>
          </a:xfrm>
          <a:custGeom>
            <a:avLst/>
            <a:gdLst/>
            <a:ahLst/>
            <a:cxnLst/>
            <a:rect l="l" t="t" r="r" b="b"/>
            <a:pathLst>
              <a:path w="742950" h="742950">
                <a:moveTo>
                  <a:pt x="371475" y="0"/>
                </a:moveTo>
                <a:lnTo>
                  <a:pt x="371475" y="0"/>
                </a:lnTo>
                <a:cubicBezTo>
                  <a:pt x="576498" y="0"/>
                  <a:pt x="742950" y="166452"/>
                  <a:pt x="742950" y="371475"/>
                </a:cubicBezTo>
                <a:lnTo>
                  <a:pt x="742950" y="371475"/>
                </a:lnTo>
                <a:cubicBezTo>
                  <a:pt x="742950" y="576498"/>
                  <a:pt x="576498" y="742950"/>
                  <a:pt x="371475" y="742950"/>
                </a:cubicBezTo>
                <a:lnTo>
                  <a:pt x="371475" y="742950"/>
                </a:lnTo>
                <a:cubicBezTo>
                  <a:pt x="166452" y="742950"/>
                  <a:pt x="0" y="576498"/>
                  <a:pt x="0" y="371475"/>
                </a:cubicBezTo>
                <a:lnTo>
                  <a:pt x="0" y="371475"/>
                </a:lnTo>
                <a:cubicBezTo>
                  <a:pt x="0" y="166452"/>
                  <a:pt x="166452" y="0"/>
                  <a:pt x="371475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25400">
            <a:solidFill>
              <a:srgbClr val="4A6C8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2006" y="52292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53578" y="0"/>
                </a:moveTo>
                <a:cubicBezTo>
                  <a:pt x="63457" y="0"/>
                  <a:pt x="71438" y="7981"/>
                  <a:pt x="71438" y="17859"/>
                </a:cubicBezTo>
                <a:lnTo>
                  <a:pt x="71438" y="35719"/>
                </a:lnTo>
                <a:lnTo>
                  <a:pt x="267891" y="35719"/>
                </a:lnTo>
                <a:cubicBezTo>
                  <a:pt x="277769" y="35719"/>
                  <a:pt x="285750" y="43700"/>
                  <a:pt x="285750" y="53578"/>
                </a:cubicBezTo>
                <a:cubicBezTo>
                  <a:pt x="285750" y="63457"/>
                  <a:pt x="277769" y="71438"/>
                  <a:pt x="267891" y="71438"/>
                </a:cubicBezTo>
                <a:lnTo>
                  <a:pt x="71438" y="71438"/>
                </a:lnTo>
                <a:lnTo>
                  <a:pt x="71438" y="267891"/>
                </a:lnTo>
                <a:cubicBezTo>
                  <a:pt x="71438" y="277769"/>
                  <a:pt x="63457" y="285750"/>
                  <a:pt x="53578" y="285750"/>
                </a:cubicBezTo>
                <a:cubicBezTo>
                  <a:pt x="43700" y="285750"/>
                  <a:pt x="35719" y="277769"/>
                  <a:pt x="35719" y="267891"/>
                </a:cubicBezTo>
                <a:lnTo>
                  <a:pt x="35719" y="71438"/>
                </a:lnTo>
                <a:lnTo>
                  <a:pt x="17859" y="71438"/>
                </a:lnTo>
                <a:cubicBezTo>
                  <a:pt x="7981" y="71438"/>
                  <a:pt x="0" y="63457"/>
                  <a:pt x="0" y="53578"/>
                </a:cubicBezTo>
                <a:cubicBezTo>
                  <a:pt x="0" y="43700"/>
                  <a:pt x="7981" y="35719"/>
                  <a:pt x="17859" y="35719"/>
                </a:cubicBezTo>
                <a:lnTo>
                  <a:pt x="35719" y="35719"/>
                </a:lnTo>
                <a:lnTo>
                  <a:pt x="35719" y="17859"/>
                </a:lnTo>
                <a:cubicBezTo>
                  <a:pt x="35719" y="7981"/>
                  <a:pt x="43700" y="0"/>
                  <a:pt x="53578" y="0"/>
                </a:cubicBezTo>
                <a:close/>
                <a:moveTo>
                  <a:pt x="116086" y="98227"/>
                </a:moveTo>
                <a:lnTo>
                  <a:pt x="250031" y="98227"/>
                </a:lnTo>
                <a:cubicBezTo>
                  <a:pt x="259910" y="98227"/>
                  <a:pt x="267891" y="106207"/>
                  <a:pt x="267891" y="116086"/>
                </a:cubicBezTo>
                <a:lnTo>
                  <a:pt x="267891" y="196453"/>
                </a:lnTo>
                <a:cubicBezTo>
                  <a:pt x="267891" y="206332"/>
                  <a:pt x="259910" y="214313"/>
                  <a:pt x="250031" y="214313"/>
                </a:cubicBezTo>
                <a:lnTo>
                  <a:pt x="116086" y="214313"/>
                </a:lnTo>
                <a:cubicBezTo>
                  <a:pt x="106207" y="214313"/>
                  <a:pt x="98227" y="206332"/>
                  <a:pt x="98227" y="196453"/>
                </a:cubicBezTo>
                <a:lnTo>
                  <a:pt x="98227" y="116086"/>
                </a:lnTo>
                <a:cubicBezTo>
                  <a:pt x="98227" y="106207"/>
                  <a:pt x="106207" y="98227"/>
                  <a:pt x="116086" y="98227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1" name="Text 29"/>
          <p:cNvSpPr/>
          <p:nvPr/>
        </p:nvSpPr>
        <p:spPr>
          <a:xfrm>
            <a:off x="1485900" y="4800600"/>
            <a:ext cx="1028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Road Signs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485900" y="5295900"/>
            <a:ext cx="508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assumed: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485900" y="5562600"/>
            <a:ext cx="509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Signs reduce accidents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686550" y="54197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93204" y="93204"/>
                </a:moveTo>
                <a:cubicBezTo>
                  <a:pt x="98450" y="87957"/>
                  <a:pt x="106933" y="87957"/>
                  <a:pt x="112123" y="93204"/>
                </a:cubicBezTo>
                <a:lnTo>
                  <a:pt x="142819" y="123899"/>
                </a:lnTo>
                <a:lnTo>
                  <a:pt x="173515" y="93204"/>
                </a:lnTo>
                <a:cubicBezTo>
                  <a:pt x="178761" y="87957"/>
                  <a:pt x="187244" y="87957"/>
                  <a:pt x="192435" y="93204"/>
                </a:cubicBezTo>
                <a:cubicBezTo>
                  <a:pt x="197625" y="98450"/>
                  <a:pt x="197681" y="106933"/>
                  <a:pt x="192435" y="112123"/>
                </a:cubicBezTo>
                <a:lnTo>
                  <a:pt x="161739" y="142819"/>
                </a:lnTo>
                <a:lnTo>
                  <a:pt x="192435" y="173515"/>
                </a:lnTo>
                <a:cubicBezTo>
                  <a:pt x="197681" y="178761"/>
                  <a:pt x="197681" y="187244"/>
                  <a:pt x="192435" y="192435"/>
                </a:cubicBezTo>
                <a:cubicBezTo>
                  <a:pt x="187189" y="197625"/>
                  <a:pt x="178705" y="197681"/>
                  <a:pt x="173515" y="192435"/>
                </a:cubicBezTo>
                <a:lnTo>
                  <a:pt x="142819" y="161739"/>
                </a:lnTo>
                <a:lnTo>
                  <a:pt x="112123" y="192435"/>
                </a:lnTo>
                <a:cubicBezTo>
                  <a:pt x="106877" y="197681"/>
                  <a:pt x="98394" y="197681"/>
                  <a:pt x="93204" y="192435"/>
                </a:cubicBezTo>
                <a:cubicBezTo>
                  <a:pt x="88013" y="187189"/>
                  <a:pt x="87957" y="178705"/>
                  <a:pt x="93204" y="173515"/>
                </a:cubicBezTo>
                <a:lnTo>
                  <a:pt x="123899" y="142819"/>
                </a:lnTo>
                <a:lnTo>
                  <a:pt x="93204" y="112123"/>
                </a:lnTo>
                <a:cubicBezTo>
                  <a:pt x="87957" y="106877"/>
                  <a:pt x="87957" y="98394"/>
                  <a:pt x="93204" y="93204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5" name="Text 33"/>
          <p:cNvSpPr/>
          <p:nvPr/>
        </p:nvSpPr>
        <p:spPr>
          <a:xfrm>
            <a:off x="7119938" y="5181600"/>
            <a:ext cx="171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Reality: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119938" y="5448300"/>
            <a:ext cx="1733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protective effect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119938" y="5715000"/>
            <a:ext cx="171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(0.2% difference)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571726" y="6172200"/>
            <a:ext cx="5067300" cy="495300"/>
          </a:xfrm>
          <a:custGeom>
            <a:avLst/>
            <a:gdLst/>
            <a:ahLst/>
            <a:cxnLst/>
            <a:rect l="l" t="t" r="r" b="b"/>
            <a:pathLst>
              <a:path w="5067300" h="495300">
                <a:moveTo>
                  <a:pt x="0" y="0"/>
                </a:moveTo>
                <a:lnTo>
                  <a:pt x="5067300" y="0"/>
                </a:lnTo>
                <a:lnTo>
                  <a:pt x="5067300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571726" y="6172200"/>
            <a:ext cx="38100" cy="495300"/>
          </a:xfrm>
          <a:custGeom>
            <a:avLst/>
            <a:gdLst/>
            <a:ahLst/>
            <a:cxnLst/>
            <a:rect l="l" t="t" r="r" b="b"/>
            <a:pathLst>
              <a:path w="38100" h="495300">
                <a:moveTo>
                  <a:pt x="0" y="0"/>
                </a:moveTo>
                <a:lnTo>
                  <a:pt x="38100" y="0"/>
                </a:lnTo>
                <a:lnTo>
                  <a:pt x="38100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40" name="Text 38"/>
          <p:cNvSpPr/>
          <p:nvPr/>
        </p:nvSpPr>
        <p:spPr>
          <a:xfrm>
            <a:off x="3924151" y="6286500"/>
            <a:ext cx="4381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4E9A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Stop wasting resources</a:t>
            </a:r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0E2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on ineffective interventions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Phase 1: 6-Month Quick Wins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9525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E9A8C"/>
          </a:solidFill>
          <a:ln/>
        </p:spPr>
      </p:sp>
      <p:sp>
        <p:nvSpPr>
          <p:cNvPr id="4" name="Shape 2"/>
          <p:cNvSpPr/>
          <p:nvPr/>
        </p:nvSpPr>
        <p:spPr>
          <a:xfrm>
            <a:off x="390525" y="1581150"/>
            <a:ext cx="1819275" cy="552450"/>
          </a:xfrm>
          <a:custGeom>
            <a:avLst/>
            <a:gdLst/>
            <a:ahLst/>
            <a:cxnLst/>
            <a:rect l="l" t="t" r="r" b="b"/>
            <a:pathLst>
              <a:path w="1819275" h="552450">
                <a:moveTo>
                  <a:pt x="0" y="0"/>
                </a:moveTo>
                <a:lnTo>
                  <a:pt x="1819275" y="0"/>
                </a:lnTo>
                <a:lnTo>
                  <a:pt x="1819275" y="552450"/>
                </a:lnTo>
                <a:lnTo>
                  <a:pt x="0" y="552450"/>
                </a:lnTo>
                <a:lnTo>
                  <a:pt x="0" y="0"/>
                </a:lnTo>
                <a:close/>
              </a:path>
            </a:pathLst>
          </a:custGeom>
          <a:solidFill>
            <a:srgbClr val="4E9A8C">
              <a:alpha val="20000"/>
            </a:srgbClr>
          </a:solidFill>
          <a:ln w="25400">
            <a:solidFill>
              <a:srgbClr val="4E9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04975"/>
            <a:ext cx="1685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E9A8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Month 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308175" y="1581150"/>
            <a:ext cx="1819275" cy="552450"/>
          </a:xfrm>
          <a:custGeom>
            <a:avLst/>
            <a:gdLst/>
            <a:ahLst/>
            <a:cxnLst/>
            <a:rect l="l" t="t" r="r" b="b"/>
            <a:pathLst>
              <a:path w="1819275" h="552450">
                <a:moveTo>
                  <a:pt x="0" y="0"/>
                </a:moveTo>
                <a:lnTo>
                  <a:pt x="1819275" y="0"/>
                </a:lnTo>
                <a:lnTo>
                  <a:pt x="1819275" y="552450"/>
                </a:lnTo>
                <a:lnTo>
                  <a:pt x="0" y="552450"/>
                </a:lnTo>
                <a:lnTo>
                  <a:pt x="0" y="0"/>
                </a:lnTo>
                <a:close/>
              </a:path>
            </a:pathLst>
          </a:custGeom>
          <a:solidFill>
            <a:srgbClr val="4E9A8C">
              <a:alpha val="20000"/>
            </a:srgbClr>
          </a:solidFill>
          <a:ln w="25400">
            <a:solidFill>
              <a:srgbClr val="4E9A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4850" y="1704975"/>
            <a:ext cx="1685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E9A8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Month 2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25826" y="1581150"/>
            <a:ext cx="1819275" cy="552450"/>
          </a:xfrm>
          <a:custGeom>
            <a:avLst/>
            <a:gdLst/>
            <a:ahLst/>
            <a:cxnLst/>
            <a:rect l="l" t="t" r="r" b="b"/>
            <a:pathLst>
              <a:path w="1819275" h="552450">
                <a:moveTo>
                  <a:pt x="0" y="0"/>
                </a:moveTo>
                <a:lnTo>
                  <a:pt x="1819275" y="0"/>
                </a:lnTo>
                <a:lnTo>
                  <a:pt x="1819275" y="552450"/>
                </a:lnTo>
                <a:lnTo>
                  <a:pt x="0" y="552450"/>
                </a:lnTo>
                <a:lnTo>
                  <a:pt x="0" y="0"/>
                </a:lnTo>
                <a:close/>
              </a:path>
            </a:pathLst>
          </a:custGeom>
          <a:solidFill>
            <a:srgbClr val="4E9A8C">
              <a:alpha val="20000"/>
            </a:srgbClr>
          </a:solidFill>
          <a:ln w="25400">
            <a:solidFill>
              <a:srgbClr val="4E9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2501" y="1704975"/>
            <a:ext cx="1685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E9A8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Month 3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43476" y="1581150"/>
            <a:ext cx="1819275" cy="552450"/>
          </a:xfrm>
          <a:custGeom>
            <a:avLst/>
            <a:gdLst/>
            <a:ahLst/>
            <a:cxnLst/>
            <a:rect l="l" t="t" r="r" b="b"/>
            <a:pathLst>
              <a:path w="1819275" h="552450">
                <a:moveTo>
                  <a:pt x="0" y="0"/>
                </a:moveTo>
                <a:lnTo>
                  <a:pt x="1819275" y="0"/>
                </a:lnTo>
                <a:lnTo>
                  <a:pt x="1819275" y="552450"/>
                </a:lnTo>
                <a:lnTo>
                  <a:pt x="0" y="552450"/>
                </a:lnTo>
                <a:lnTo>
                  <a:pt x="0" y="0"/>
                </a:lnTo>
                <a:close/>
              </a:path>
            </a:pathLst>
          </a:custGeom>
          <a:solidFill>
            <a:srgbClr val="4E9A8C">
              <a:alpha val="20000"/>
            </a:srgbClr>
          </a:solidFill>
          <a:ln w="25400">
            <a:solidFill>
              <a:srgbClr val="4E9A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0151" y="1704975"/>
            <a:ext cx="1685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E9A8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Month 4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61275" y="1581150"/>
            <a:ext cx="1819275" cy="552450"/>
          </a:xfrm>
          <a:custGeom>
            <a:avLst/>
            <a:gdLst/>
            <a:ahLst/>
            <a:cxnLst/>
            <a:rect l="l" t="t" r="r" b="b"/>
            <a:pathLst>
              <a:path w="1819275" h="552450">
                <a:moveTo>
                  <a:pt x="0" y="0"/>
                </a:moveTo>
                <a:lnTo>
                  <a:pt x="1819275" y="0"/>
                </a:lnTo>
                <a:lnTo>
                  <a:pt x="1819275" y="552450"/>
                </a:lnTo>
                <a:lnTo>
                  <a:pt x="0" y="552450"/>
                </a:lnTo>
                <a:lnTo>
                  <a:pt x="0" y="0"/>
                </a:lnTo>
                <a:close/>
              </a:path>
            </a:pathLst>
          </a:custGeom>
          <a:solidFill>
            <a:srgbClr val="4E9A8C">
              <a:alpha val="20000"/>
            </a:srgbClr>
          </a:solidFill>
          <a:ln w="25400">
            <a:solidFill>
              <a:srgbClr val="4E9A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27950" y="1704975"/>
            <a:ext cx="1685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E9A8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Month 5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978926" y="1581150"/>
            <a:ext cx="1819275" cy="552450"/>
          </a:xfrm>
          <a:custGeom>
            <a:avLst/>
            <a:gdLst/>
            <a:ahLst/>
            <a:cxnLst/>
            <a:rect l="l" t="t" r="r" b="b"/>
            <a:pathLst>
              <a:path w="1819275" h="552450">
                <a:moveTo>
                  <a:pt x="0" y="0"/>
                </a:moveTo>
                <a:lnTo>
                  <a:pt x="1819275" y="0"/>
                </a:lnTo>
                <a:lnTo>
                  <a:pt x="1819275" y="552450"/>
                </a:lnTo>
                <a:lnTo>
                  <a:pt x="0" y="552450"/>
                </a:lnTo>
                <a:lnTo>
                  <a:pt x="0" y="0"/>
                </a:lnTo>
                <a:close/>
              </a:path>
            </a:pathLst>
          </a:custGeom>
          <a:solidFill>
            <a:srgbClr val="4E9A8C">
              <a:alpha val="20000"/>
            </a:srgbClr>
          </a:solidFill>
          <a:ln w="25400">
            <a:solidFill>
              <a:srgbClr val="4E9A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45601" y="1704975"/>
            <a:ext cx="1685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E9A8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Month 6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2295525"/>
            <a:ext cx="11410950" cy="914400"/>
          </a:xfrm>
          <a:custGeom>
            <a:avLst/>
            <a:gdLst/>
            <a:ahLst/>
            <a:cxnLst/>
            <a:rect l="l" t="t" r="r" b="b"/>
            <a:pathLst>
              <a:path w="11410950" h="914400">
                <a:moveTo>
                  <a:pt x="0" y="0"/>
                </a:moveTo>
                <a:lnTo>
                  <a:pt x="11410950" y="0"/>
                </a:lnTo>
                <a:lnTo>
                  <a:pt x="1141095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4E9A8C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00050" y="2295525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4E9A8C"/>
          </a:solidFill>
          <a:ln/>
        </p:spPr>
      </p:sp>
      <p:sp>
        <p:nvSpPr>
          <p:cNvPr id="18" name="Shape 16"/>
          <p:cNvSpPr/>
          <p:nvPr/>
        </p:nvSpPr>
        <p:spPr>
          <a:xfrm>
            <a:off x="591741" y="2609850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25071" y="54192"/>
                </a:moveTo>
                <a:lnTo>
                  <a:pt x="125071" y="81874"/>
                </a:lnTo>
                <a:lnTo>
                  <a:pt x="125350" y="82153"/>
                </a:lnTo>
                <a:cubicBezTo>
                  <a:pt x="128978" y="36165"/>
                  <a:pt x="167432" y="0"/>
                  <a:pt x="214368" y="0"/>
                </a:cubicBezTo>
                <a:cubicBezTo>
                  <a:pt x="225586" y="0"/>
                  <a:pt x="236358" y="2065"/>
                  <a:pt x="246236" y="5860"/>
                </a:cubicBezTo>
                <a:cubicBezTo>
                  <a:pt x="251817" y="7981"/>
                  <a:pt x="252822" y="15069"/>
                  <a:pt x="248636" y="19310"/>
                </a:cubicBezTo>
                <a:lnTo>
                  <a:pt x="199132" y="68814"/>
                </a:lnTo>
                <a:cubicBezTo>
                  <a:pt x="197458" y="70489"/>
                  <a:pt x="196509" y="72777"/>
                  <a:pt x="196509" y="75121"/>
                </a:cubicBezTo>
                <a:lnTo>
                  <a:pt x="196509" y="98227"/>
                </a:lnTo>
                <a:cubicBezTo>
                  <a:pt x="196509" y="103138"/>
                  <a:pt x="200527" y="107156"/>
                  <a:pt x="205439" y="107156"/>
                </a:cubicBezTo>
                <a:lnTo>
                  <a:pt x="228544" y="107156"/>
                </a:lnTo>
                <a:cubicBezTo>
                  <a:pt x="230888" y="107156"/>
                  <a:pt x="233176" y="106207"/>
                  <a:pt x="234851" y="104533"/>
                </a:cubicBezTo>
                <a:lnTo>
                  <a:pt x="284355" y="55029"/>
                </a:lnTo>
                <a:cubicBezTo>
                  <a:pt x="288596" y="50788"/>
                  <a:pt x="295684" y="51848"/>
                  <a:pt x="297805" y="57429"/>
                </a:cubicBezTo>
                <a:cubicBezTo>
                  <a:pt x="301600" y="67308"/>
                  <a:pt x="303665" y="78079"/>
                  <a:pt x="303665" y="89297"/>
                </a:cubicBezTo>
                <a:cubicBezTo>
                  <a:pt x="303665" y="123118"/>
                  <a:pt x="284857" y="152586"/>
                  <a:pt x="257063" y="167711"/>
                </a:cubicBezTo>
                <a:lnTo>
                  <a:pt x="302549" y="213196"/>
                </a:lnTo>
                <a:cubicBezTo>
                  <a:pt x="312986" y="223633"/>
                  <a:pt x="312986" y="240599"/>
                  <a:pt x="302549" y="251092"/>
                </a:cubicBezTo>
                <a:lnTo>
                  <a:pt x="269007" y="284634"/>
                </a:lnTo>
                <a:cubicBezTo>
                  <a:pt x="258570" y="295070"/>
                  <a:pt x="241604" y="295070"/>
                  <a:pt x="231111" y="284634"/>
                </a:cubicBezTo>
                <a:lnTo>
                  <a:pt x="160790" y="214313"/>
                </a:lnTo>
                <a:cubicBezTo>
                  <a:pt x="145498" y="199020"/>
                  <a:pt x="142038" y="176417"/>
                  <a:pt x="150465" y="157776"/>
                </a:cubicBezTo>
                <a:lnTo>
                  <a:pt x="99845" y="107156"/>
                </a:lnTo>
                <a:lnTo>
                  <a:pt x="72163" y="107156"/>
                </a:lnTo>
                <a:cubicBezTo>
                  <a:pt x="66191" y="107156"/>
                  <a:pt x="60610" y="104198"/>
                  <a:pt x="57317" y="99231"/>
                </a:cubicBezTo>
                <a:lnTo>
                  <a:pt x="13060" y="32872"/>
                </a:lnTo>
                <a:cubicBezTo>
                  <a:pt x="10716" y="29356"/>
                  <a:pt x="11162" y="24612"/>
                  <a:pt x="14176" y="21599"/>
                </a:cubicBezTo>
                <a:lnTo>
                  <a:pt x="39514" y="-3739"/>
                </a:lnTo>
                <a:cubicBezTo>
                  <a:pt x="42528" y="-6753"/>
                  <a:pt x="47216" y="-7200"/>
                  <a:pt x="50788" y="-4856"/>
                </a:cubicBezTo>
                <a:lnTo>
                  <a:pt x="117146" y="39346"/>
                </a:lnTo>
                <a:cubicBezTo>
                  <a:pt x="122113" y="42639"/>
                  <a:pt x="125071" y="48220"/>
                  <a:pt x="125071" y="54192"/>
                </a:cubicBezTo>
                <a:close/>
                <a:moveTo>
                  <a:pt x="120328" y="165534"/>
                </a:moveTo>
                <a:cubicBezTo>
                  <a:pt x="116811" y="186184"/>
                  <a:pt x="121667" y="208006"/>
                  <a:pt x="135062" y="225475"/>
                </a:cubicBezTo>
                <a:lnTo>
                  <a:pt x="82042" y="278439"/>
                </a:lnTo>
                <a:cubicBezTo>
                  <a:pt x="66359" y="294122"/>
                  <a:pt x="40909" y="294122"/>
                  <a:pt x="25226" y="278439"/>
                </a:cubicBezTo>
                <a:cubicBezTo>
                  <a:pt x="9544" y="262756"/>
                  <a:pt x="9544" y="237306"/>
                  <a:pt x="25226" y="221624"/>
                </a:cubicBezTo>
                <a:lnTo>
                  <a:pt x="100794" y="146056"/>
                </a:lnTo>
                <a:lnTo>
                  <a:pt x="120328" y="165590"/>
                </a:lnTo>
                <a:close/>
              </a:path>
            </a:pathLst>
          </a:custGeom>
          <a:solidFill>
            <a:srgbClr val="4E9A8C"/>
          </a:solidFill>
          <a:ln/>
        </p:spPr>
      </p:sp>
      <p:sp>
        <p:nvSpPr>
          <p:cNvPr id="19" name="Text 17"/>
          <p:cNvSpPr/>
          <p:nvPr/>
        </p:nvSpPr>
        <p:spPr>
          <a:xfrm>
            <a:off x="1081088" y="2447925"/>
            <a:ext cx="106965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Procurement &amp; Planning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81088" y="2790825"/>
            <a:ext cx="10668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 1-2 • </a:t>
            </a:r>
            <a:pPr>
              <a:lnSpc>
                <a:spcPct val="130000"/>
              </a:lnSpc>
            </a:pPr>
            <a:r>
              <a:rPr lang="en-US" sz="1350" b="1" dirty="0">
                <a:solidFill>
                  <a:srgbClr val="4E9A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Milestone:</a:t>
            </a:r>
            <a:pPr>
              <a:lnSpc>
                <a:spcPct val="130000"/>
              </a:lnSpc>
            </a:pPr>
            <a:r>
              <a:rPr lang="en-US" sz="1350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Contractor selection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00050" y="3324225"/>
            <a:ext cx="11410950" cy="914400"/>
          </a:xfrm>
          <a:custGeom>
            <a:avLst/>
            <a:gdLst/>
            <a:ahLst/>
            <a:cxnLst/>
            <a:rect l="l" t="t" r="r" b="b"/>
            <a:pathLst>
              <a:path w="11410950" h="914400">
                <a:moveTo>
                  <a:pt x="0" y="0"/>
                </a:moveTo>
                <a:lnTo>
                  <a:pt x="11410950" y="0"/>
                </a:lnTo>
                <a:lnTo>
                  <a:pt x="1141095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00050" y="3324225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3" name="Shape 21"/>
          <p:cNvSpPr/>
          <p:nvPr/>
        </p:nvSpPr>
        <p:spPr>
          <a:xfrm>
            <a:off x="609600" y="36385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55420" y="142931"/>
                </a:moveTo>
                <a:lnTo>
                  <a:pt x="94152" y="76014"/>
                </a:lnTo>
                <a:cubicBezTo>
                  <a:pt x="91027" y="69205"/>
                  <a:pt x="89241" y="61615"/>
                  <a:pt x="89241" y="53578"/>
                </a:cubicBezTo>
                <a:cubicBezTo>
                  <a:pt x="89241" y="23999"/>
                  <a:pt x="113240" y="0"/>
                  <a:pt x="142819" y="0"/>
                </a:cubicBezTo>
                <a:cubicBezTo>
                  <a:pt x="172399" y="0"/>
                  <a:pt x="196397" y="23999"/>
                  <a:pt x="196397" y="53578"/>
                </a:cubicBezTo>
                <a:cubicBezTo>
                  <a:pt x="196397" y="61559"/>
                  <a:pt x="194667" y="69149"/>
                  <a:pt x="191486" y="76014"/>
                </a:cubicBezTo>
                <a:lnTo>
                  <a:pt x="216266" y="118821"/>
                </a:lnTo>
                <a:cubicBezTo>
                  <a:pt x="203374" y="133331"/>
                  <a:pt x="186296" y="143991"/>
                  <a:pt x="166929" y="148847"/>
                </a:cubicBezTo>
                <a:lnTo>
                  <a:pt x="142875" y="107100"/>
                </a:lnTo>
                <a:lnTo>
                  <a:pt x="104868" y="172734"/>
                </a:lnTo>
                <a:cubicBezTo>
                  <a:pt x="116867" y="176529"/>
                  <a:pt x="129592" y="178594"/>
                  <a:pt x="142875" y="178594"/>
                </a:cubicBezTo>
                <a:cubicBezTo>
                  <a:pt x="182333" y="178594"/>
                  <a:pt x="217550" y="160344"/>
                  <a:pt x="240488" y="131713"/>
                </a:cubicBezTo>
                <a:cubicBezTo>
                  <a:pt x="246683" y="124011"/>
                  <a:pt x="257901" y="122783"/>
                  <a:pt x="265602" y="128922"/>
                </a:cubicBezTo>
                <a:cubicBezTo>
                  <a:pt x="273304" y="135062"/>
                  <a:pt x="274532" y="146335"/>
                  <a:pt x="268393" y="154037"/>
                </a:cubicBezTo>
                <a:cubicBezTo>
                  <a:pt x="238981" y="190760"/>
                  <a:pt x="193663" y="214313"/>
                  <a:pt x="142931" y="214313"/>
                </a:cubicBezTo>
                <a:cubicBezTo>
                  <a:pt x="123174" y="214313"/>
                  <a:pt x="104198" y="210741"/>
                  <a:pt x="86730" y="204211"/>
                </a:cubicBezTo>
                <a:lnTo>
                  <a:pt x="55085" y="258794"/>
                </a:lnTo>
                <a:cubicBezTo>
                  <a:pt x="52462" y="263314"/>
                  <a:pt x="48555" y="266998"/>
                  <a:pt x="43867" y="269342"/>
                </a:cubicBezTo>
                <a:lnTo>
                  <a:pt x="12948" y="284801"/>
                </a:lnTo>
                <a:cubicBezTo>
                  <a:pt x="10158" y="286196"/>
                  <a:pt x="6865" y="286029"/>
                  <a:pt x="4242" y="284411"/>
                </a:cubicBezTo>
                <a:cubicBezTo>
                  <a:pt x="1619" y="282792"/>
                  <a:pt x="0" y="279890"/>
                  <a:pt x="0" y="276820"/>
                </a:cubicBezTo>
                <a:lnTo>
                  <a:pt x="0" y="245901"/>
                </a:lnTo>
                <a:cubicBezTo>
                  <a:pt x="0" y="241213"/>
                  <a:pt x="1228" y="236581"/>
                  <a:pt x="3628" y="232451"/>
                </a:cubicBezTo>
                <a:lnTo>
                  <a:pt x="37114" y="174575"/>
                </a:lnTo>
                <a:cubicBezTo>
                  <a:pt x="29970" y="168325"/>
                  <a:pt x="23385" y="161460"/>
                  <a:pt x="17413" y="154037"/>
                </a:cubicBezTo>
                <a:cubicBezTo>
                  <a:pt x="11218" y="146335"/>
                  <a:pt x="12502" y="135117"/>
                  <a:pt x="20203" y="128922"/>
                </a:cubicBezTo>
                <a:cubicBezTo>
                  <a:pt x="27905" y="122727"/>
                  <a:pt x="39123" y="124011"/>
                  <a:pt x="45318" y="131713"/>
                </a:cubicBezTo>
                <a:cubicBezTo>
                  <a:pt x="48499" y="135675"/>
                  <a:pt x="51904" y="139415"/>
                  <a:pt x="55476" y="142931"/>
                </a:cubicBezTo>
                <a:close/>
                <a:moveTo>
                  <a:pt x="212694" y="227651"/>
                </a:moveTo>
                <a:cubicBezTo>
                  <a:pt x="230832" y="220396"/>
                  <a:pt x="247520" y="210350"/>
                  <a:pt x="262310" y="198127"/>
                </a:cubicBezTo>
                <a:lnTo>
                  <a:pt x="282178" y="232451"/>
                </a:lnTo>
                <a:cubicBezTo>
                  <a:pt x="284522" y="236525"/>
                  <a:pt x="285806" y="241157"/>
                  <a:pt x="285806" y="245901"/>
                </a:cubicBezTo>
                <a:lnTo>
                  <a:pt x="285806" y="276820"/>
                </a:lnTo>
                <a:cubicBezTo>
                  <a:pt x="285806" y="279890"/>
                  <a:pt x="284187" y="282792"/>
                  <a:pt x="281564" y="284411"/>
                </a:cubicBezTo>
                <a:cubicBezTo>
                  <a:pt x="278941" y="286029"/>
                  <a:pt x="275648" y="286196"/>
                  <a:pt x="272858" y="284801"/>
                </a:cubicBezTo>
                <a:lnTo>
                  <a:pt x="241939" y="269342"/>
                </a:lnTo>
                <a:cubicBezTo>
                  <a:pt x="237251" y="266998"/>
                  <a:pt x="233344" y="263314"/>
                  <a:pt x="230721" y="258794"/>
                </a:cubicBezTo>
                <a:lnTo>
                  <a:pt x="212694" y="227651"/>
                </a:lnTo>
                <a:close/>
                <a:moveTo>
                  <a:pt x="142875" y="71438"/>
                </a:moveTo>
                <a:cubicBezTo>
                  <a:pt x="152732" y="71438"/>
                  <a:pt x="160734" y="63435"/>
                  <a:pt x="160734" y="53578"/>
                </a:cubicBezTo>
                <a:cubicBezTo>
                  <a:pt x="160734" y="43721"/>
                  <a:pt x="152732" y="35719"/>
                  <a:pt x="142875" y="35719"/>
                </a:cubicBezTo>
                <a:cubicBezTo>
                  <a:pt x="133018" y="35719"/>
                  <a:pt x="125016" y="43721"/>
                  <a:pt x="125016" y="53578"/>
                </a:cubicBezTo>
                <a:cubicBezTo>
                  <a:pt x="125016" y="63435"/>
                  <a:pt x="133018" y="71438"/>
                  <a:pt x="142875" y="71438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4" name="Text 22"/>
          <p:cNvSpPr/>
          <p:nvPr/>
        </p:nvSpPr>
        <p:spPr>
          <a:xfrm>
            <a:off x="1081088" y="3476625"/>
            <a:ext cx="106965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Engineering &amp; Permitting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81088" y="3819525"/>
            <a:ext cx="10668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 2-3 • </a:t>
            </a:r>
            <a:pPr>
              <a:lnSpc>
                <a:spcPct val="130000"/>
              </a:lnSpc>
            </a:pPr>
            <a:r>
              <a:rPr lang="en-US" sz="1350" b="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Milestone:</a:t>
            </a:r>
            <a:pPr>
              <a:lnSpc>
                <a:spcPct val="130000"/>
              </a:lnSpc>
            </a:pPr>
            <a:r>
              <a:rPr lang="en-US" sz="1350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Approvals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00050" y="4352925"/>
            <a:ext cx="11410950" cy="1695450"/>
          </a:xfrm>
          <a:custGeom>
            <a:avLst/>
            <a:gdLst/>
            <a:ahLst/>
            <a:cxnLst/>
            <a:rect l="l" t="t" r="r" b="b"/>
            <a:pathLst>
              <a:path w="11410950" h="1695450">
                <a:moveTo>
                  <a:pt x="0" y="0"/>
                </a:moveTo>
                <a:lnTo>
                  <a:pt x="11410950" y="0"/>
                </a:lnTo>
                <a:lnTo>
                  <a:pt x="11410950" y="1695450"/>
                </a:lnTo>
                <a:lnTo>
                  <a:pt x="0" y="169545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00050" y="4352925"/>
            <a:ext cx="38100" cy="1695450"/>
          </a:xfrm>
          <a:custGeom>
            <a:avLst/>
            <a:gdLst/>
            <a:ahLst/>
            <a:cxnLst/>
            <a:rect l="l" t="t" r="r" b="b"/>
            <a:pathLst>
              <a:path w="38100" h="1695450">
                <a:moveTo>
                  <a:pt x="0" y="0"/>
                </a:moveTo>
                <a:lnTo>
                  <a:pt x="38100" y="0"/>
                </a:lnTo>
                <a:lnTo>
                  <a:pt x="38100" y="1695450"/>
                </a:lnTo>
                <a:lnTo>
                  <a:pt x="0" y="169545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8" name="Shape 26"/>
          <p:cNvSpPr/>
          <p:nvPr/>
        </p:nvSpPr>
        <p:spPr>
          <a:xfrm>
            <a:off x="591741" y="505777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96453" y="147340"/>
                </a:moveTo>
                <a:lnTo>
                  <a:pt x="196453" y="35719"/>
                </a:lnTo>
                <a:cubicBezTo>
                  <a:pt x="196453" y="25840"/>
                  <a:pt x="188472" y="17859"/>
                  <a:pt x="178594" y="17859"/>
                </a:cubicBezTo>
                <a:lnTo>
                  <a:pt x="142875" y="17859"/>
                </a:lnTo>
                <a:cubicBezTo>
                  <a:pt x="132997" y="17859"/>
                  <a:pt x="125016" y="25840"/>
                  <a:pt x="125016" y="35719"/>
                </a:cubicBezTo>
                <a:lnTo>
                  <a:pt x="125016" y="147340"/>
                </a:lnTo>
                <a:cubicBezTo>
                  <a:pt x="125016" y="154763"/>
                  <a:pt x="119044" y="160734"/>
                  <a:pt x="111621" y="160734"/>
                </a:cubicBezTo>
                <a:cubicBezTo>
                  <a:pt x="104198" y="160734"/>
                  <a:pt x="98227" y="154763"/>
                  <a:pt x="98227" y="147340"/>
                </a:cubicBezTo>
                <a:lnTo>
                  <a:pt x="98227" y="43588"/>
                </a:lnTo>
                <a:cubicBezTo>
                  <a:pt x="50229" y="61280"/>
                  <a:pt x="17859" y="107045"/>
                  <a:pt x="17859" y="160734"/>
                </a:cubicBezTo>
                <a:lnTo>
                  <a:pt x="17859" y="196453"/>
                </a:lnTo>
                <a:lnTo>
                  <a:pt x="303609" y="196453"/>
                </a:lnTo>
                <a:lnTo>
                  <a:pt x="303609" y="160734"/>
                </a:lnTo>
                <a:cubicBezTo>
                  <a:pt x="303051" y="107603"/>
                  <a:pt x="271016" y="61559"/>
                  <a:pt x="223242" y="43644"/>
                </a:cubicBezTo>
                <a:lnTo>
                  <a:pt x="223242" y="147340"/>
                </a:lnTo>
                <a:cubicBezTo>
                  <a:pt x="223242" y="154763"/>
                  <a:pt x="217270" y="160734"/>
                  <a:pt x="209848" y="160734"/>
                </a:cubicBezTo>
                <a:cubicBezTo>
                  <a:pt x="202425" y="160734"/>
                  <a:pt x="196453" y="154763"/>
                  <a:pt x="196453" y="147340"/>
                </a:cubicBezTo>
                <a:close/>
                <a:moveTo>
                  <a:pt x="22324" y="223242"/>
                </a:moveTo>
                <a:cubicBezTo>
                  <a:pt x="9990" y="223242"/>
                  <a:pt x="0" y="233232"/>
                  <a:pt x="0" y="245566"/>
                </a:cubicBezTo>
                <a:cubicBezTo>
                  <a:pt x="0" y="257901"/>
                  <a:pt x="9990" y="267891"/>
                  <a:pt x="22324" y="267891"/>
                </a:cubicBezTo>
                <a:lnTo>
                  <a:pt x="299145" y="267891"/>
                </a:lnTo>
                <a:cubicBezTo>
                  <a:pt x="311479" y="267891"/>
                  <a:pt x="321469" y="257901"/>
                  <a:pt x="321469" y="245566"/>
                </a:cubicBezTo>
                <a:cubicBezTo>
                  <a:pt x="321469" y="233232"/>
                  <a:pt x="311479" y="223242"/>
                  <a:pt x="299145" y="223242"/>
                </a:cubicBezTo>
                <a:lnTo>
                  <a:pt x="22324" y="223242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9" name="Text 27"/>
          <p:cNvSpPr/>
          <p:nvPr/>
        </p:nvSpPr>
        <p:spPr>
          <a:xfrm>
            <a:off x="1081088" y="4505325"/>
            <a:ext cx="106965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Installation &amp; Deployment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81088" y="4886325"/>
            <a:ext cx="10668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 3-6 • Three Parallel Interventions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085850" y="5233988"/>
            <a:ext cx="3438525" cy="657225"/>
          </a:xfrm>
          <a:custGeom>
            <a:avLst/>
            <a:gdLst/>
            <a:ahLst/>
            <a:cxnLst/>
            <a:rect l="l" t="t" r="r" b="b"/>
            <a:pathLst>
              <a:path w="3438525" h="657225">
                <a:moveTo>
                  <a:pt x="0" y="0"/>
                </a:moveTo>
                <a:lnTo>
                  <a:pt x="3438525" y="0"/>
                </a:lnTo>
                <a:lnTo>
                  <a:pt x="3438525" y="657225"/>
                </a:lnTo>
                <a:lnTo>
                  <a:pt x="0" y="657225"/>
                </a:lnTo>
                <a:lnTo>
                  <a:pt x="0" y="0"/>
                </a:lnTo>
                <a:close/>
              </a:path>
            </a:pathLst>
          </a:custGeom>
          <a:solidFill>
            <a:srgbClr val="1A1D24">
              <a:alpha val="50196"/>
            </a:srgbClr>
          </a:solidFill>
          <a:ln w="12700">
            <a:solidFill>
              <a:srgbClr val="4E9A8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66813" y="5314950"/>
            <a:ext cx="335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E9A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Lighting Deployment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66813" y="5543550"/>
            <a:ext cx="3362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$2-3M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649688" y="5233988"/>
            <a:ext cx="3438525" cy="657225"/>
          </a:xfrm>
          <a:custGeom>
            <a:avLst/>
            <a:gdLst/>
            <a:ahLst/>
            <a:cxnLst/>
            <a:rect l="l" t="t" r="r" b="b"/>
            <a:pathLst>
              <a:path w="3438525" h="657225">
                <a:moveTo>
                  <a:pt x="0" y="0"/>
                </a:moveTo>
                <a:lnTo>
                  <a:pt x="3438525" y="0"/>
                </a:lnTo>
                <a:lnTo>
                  <a:pt x="3438525" y="657225"/>
                </a:lnTo>
                <a:lnTo>
                  <a:pt x="0" y="657225"/>
                </a:lnTo>
                <a:lnTo>
                  <a:pt x="0" y="0"/>
                </a:lnTo>
                <a:close/>
              </a:path>
            </a:pathLst>
          </a:custGeom>
          <a:solidFill>
            <a:srgbClr val="1A1D24">
              <a:alpha val="50196"/>
            </a:srgbClr>
          </a:solidFill>
          <a:ln w="12700">
            <a:solidFill>
              <a:srgbClr val="4A6C8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30651" y="5314950"/>
            <a:ext cx="335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Speed Management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730651" y="5543550"/>
            <a:ext cx="3362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$1.5-2M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213675" y="5233988"/>
            <a:ext cx="3438525" cy="657225"/>
          </a:xfrm>
          <a:custGeom>
            <a:avLst/>
            <a:gdLst/>
            <a:ahLst/>
            <a:cxnLst/>
            <a:rect l="l" t="t" r="r" b="b"/>
            <a:pathLst>
              <a:path w="3438525" h="657225">
                <a:moveTo>
                  <a:pt x="0" y="0"/>
                </a:moveTo>
                <a:lnTo>
                  <a:pt x="3438525" y="0"/>
                </a:lnTo>
                <a:lnTo>
                  <a:pt x="3438525" y="657225"/>
                </a:lnTo>
                <a:lnTo>
                  <a:pt x="0" y="657225"/>
                </a:lnTo>
                <a:lnTo>
                  <a:pt x="0" y="0"/>
                </a:lnTo>
                <a:close/>
              </a:path>
            </a:pathLst>
          </a:custGeom>
          <a:solidFill>
            <a:srgbClr val="1A1D24">
              <a:alpha val="50196"/>
            </a:srgbClr>
          </a:solidFill>
          <a:ln w="12700">
            <a:solidFill>
              <a:srgbClr val="7D8A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94638" y="5314950"/>
            <a:ext cx="335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Visibility Enhancement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294638" y="5543550"/>
            <a:ext cx="3362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$0.5-1M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Investment Pays Off in Months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9525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E9A8C"/>
          </a:solidFill>
          <a:ln/>
        </p:spPr>
      </p:sp>
      <p:sp>
        <p:nvSpPr>
          <p:cNvPr id="4" name="Shape 2"/>
          <p:cNvSpPr/>
          <p:nvPr/>
        </p:nvSpPr>
        <p:spPr>
          <a:xfrm>
            <a:off x="400050" y="1428750"/>
            <a:ext cx="3571875" cy="3429000"/>
          </a:xfrm>
          <a:custGeom>
            <a:avLst/>
            <a:gdLst/>
            <a:ahLst/>
            <a:cxnLst/>
            <a:rect l="l" t="t" r="r" b="b"/>
            <a:pathLst>
              <a:path w="3571875" h="3429000">
                <a:moveTo>
                  <a:pt x="0" y="0"/>
                </a:moveTo>
                <a:lnTo>
                  <a:pt x="3571875" y="0"/>
                </a:lnTo>
                <a:lnTo>
                  <a:pt x="3571875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solidFill>
            <a:srgbClr val="7D8A99">
              <a:alpha val="10196"/>
            </a:srgbClr>
          </a:solidFill>
          <a:ln w="50800">
            <a:solidFill>
              <a:srgbClr val="7D8A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05757" y="1752600"/>
            <a:ext cx="357188" cy="571500"/>
          </a:xfrm>
          <a:custGeom>
            <a:avLst/>
            <a:gdLst/>
            <a:ahLst/>
            <a:cxnLst/>
            <a:rect l="l" t="t" r="r" b="b"/>
            <a:pathLst>
              <a:path w="357188" h="571500">
                <a:moveTo>
                  <a:pt x="151805" y="26789"/>
                </a:moveTo>
                <a:cubicBezTo>
                  <a:pt x="151805" y="11943"/>
                  <a:pt x="163748" y="0"/>
                  <a:pt x="178594" y="0"/>
                </a:cubicBezTo>
                <a:cubicBezTo>
                  <a:pt x="193439" y="0"/>
                  <a:pt x="205383" y="11943"/>
                  <a:pt x="205383" y="26789"/>
                </a:cubicBezTo>
                <a:lnTo>
                  <a:pt x="205383" y="71438"/>
                </a:lnTo>
                <a:lnTo>
                  <a:pt x="267891" y="71438"/>
                </a:lnTo>
                <a:cubicBezTo>
                  <a:pt x="287648" y="71438"/>
                  <a:pt x="303609" y="87399"/>
                  <a:pt x="303609" y="107156"/>
                </a:cubicBezTo>
                <a:cubicBezTo>
                  <a:pt x="303609" y="126913"/>
                  <a:pt x="287648" y="142875"/>
                  <a:pt x="267891" y="142875"/>
                </a:cubicBezTo>
                <a:lnTo>
                  <a:pt x="139638" y="142875"/>
                </a:lnTo>
                <a:cubicBezTo>
                  <a:pt x="111844" y="142875"/>
                  <a:pt x="89297" y="165422"/>
                  <a:pt x="89297" y="193216"/>
                </a:cubicBezTo>
                <a:cubicBezTo>
                  <a:pt x="89297" y="218331"/>
                  <a:pt x="107714" y="239539"/>
                  <a:pt x="132494" y="243111"/>
                </a:cubicBezTo>
                <a:lnTo>
                  <a:pt x="234739" y="257733"/>
                </a:lnTo>
                <a:cubicBezTo>
                  <a:pt x="294791" y="266328"/>
                  <a:pt x="339328" y="317674"/>
                  <a:pt x="339328" y="378284"/>
                </a:cubicBezTo>
                <a:cubicBezTo>
                  <a:pt x="339328" y="445591"/>
                  <a:pt x="284745" y="500063"/>
                  <a:pt x="217550" y="500063"/>
                </a:cubicBezTo>
                <a:lnTo>
                  <a:pt x="205383" y="500063"/>
                </a:lnTo>
                <a:lnTo>
                  <a:pt x="205383" y="544711"/>
                </a:lnTo>
                <a:cubicBezTo>
                  <a:pt x="205383" y="559557"/>
                  <a:pt x="193439" y="571500"/>
                  <a:pt x="178594" y="571500"/>
                </a:cubicBezTo>
                <a:cubicBezTo>
                  <a:pt x="163748" y="571500"/>
                  <a:pt x="151805" y="559557"/>
                  <a:pt x="151805" y="544711"/>
                </a:cubicBezTo>
                <a:lnTo>
                  <a:pt x="151805" y="500063"/>
                </a:lnTo>
                <a:lnTo>
                  <a:pt x="71438" y="500063"/>
                </a:lnTo>
                <a:cubicBezTo>
                  <a:pt x="51681" y="500063"/>
                  <a:pt x="35719" y="484101"/>
                  <a:pt x="35719" y="464344"/>
                </a:cubicBezTo>
                <a:cubicBezTo>
                  <a:pt x="35719" y="444587"/>
                  <a:pt x="51681" y="428625"/>
                  <a:pt x="71438" y="428625"/>
                </a:cubicBezTo>
                <a:lnTo>
                  <a:pt x="217550" y="428625"/>
                </a:lnTo>
                <a:cubicBezTo>
                  <a:pt x="245343" y="428625"/>
                  <a:pt x="267891" y="406078"/>
                  <a:pt x="267891" y="378284"/>
                </a:cubicBezTo>
                <a:cubicBezTo>
                  <a:pt x="267891" y="353169"/>
                  <a:pt x="249473" y="331961"/>
                  <a:pt x="224693" y="328389"/>
                </a:cubicBezTo>
                <a:lnTo>
                  <a:pt x="122448" y="313767"/>
                </a:lnTo>
                <a:cubicBezTo>
                  <a:pt x="62396" y="305284"/>
                  <a:pt x="17859" y="253826"/>
                  <a:pt x="17859" y="193216"/>
                </a:cubicBezTo>
                <a:cubicBezTo>
                  <a:pt x="17859" y="126020"/>
                  <a:pt x="72442" y="71438"/>
                  <a:pt x="139638" y="71438"/>
                </a:cubicBezTo>
                <a:lnTo>
                  <a:pt x="151805" y="71438"/>
                </a:lnTo>
                <a:lnTo>
                  <a:pt x="151805" y="26789"/>
                </a:lnTo>
                <a:close/>
              </a:path>
            </a:pathLst>
          </a:custGeom>
          <a:solidFill>
            <a:srgbClr val="7D8A99"/>
          </a:solidFill>
          <a:ln/>
        </p:spPr>
      </p:sp>
      <p:sp>
        <p:nvSpPr>
          <p:cNvPr id="6" name="Text 4"/>
          <p:cNvSpPr/>
          <p:nvPr/>
        </p:nvSpPr>
        <p:spPr>
          <a:xfrm>
            <a:off x="652463" y="2476500"/>
            <a:ext cx="3067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7D8A99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INVESTMENT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52450" y="3048000"/>
            <a:ext cx="32670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$5M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6750" y="3848100"/>
            <a:ext cx="3038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One-time Phase 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1038" y="4267200"/>
            <a:ext cx="3009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infrastructure improvements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10101" y="196215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561008" y="310976"/>
                </a:moveTo>
                <a:cubicBezTo>
                  <a:pt x="574960" y="297024"/>
                  <a:pt x="574960" y="274365"/>
                  <a:pt x="561008" y="260412"/>
                </a:cubicBezTo>
                <a:lnTo>
                  <a:pt x="382414" y="81818"/>
                </a:lnTo>
                <a:cubicBezTo>
                  <a:pt x="368461" y="67866"/>
                  <a:pt x="345802" y="67866"/>
                  <a:pt x="331850" y="81818"/>
                </a:cubicBezTo>
                <a:cubicBezTo>
                  <a:pt x="317897" y="95771"/>
                  <a:pt x="317897" y="118430"/>
                  <a:pt x="331850" y="132383"/>
                </a:cubicBezTo>
                <a:lnTo>
                  <a:pt x="449498" y="250031"/>
                </a:lnTo>
                <a:lnTo>
                  <a:pt x="35719" y="250031"/>
                </a:lnTo>
                <a:cubicBezTo>
                  <a:pt x="15962" y="250031"/>
                  <a:pt x="0" y="265993"/>
                  <a:pt x="0" y="285750"/>
                </a:cubicBezTo>
                <a:cubicBezTo>
                  <a:pt x="0" y="305507"/>
                  <a:pt x="15962" y="321469"/>
                  <a:pt x="35719" y="321469"/>
                </a:cubicBezTo>
                <a:lnTo>
                  <a:pt x="449498" y="321469"/>
                </a:lnTo>
                <a:lnTo>
                  <a:pt x="331850" y="439117"/>
                </a:lnTo>
                <a:cubicBezTo>
                  <a:pt x="317897" y="453070"/>
                  <a:pt x="317897" y="475729"/>
                  <a:pt x="331850" y="489682"/>
                </a:cubicBezTo>
                <a:cubicBezTo>
                  <a:pt x="345802" y="503634"/>
                  <a:pt x="368461" y="503634"/>
                  <a:pt x="382414" y="489682"/>
                </a:cubicBezTo>
                <a:lnTo>
                  <a:pt x="561008" y="311088"/>
                </a:lnTo>
                <a:close/>
              </a:path>
            </a:pathLst>
          </a:custGeom>
          <a:solidFill>
            <a:srgbClr val="4E9A8C"/>
          </a:solidFill>
          <a:ln/>
        </p:spPr>
      </p:sp>
      <p:sp>
        <p:nvSpPr>
          <p:cNvPr id="11" name="Shape 9"/>
          <p:cNvSpPr/>
          <p:nvPr/>
        </p:nvSpPr>
        <p:spPr>
          <a:xfrm>
            <a:off x="4302026" y="2771775"/>
            <a:ext cx="3590925" cy="1543050"/>
          </a:xfrm>
          <a:custGeom>
            <a:avLst/>
            <a:gdLst/>
            <a:ahLst/>
            <a:cxnLst/>
            <a:rect l="l" t="t" r="r" b="b"/>
            <a:pathLst>
              <a:path w="3590925" h="1543050">
                <a:moveTo>
                  <a:pt x="0" y="0"/>
                </a:moveTo>
                <a:lnTo>
                  <a:pt x="3590925" y="0"/>
                </a:lnTo>
                <a:lnTo>
                  <a:pt x="3590925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solidFill>
            <a:srgbClr val="4E9A8C">
              <a:alpha val="30196"/>
            </a:srgbClr>
          </a:solidFill>
          <a:ln w="25400">
            <a:solidFill>
              <a:srgbClr val="4E9A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44901" y="2971800"/>
            <a:ext cx="3305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E9A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Payback Timeline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87751" y="3352800"/>
            <a:ext cx="34194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8-18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44901" y="3810000"/>
            <a:ext cx="3305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3200" y="1428750"/>
            <a:ext cx="3571875" cy="3429000"/>
          </a:xfrm>
          <a:custGeom>
            <a:avLst/>
            <a:gdLst/>
            <a:ahLst/>
            <a:cxnLst/>
            <a:rect l="l" t="t" r="r" b="b"/>
            <a:pathLst>
              <a:path w="3571875" h="3429000">
                <a:moveTo>
                  <a:pt x="0" y="0"/>
                </a:moveTo>
                <a:lnTo>
                  <a:pt x="3571875" y="0"/>
                </a:lnTo>
                <a:lnTo>
                  <a:pt x="3571875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solidFill>
            <a:srgbClr val="4E9A8C">
              <a:alpha val="20000"/>
            </a:srgbClr>
          </a:solidFill>
          <a:ln w="50800">
            <a:solidFill>
              <a:srgbClr val="4E9A8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21751" y="175260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71438" y="71438"/>
                </a:moveTo>
                <a:cubicBezTo>
                  <a:pt x="71438" y="51681"/>
                  <a:pt x="55476" y="35719"/>
                  <a:pt x="35719" y="35719"/>
                </a:cubicBezTo>
                <a:cubicBezTo>
                  <a:pt x="15962" y="35719"/>
                  <a:pt x="0" y="51681"/>
                  <a:pt x="0" y="71438"/>
                </a:cubicBezTo>
                <a:lnTo>
                  <a:pt x="0" y="446484"/>
                </a:lnTo>
                <a:cubicBezTo>
                  <a:pt x="0" y="495821"/>
                  <a:pt x="39960" y="535781"/>
                  <a:pt x="89297" y="535781"/>
                </a:cubicBezTo>
                <a:lnTo>
                  <a:pt x="535781" y="535781"/>
                </a:lnTo>
                <a:cubicBezTo>
                  <a:pt x="555538" y="535781"/>
                  <a:pt x="571500" y="519819"/>
                  <a:pt x="571500" y="500063"/>
                </a:cubicBezTo>
                <a:cubicBezTo>
                  <a:pt x="571500" y="480306"/>
                  <a:pt x="555538" y="464344"/>
                  <a:pt x="535781" y="464344"/>
                </a:cubicBezTo>
                <a:lnTo>
                  <a:pt x="89297" y="464344"/>
                </a:lnTo>
                <a:cubicBezTo>
                  <a:pt x="79474" y="464344"/>
                  <a:pt x="71438" y="456307"/>
                  <a:pt x="71438" y="446484"/>
                </a:cubicBezTo>
                <a:lnTo>
                  <a:pt x="71438" y="71438"/>
                </a:lnTo>
                <a:close/>
                <a:moveTo>
                  <a:pt x="525289" y="168101"/>
                </a:moveTo>
                <a:cubicBezTo>
                  <a:pt x="539242" y="154149"/>
                  <a:pt x="539242" y="131490"/>
                  <a:pt x="525289" y="117537"/>
                </a:cubicBezTo>
                <a:cubicBezTo>
                  <a:pt x="511336" y="103584"/>
                  <a:pt x="488677" y="103584"/>
                  <a:pt x="474725" y="117537"/>
                </a:cubicBezTo>
                <a:lnTo>
                  <a:pt x="357188" y="235186"/>
                </a:lnTo>
                <a:lnTo>
                  <a:pt x="293117" y="171227"/>
                </a:lnTo>
                <a:cubicBezTo>
                  <a:pt x="279164" y="157274"/>
                  <a:pt x="256505" y="157274"/>
                  <a:pt x="242553" y="171227"/>
                </a:cubicBezTo>
                <a:lnTo>
                  <a:pt x="135396" y="278383"/>
                </a:lnTo>
                <a:cubicBezTo>
                  <a:pt x="121444" y="292336"/>
                  <a:pt x="121444" y="314995"/>
                  <a:pt x="135396" y="328947"/>
                </a:cubicBezTo>
                <a:cubicBezTo>
                  <a:pt x="149349" y="342900"/>
                  <a:pt x="172008" y="342900"/>
                  <a:pt x="185961" y="328947"/>
                </a:cubicBezTo>
                <a:lnTo>
                  <a:pt x="267891" y="247017"/>
                </a:lnTo>
                <a:lnTo>
                  <a:pt x="331961" y="311088"/>
                </a:lnTo>
                <a:cubicBezTo>
                  <a:pt x="345914" y="325041"/>
                  <a:pt x="368573" y="325041"/>
                  <a:pt x="382525" y="311088"/>
                </a:cubicBezTo>
                <a:lnTo>
                  <a:pt x="525400" y="168213"/>
                </a:lnTo>
                <a:close/>
              </a:path>
            </a:pathLst>
          </a:custGeom>
          <a:solidFill>
            <a:srgbClr val="4E9A8C"/>
          </a:solidFill>
          <a:ln/>
        </p:spPr>
      </p:sp>
      <p:sp>
        <p:nvSpPr>
          <p:cNvPr id="17" name="Text 15"/>
          <p:cNvSpPr/>
          <p:nvPr/>
        </p:nvSpPr>
        <p:spPr>
          <a:xfrm>
            <a:off x="8475613" y="2476500"/>
            <a:ext cx="3067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4E9A8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ANNUAL RETURNS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04188" y="2971800"/>
            <a:ext cx="3009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(Year 3+)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75600" y="3467100"/>
            <a:ext cx="32670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4E9A8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$45-70M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04188" y="4267200"/>
            <a:ext cx="3009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annual savings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00050" y="5295900"/>
            <a:ext cx="2724150" cy="1181100"/>
          </a:xfrm>
          <a:custGeom>
            <a:avLst/>
            <a:gdLst/>
            <a:ahLst/>
            <a:cxnLst/>
            <a:rect l="l" t="t" r="r" b="b"/>
            <a:pathLst>
              <a:path w="2724150" h="1181100">
                <a:moveTo>
                  <a:pt x="0" y="0"/>
                </a:moveTo>
                <a:lnTo>
                  <a:pt x="2724150" y="0"/>
                </a:lnTo>
                <a:lnTo>
                  <a:pt x="2724150" y="1181100"/>
                </a:lnTo>
                <a:lnTo>
                  <a:pt x="0" y="11811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00050" y="5295900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0" y="11811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3" name="Shape 21"/>
          <p:cNvSpPr/>
          <p:nvPr/>
        </p:nvSpPr>
        <p:spPr>
          <a:xfrm>
            <a:off x="1643063" y="54102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57150" y="28575"/>
                </a:moveTo>
                <a:cubicBezTo>
                  <a:pt x="57150" y="12814"/>
                  <a:pt x="69964" y="0"/>
                  <a:pt x="85725" y="0"/>
                </a:cubicBezTo>
                <a:lnTo>
                  <a:pt x="171450" y="0"/>
                </a:lnTo>
                <a:cubicBezTo>
                  <a:pt x="187211" y="0"/>
                  <a:pt x="200025" y="12814"/>
                  <a:pt x="200025" y="28575"/>
                </a:cubicBezTo>
                <a:lnTo>
                  <a:pt x="200025" y="57150"/>
                </a:lnTo>
                <a:lnTo>
                  <a:pt x="228600" y="57150"/>
                </a:lnTo>
                <a:cubicBezTo>
                  <a:pt x="244361" y="57150"/>
                  <a:pt x="257175" y="69964"/>
                  <a:pt x="257175" y="85725"/>
                </a:cubicBezTo>
                <a:lnTo>
                  <a:pt x="257175" y="200025"/>
                </a:lnTo>
                <a:cubicBezTo>
                  <a:pt x="257175" y="215786"/>
                  <a:pt x="244361" y="228600"/>
                  <a:pt x="228600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85725"/>
                </a:lnTo>
                <a:cubicBezTo>
                  <a:pt x="0" y="69964"/>
                  <a:pt x="12814" y="57150"/>
                  <a:pt x="28575" y="57150"/>
                </a:cubicBezTo>
                <a:lnTo>
                  <a:pt x="57150" y="57150"/>
                </a:lnTo>
                <a:lnTo>
                  <a:pt x="57150" y="28575"/>
                </a:lnTo>
                <a:close/>
                <a:moveTo>
                  <a:pt x="121444" y="157163"/>
                </a:moveTo>
                <a:cubicBezTo>
                  <a:pt x="113541" y="157163"/>
                  <a:pt x="107156" y="163547"/>
                  <a:pt x="107156" y="171450"/>
                </a:cubicBezTo>
                <a:lnTo>
                  <a:pt x="107156" y="207169"/>
                </a:lnTo>
                <a:lnTo>
                  <a:pt x="150019" y="207169"/>
                </a:lnTo>
                <a:lnTo>
                  <a:pt x="150019" y="171450"/>
                </a:lnTo>
                <a:cubicBezTo>
                  <a:pt x="150019" y="163547"/>
                  <a:pt x="143634" y="157163"/>
                  <a:pt x="135731" y="157163"/>
                </a:cubicBezTo>
                <a:lnTo>
                  <a:pt x="121444" y="157163"/>
                </a:lnTo>
                <a:close/>
                <a:moveTo>
                  <a:pt x="57150" y="164306"/>
                </a:moveTo>
                <a:lnTo>
                  <a:pt x="57150" y="150019"/>
                </a:lnTo>
                <a:cubicBezTo>
                  <a:pt x="57150" y="146090"/>
                  <a:pt x="53935" y="142875"/>
                  <a:pt x="50006" y="142875"/>
                </a:cubicBezTo>
                <a:lnTo>
                  <a:pt x="35719" y="142875"/>
                </a:lnTo>
                <a:cubicBezTo>
                  <a:pt x="31790" y="142875"/>
                  <a:pt x="28575" y="146090"/>
                  <a:pt x="28575" y="150019"/>
                </a:cubicBezTo>
                <a:lnTo>
                  <a:pt x="28575" y="164306"/>
                </a:lnTo>
                <a:cubicBezTo>
                  <a:pt x="28575" y="168235"/>
                  <a:pt x="31790" y="171450"/>
                  <a:pt x="35719" y="171450"/>
                </a:cubicBezTo>
                <a:lnTo>
                  <a:pt x="50006" y="171450"/>
                </a:lnTo>
                <a:cubicBezTo>
                  <a:pt x="53935" y="171450"/>
                  <a:pt x="57150" y="168235"/>
                  <a:pt x="57150" y="164306"/>
                </a:cubicBezTo>
                <a:close/>
                <a:moveTo>
                  <a:pt x="50006" y="114300"/>
                </a:moveTo>
                <a:cubicBezTo>
                  <a:pt x="53935" y="114300"/>
                  <a:pt x="57150" y="111085"/>
                  <a:pt x="57150" y="107156"/>
                </a:cubicBezTo>
                <a:lnTo>
                  <a:pt x="57150" y="92869"/>
                </a:lnTo>
                <a:cubicBezTo>
                  <a:pt x="57150" y="88940"/>
                  <a:pt x="53935" y="85725"/>
                  <a:pt x="50006" y="85725"/>
                </a:cubicBezTo>
                <a:lnTo>
                  <a:pt x="35719" y="85725"/>
                </a:lnTo>
                <a:cubicBezTo>
                  <a:pt x="31790" y="85725"/>
                  <a:pt x="28575" y="88940"/>
                  <a:pt x="28575" y="92869"/>
                </a:cubicBezTo>
                <a:lnTo>
                  <a:pt x="28575" y="107156"/>
                </a:lnTo>
                <a:cubicBezTo>
                  <a:pt x="28575" y="111085"/>
                  <a:pt x="31790" y="114300"/>
                  <a:pt x="35719" y="114300"/>
                </a:cubicBezTo>
                <a:lnTo>
                  <a:pt x="50006" y="114300"/>
                </a:lnTo>
                <a:close/>
                <a:moveTo>
                  <a:pt x="228600" y="164306"/>
                </a:moveTo>
                <a:lnTo>
                  <a:pt x="228600" y="150019"/>
                </a:lnTo>
                <a:cubicBezTo>
                  <a:pt x="228600" y="146090"/>
                  <a:pt x="225385" y="142875"/>
                  <a:pt x="221456" y="142875"/>
                </a:cubicBezTo>
                <a:lnTo>
                  <a:pt x="207169" y="142875"/>
                </a:lnTo>
                <a:cubicBezTo>
                  <a:pt x="203240" y="142875"/>
                  <a:pt x="200025" y="146090"/>
                  <a:pt x="200025" y="150019"/>
                </a:cubicBezTo>
                <a:lnTo>
                  <a:pt x="200025" y="164306"/>
                </a:lnTo>
                <a:cubicBezTo>
                  <a:pt x="200025" y="168235"/>
                  <a:pt x="203240" y="171450"/>
                  <a:pt x="207169" y="171450"/>
                </a:cubicBezTo>
                <a:lnTo>
                  <a:pt x="221456" y="171450"/>
                </a:lnTo>
                <a:cubicBezTo>
                  <a:pt x="225385" y="171450"/>
                  <a:pt x="228600" y="168235"/>
                  <a:pt x="228600" y="164306"/>
                </a:cubicBezTo>
                <a:close/>
                <a:moveTo>
                  <a:pt x="221456" y="114300"/>
                </a:moveTo>
                <a:cubicBezTo>
                  <a:pt x="225385" y="114300"/>
                  <a:pt x="228600" y="111085"/>
                  <a:pt x="228600" y="107156"/>
                </a:cubicBezTo>
                <a:lnTo>
                  <a:pt x="228600" y="92869"/>
                </a:lnTo>
                <a:cubicBezTo>
                  <a:pt x="228600" y="88940"/>
                  <a:pt x="225385" y="85725"/>
                  <a:pt x="221456" y="85725"/>
                </a:cubicBezTo>
                <a:lnTo>
                  <a:pt x="207169" y="85725"/>
                </a:lnTo>
                <a:cubicBezTo>
                  <a:pt x="203240" y="85725"/>
                  <a:pt x="200025" y="88940"/>
                  <a:pt x="200025" y="92869"/>
                </a:cubicBezTo>
                <a:lnTo>
                  <a:pt x="200025" y="107156"/>
                </a:lnTo>
                <a:cubicBezTo>
                  <a:pt x="200025" y="111085"/>
                  <a:pt x="203240" y="114300"/>
                  <a:pt x="207169" y="114300"/>
                </a:cubicBezTo>
                <a:lnTo>
                  <a:pt x="221456" y="114300"/>
                </a:lnTo>
                <a:close/>
                <a:moveTo>
                  <a:pt x="117872" y="46434"/>
                </a:moveTo>
                <a:lnTo>
                  <a:pt x="117872" y="60722"/>
                </a:lnTo>
                <a:lnTo>
                  <a:pt x="103584" y="60722"/>
                </a:lnTo>
                <a:cubicBezTo>
                  <a:pt x="99655" y="60722"/>
                  <a:pt x="96441" y="63937"/>
                  <a:pt x="96441" y="67866"/>
                </a:cubicBezTo>
                <a:lnTo>
                  <a:pt x="96441" y="75009"/>
                </a:lnTo>
                <a:cubicBezTo>
                  <a:pt x="96441" y="78938"/>
                  <a:pt x="99655" y="82153"/>
                  <a:pt x="103584" y="82153"/>
                </a:cubicBezTo>
                <a:lnTo>
                  <a:pt x="117872" y="82153"/>
                </a:lnTo>
                <a:lnTo>
                  <a:pt x="117872" y="96441"/>
                </a:lnTo>
                <a:cubicBezTo>
                  <a:pt x="117872" y="100370"/>
                  <a:pt x="121087" y="103584"/>
                  <a:pt x="125016" y="103584"/>
                </a:cubicBezTo>
                <a:lnTo>
                  <a:pt x="132159" y="103584"/>
                </a:lnTo>
                <a:cubicBezTo>
                  <a:pt x="136088" y="103584"/>
                  <a:pt x="139303" y="100370"/>
                  <a:pt x="139303" y="96441"/>
                </a:cubicBezTo>
                <a:lnTo>
                  <a:pt x="139303" y="82153"/>
                </a:lnTo>
                <a:lnTo>
                  <a:pt x="153591" y="82153"/>
                </a:lnTo>
                <a:cubicBezTo>
                  <a:pt x="157520" y="82153"/>
                  <a:pt x="160734" y="78938"/>
                  <a:pt x="160734" y="75009"/>
                </a:cubicBezTo>
                <a:lnTo>
                  <a:pt x="160734" y="67866"/>
                </a:lnTo>
                <a:cubicBezTo>
                  <a:pt x="160734" y="63937"/>
                  <a:pt x="157520" y="60722"/>
                  <a:pt x="153591" y="60722"/>
                </a:cubicBezTo>
                <a:lnTo>
                  <a:pt x="139303" y="60722"/>
                </a:lnTo>
                <a:lnTo>
                  <a:pt x="139303" y="46434"/>
                </a:lnTo>
                <a:cubicBezTo>
                  <a:pt x="139303" y="42505"/>
                  <a:pt x="136088" y="39291"/>
                  <a:pt x="132159" y="39291"/>
                </a:cubicBezTo>
                <a:lnTo>
                  <a:pt x="125016" y="39291"/>
                </a:lnTo>
                <a:cubicBezTo>
                  <a:pt x="121087" y="39291"/>
                  <a:pt x="117872" y="42505"/>
                  <a:pt x="117872" y="46434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4" name="Text 22"/>
          <p:cNvSpPr/>
          <p:nvPr/>
        </p:nvSpPr>
        <p:spPr>
          <a:xfrm>
            <a:off x="495300" y="5715000"/>
            <a:ext cx="2552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Healthcare Savings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76250" y="5981700"/>
            <a:ext cx="259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$15-25M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295650" y="5295900"/>
            <a:ext cx="2724150" cy="1181100"/>
          </a:xfrm>
          <a:custGeom>
            <a:avLst/>
            <a:gdLst/>
            <a:ahLst/>
            <a:cxnLst/>
            <a:rect l="l" t="t" r="r" b="b"/>
            <a:pathLst>
              <a:path w="2724150" h="1181100">
                <a:moveTo>
                  <a:pt x="0" y="0"/>
                </a:moveTo>
                <a:lnTo>
                  <a:pt x="2724150" y="0"/>
                </a:lnTo>
                <a:lnTo>
                  <a:pt x="2724150" y="1181100"/>
                </a:lnTo>
                <a:lnTo>
                  <a:pt x="0" y="11811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295650" y="5295900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0" y="11811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8" name="Shape 26"/>
          <p:cNvSpPr/>
          <p:nvPr/>
        </p:nvSpPr>
        <p:spPr>
          <a:xfrm>
            <a:off x="4552950" y="5410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89297" y="21431"/>
                </a:moveTo>
                <a:lnTo>
                  <a:pt x="139303" y="21431"/>
                </a:lnTo>
                <a:cubicBezTo>
                  <a:pt x="141268" y="21431"/>
                  <a:pt x="142875" y="23039"/>
                  <a:pt x="142875" y="25003"/>
                </a:cubicBezTo>
                <a:lnTo>
                  <a:pt x="142875" y="42863"/>
                </a:lnTo>
                <a:lnTo>
                  <a:pt x="85725" y="42863"/>
                </a:lnTo>
                <a:lnTo>
                  <a:pt x="85725" y="25003"/>
                </a:lnTo>
                <a:cubicBezTo>
                  <a:pt x="85725" y="23039"/>
                  <a:pt x="87332" y="21431"/>
                  <a:pt x="89297" y="21431"/>
                </a:cubicBezTo>
                <a:close/>
                <a:moveTo>
                  <a:pt x="64294" y="25003"/>
                </a:moveTo>
                <a:lnTo>
                  <a:pt x="64294" y="42863"/>
                </a:lnTo>
                <a:lnTo>
                  <a:pt x="28575" y="42863"/>
                </a:lnTo>
                <a:cubicBezTo>
                  <a:pt x="12814" y="42863"/>
                  <a:pt x="0" y="55677"/>
                  <a:pt x="0" y="71438"/>
                </a:cubicBezTo>
                <a:lnTo>
                  <a:pt x="0" y="114300"/>
                </a:lnTo>
                <a:lnTo>
                  <a:pt x="228600" y="114300"/>
                </a:lnTo>
                <a:lnTo>
                  <a:pt x="228600" y="71438"/>
                </a:lnTo>
                <a:cubicBezTo>
                  <a:pt x="228600" y="55677"/>
                  <a:pt x="215786" y="42863"/>
                  <a:pt x="200025" y="42863"/>
                </a:cubicBezTo>
                <a:lnTo>
                  <a:pt x="164306" y="42863"/>
                </a:lnTo>
                <a:lnTo>
                  <a:pt x="164306" y="25003"/>
                </a:lnTo>
                <a:cubicBezTo>
                  <a:pt x="164306" y="11207"/>
                  <a:pt x="153099" y="0"/>
                  <a:pt x="139303" y="0"/>
                </a:cubicBezTo>
                <a:lnTo>
                  <a:pt x="89297" y="0"/>
                </a:lnTo>
                <a:cubicBezTo>
                  <a:pt x="75501" y="0"/>
                  <a:pt x="64294" y="11207"/>
                  <a:pt x="64294" y="25003"/>
                </a:cubicBezTo>
                <a:close/>
                <a:moveTo>
                  <a:pt x="228600" y="135731"/>
                </a:moveTo>
                <a:lnTo>
                  <a:pt x="142875" y="135731"/>
                </a:lnTo>
                <a:lnTo>
                  <a:pt x="142875" y="142875"/>
                </a:lnTo>
                <a:cubicBezTo>
                  <a:pt x="142875" y="150778"/>
                  <a:pt x="136490" y="157163"/>
                  <a:pt x="128588" y="157163"/>
                </a:cubicBezTo>
                <a:lnTo>
                  <a:pt x="100013" y="157163"/>
                </a:lnTo>
                <a:cubicBezTo>
                  <a:pt x="92110" y="157163"/>
                  <a:pt x="85725" y="150778"/>
                  <a:pt x="85725" y="142875"/>
                </a:cubicBezTo>
                <a:lnTo>
                  <a:pt x="85725" y="135731"/>
                </a:lnTo>
                <a:lnTo>
                  <a:pt x="0" y="135731"/>
                </a:ln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200025" y="214313"/>
                </a:lnTo>
                <a:cubicBezTo>
                  <a:pt x="215786" y="214313"/>
                  <a:pt x="228600" y="201498"/>
                  <a:pt x="228600" y="185738"/>
                </a:cubicBezTo>
                <a:lnTo>
                  <a:pt x="228600" y="135731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9" name="Text 27"/>
          <p:cNvSpPr/>
          <p:nvPr/>
        </p:nvSpPr>
        <p:spPr>
          <a:xfrm>
            <a:off x="3390900" y="5715000"/>
            <a:ext cx="2552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Productivity Gains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371850" y="5981700"/>
            <a:ext cx="259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$20-30M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91250" y="5295900"/>
            <a:ext cx="2724150" cy="1181100"/>
          </a:xfrm>
          <a:custGeom>
            <a:avLst/>
            <a:gdLst/>
            <a:ahLst/>
            <a:cxnLst/>
            <a:rect l="l" t="t" r="r" b="b"/>
            <a:pathLst>
              <a:path w="2724150" h="1181100">
                <a:moveTo>
                  <a:pt x="0" y="0"/>
                </a:moveTo>
                <a:lnTo>
                  <a:pt x="2724150" y="0"/>
                </a:lnTo>
                <a:lnTo>
                  <a:pt x="2724150" y="1181100"/>
                </a:lnTo>
                <a:lnTo>
                  <a:pt x="0" y="11811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191250" y="5295900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0" y="11811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3" name="Shape 31"/>
          <p:cNvSpPr/>
          <p:nvPr/>
        </p:nvSpPr>
        <p:spPr>
          <a:xfrm>
            <a:off x="7477125" y="54102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95324" y="0"/>
                </a:lnTo>
                <a:cubicBezTo>
                  <a:pt x="102915" y="0"/>
                  <a:pt x="110192" y="2991"/>
                  <a:pt x="115550" y="8349"/>
                </a:cubicBezTo>
                <a:lnTo>
                  <a:pt x="163101" y="55944"/>
                </a:lnTo>
                <a:cubicBezTo>
                  <a:pt x="168459" y="61302"/>
                  <a:pt x="171450" y="68580"/>
                  <a:pt x="171450" y="76170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28575"/>
                </a:lnTo>
                <a:close/>
                <a:moveTo>
                  <a:pt x="92869" y="26119"/>
                </a:moveTo>
                <a:lnTo>
                  <a:pt x="92869" y="67866"/>
                </a:lnTo>
                <a:cubicBezTo>
                  <a:pt x="92869" y="73804"/>
                  <a:pt x="97646" y="78581"/>
                  <a:pt x="103584" y="78581"/>
                </a:cubicBezTo>
                <a:lnTo>
                  <a:pt x="145331" y="78581"/>
                </a:lnTo>
                <a:lnTo>
                  <a:pt x="92869" y="26119"/>
                </a:lnTo>
                <a:close/>
                <a:moveTo>
                  <a:pt x="28575" y="39291"/>
                </a:moveTo>
                <a:cubicBezTo>
                  <a:pt x="28575" y="45229"/>
                  <a:pt x="33352" y="50006"/>
                  <a:pt x="39291" y="50006"/>
                </a:cubicBezTo>
                <a:lnTo>
                  <a:pt x="60722" y="50006"/>
                </a:lnTo>
                <a:cubicBezTo>
                  <a:pt x="66660" y="50006"/>
                  <a:pt x="71438" y="45229"/>
                  <a:pt x="71438" y="39291"/>
                </a:cubicBezTo>
                <a:cubicBezTo>
                  <a:pt x="71438" y="33352"/>
                  <a:pt x="66660" y="28575"/>
                  <a:pt x="60722" y="28575"/>
                </a:cubicBezTo>
                <a:lnTo>
                  <a:pt x="39291" y="28575"/>
                </a:lnTo>
                <a:cubicBezTo>
                  <a:pt x="33352" y="28575"/>
                  <a:pt x="28575" y="33352"/>
                  <a:pt x="28575" y="39291"/>
                </a:cubicBezTo>
                <a:close/>
                <a:moveTo>
                  <a:pt x="28575" y="82153"/>
                </a:moveTo>
                <a:cubicBezTo>
                  <a:pt x="28575" y="88091"/>
                  <a:pt x="33352" y="92869"/>
                  <a:pt x="39291" y="92869"/>
                </a:cubicBezTo>
                <a:lnTo>
                  <a:pt x="60722" y="92869"/>
                </a:lnTo>
                <a:cubicBezTo>
                  <a:pt x="66660" y="92869"/>
                  <a:pt x="71438" y="88091"/>
                  <a:pt x="71438" y="82153"/>
                </a:cubicBezTo>
                <a:cubicBezTo>
                  <a:pt x="71438" y="76215"/>
                  <a:pt x="66660" y="71438"/>
                  <a:pt x="60722" y="71438"/>
                </a:cubicBezTo>
                <a:lnTo>
                  <a:pt x="39291" y="71438"/>
                </a:lnTo>
                <a:cubicBezTo>
                  <a:pt x="33352" y="71438"/>
                  <a:pt x="28575" y="76215"/>
                  <a:pt x="28575" y="82153"/>
                </a:cubicBezTo>
                <a:close/>
                <a:moveTo>
                  <a:pt x="78581" y="116086"/>
                </a:moveTo>
                <a:lnTo>
                  <a:pt x="78581" y="117872"/>
                </a:lnTo>
                <a:cubicBezTo>
                  <a:pt x="65723" y="118006"/>
                  <a:pt x="55364" y="128454"/>
                  <a:pt x="55364" y="141312"/>
                </a:cubicBezTo>
                <a:cubicBezTo>
                  <a:pt x="55364" y="152787"/>
                  <a:pt x="63624" y="162565"/>
                  <a:pt x="74965" y="164440"/>
                </a:cubicBezTo>
                <a:lnTo>
                  <a:pt x="93583" y="167566"/>
                </a:lnTo>
                <a:cubicBezTo>
                  <a:pt x="96262" y="168012"/>
                  <a:pt x="98227" y="170334"/>
                  <a:pt x="98227" y="173057"/>
                </a:cubicBezTo>
                <a:cubicBezTo>
                  <a:pt x="98227" y="176138"/>
                  <a:pt x="95726" y="178638"/>
                  <a:pt x="92646" y="178638"/>
                </a:cubicBezTo>
                <a:lnTo>
                  <a:pt x="67866" y="178594"/>
                </a:lnTo>
                <a:cubicBezTo>
                  <a:pt x="62954" y="178594"/>
                  <a:pt x="58936" y="182612"/>
                  <a:pt x="58936" y="187523"/>
                </a:cubicBezTo>
                <a:cubicBezTo>
                  <a:pt x="58936" y="192435"/>
                  <a:pt x="62954" y="196453"/>
                  <a:pt x="67866" y="196453"/>
                </a:cubicBezTo>
                <a:lnTo>
                  <a:pt x="78581" y="196453"/>
                </a:lnTo>
                <a:lnTo>
                  <a:pt x="78581" y="198239"/>
                </a:lnTo>
                <a:cubicBezTo>
                  <a:pt x="78581" y="203150"/>
                  <a:pt x="82600" y="207169"/>
                  <a:pt x="87511" y="207169"/>
                </a:cubicBezTo>
                <a:cubicBezTo>
                  <a:pt x="92422" y="207169"/>
                  <a:pt x="96441" y="203150"/>
                  <a:pt x="96441" y="198239"/>
                </a:cubicBezTo>
                <a:lnTo>
                  <a:pt x="96441" y="196141"/>
                </a:lnTo>
                <a:cubicBezTo>
                  <a:pt x="107603" y="194310"/>
                  <a:pt x="116086" y="184666"/>
                  <a:pt x="116086" y="173013"/>
                </a:cubicBezTo>
                <a:cubicBezTo>
                  <a:pt x="116086" y="161538"/>
                  <a:pt x="107826" y="151760"/>
                  <a:pt x="96485" y="149885"/>
                </a:cubicBezTo>
                <a:lnTo>
                  <a:pt x="77867" y="146759"/>
                </a:lnTo>
                <a:cubicBezTo>
                  <a:pt x="75188" y="146313"/>
                  <a:pt x="73223" y="143991"/>
                  <a:pt x="73223" y="141268"/>
                </a:cubicBezTo>
                <a:cubicBezTo>
                  <a:pt x="73223" y="138187"/>
                  <a:pt x="75724" y="135687"/>
                  <a:pt x="78804" y="135687"/>
                </a:cubicBezTo>
                <a:lnTo>
                  <a:pt x="100012" y="135687"/>
                </a:lnTo>
                <a:cubicBezTo>
                  <a:pt x="104924" y="135687"/>
                  <a:pt x="108942" y="131668"/>
                  <a:pt x="108942" y="126757"/>
                </a:cubicBezTo>
                <a:cubicBezTo>
                  <a:pt x="108942" y="121846"/>
                  <a:pt x="104924" y="117827"/>
                  <a:pt x="100012" y="117827"/>
                </a:cubicBezTo>
                <a:lnTo>
                  <a:pt x="96441" y="117827"/>
                </a:lnTo>
                <a:lnTo>
                  <a:pt x="96441" y="116041"/>
                </a:lnTo>
                <a:cubicBezTo>
                  <a:pt x="96441" y="111130"/>
                  <a:pt x="92422" y="107112"/>
                  <a:pt x="87511" y="107112"/>
                </a:cubicBezTo>
                <a:cubicBezTo>
                  <a:pt x="82600" y="107112"/>
                  <a:pt x="78581" y="111130"/>
                  <a:pt x="78581" y="116041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4" name="Text 32"/>
          <p:cNvSpPr/>
          <p:nvPr/>
        </p:nvSpPr>
        <p:spPr>
          <a:xfrm>
            <a:off x="6286500" y="5715000"/>
            <a:ext cx="2552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Insurance Savings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267450" y="5981700"/>
            <a:ext cx="259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$10-15M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077325" y="5305425"/>
            <a:ext cx="2724150" cy="1162050"/>
          </a:xfrm>
          <a:custGeom>
            <a:avLst/>
            <a:gdLst/>
            <a:ahLst/>
            <a:cxnLst/>
            <a:rect l="l" t="t" r="r" b="b"/>
            <a:pathLst>
              <a:path w="2724150" h="1162050">
                <a:moveTo>
                  <a:pt x="0" y="0"/>
                </a:moveTo>
                <a:lnTo>
                  <a:pt x="2724150" y="0"/>
                </a:lnTo>
                <a:lnTo>
                  <a:pt x="2724150" y="1162050"/>
                </a:lnTo>
                <a:lnTo>
                  <a:pt x="0" y="1162050"/>
                </a:lnTo>
                <a:lnTo>
                  <a:pt x="0" y="0"/>
                </a:lnTo>
                <a:close/>
              </a:path>
            </a:pathLst>
          </a:custGeom>
          <a:solidFill>
            <a:srgbClr val="4E9A8C">
              <a:alpha val="30196"/>
            </a:srgbClr>
          </a:solidFill>
          <a:ln w="25400">
            <a:solidFill>
              <a:srgbClr val="4E9A8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339388" y="54292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85725" y="57150"/>
                </a:moveTo>
                <a:cubicBezTo>
                  <a:pt x="85725" y="33494"/>
                  <a:pt x="66519" y="14288"/>
                  <a:pt x="42863" y="14288"/>
                </a:cubicBezTo>
                <a:cubicBezTo>
                  <a:pt x="19206" y="14288"/>
                  <a:pt x="0" y="33494"/>
                  <a:pt x="0" y="57150"/>
                </a:cubicBezTo>
                <a:cubicBezTo>
                  <a:pt x="0" y="80806"/>
                  <a:pt x="19206" y="100013"/>
                  <a:pt x="42862" y="100013"/>
                </a:cubicBezTo>
                <a:cubicBezTo>
                  <a:pt x="66519" y="100013"/>
                  <a:pt x="85725" y="80806"/>
                  <a:pt x="85725" y="57150"/>
                </a:cubicBezTo>
                <a:close/>
                <a:moveTo>
                  <a:pt x="200025" y="171450"/>
                </a:moveTo>
                <a:cubicBezTo>
                  <a:pt x="200025" y="147794"/>
                  <a:pt x="180819" y="128588"/>
                  <a:pt x="157163" y="128588"/>
                </a:cubicBezTo>
                <a:cubicBezTo>
                  <a:pt x="133506" y="128588"/>
                  <a:pt x="114300" y="147794"/>
                  <a:pt x="114300" y="171450"/>
                </a:cubicBezTo>
                <a:cubicBezTo>
                  <a:pt x="114300" y="195106"/>
                  <a:pt x="133506" y="214313"/>
                  <a:pt x="157163" y="214313"/>
                </a:cubicBezTo>
                <a:cubicBezTo>
                  <a:pt x="180819" y="214313"/>
                  <a:pt x="200025" y="195106"/>
                  <a:pt x="200025" y="171450"/>
                </a:cubicBezTo>
                <a:close/>
                <a:moveTo>
                  <a:pt x="195828" y="38666"/>
                </a:moveTo>
                <a:cubicBezTo>
                  <a:pt x="201409" y="33084"/>
                  <a:pt x="201409" y="24021"/>
                  <a:pt x="195828" y="18440"/>
                </a:cubicBezTo>
                <a:cubicBezTo>
                  <a:pt x="190247" y="12859"/>
                  <a:pt x="181183" y="12859"/>
                  <a:pt x="175602" y="18440"/>
                </a:cubicBezTo>
                <a:lnTo>
                  <a:pt x="4152" y="189890"/>
                </a:lnTo>
                <a:cubicBezTo>
                  <a:pt x="-1429" y="195471"/>
                  <a:pt x="-1429" y="204534"/>
                  <a:pt x="4152" y="210116"/>
                </a:cubicBezTo>
                <a:cubicBezTo>
                  <a:pt x="9733" y="215697"/>
                  <a:pt x="18797" y="215697"/>
                  <a:pt x="24378" y="210116"/>
                </a:cubicBezTo>
                <a:lnTo>
                  <a:pt x="195828" y="38666"/>
                </a:lnTo>
                <a:close/>
              </a:path>
            </a:pathLst>
          </a:custGeom>
          <a:solidFill>
            <a:srgbClr val="4E9A8C"/>
          </a:solidFill>
          <a:ln/>
        </p:spPr>
      </p:sp>
      <p:sp>
        <p:nvSpPr>
          <p:cNvPr id="38" name="Text 36"/>
          <p:cNvSpPr/>
          <p:nvPr/>
        </p:nvSpPr>
        <p:spPr>
          <a:xfrm>
            <a:off x="9163050" y="5734050"/>
            <a:ext cx="2552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 Return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129713" y="6000750"/>
            <a:ext cx="2619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4E9A8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7-15x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9842" y="349842"/>
            <a:ext cx="11702221" cy="419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06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Strategic Resource Deployment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9842" y="874605"/>
            <a:ext cx="11597268" cy="279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3" dirty="0">
                <a:solidFill>
                  <a:srgbClr val="7D8A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70% of budget on 25% of network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9842" y="1259432"/>
            <a:ext cx="1119495" cy="34984"/>
          </a:xfrm>
          <a:custGeom>
            <a:avLst/>
            <a:gdLst/>
            <a:ahLst/>
            <a:cxnLst/>
            <a:rect l="l" t="t" r="r" b="b"/>
            <a:pathLst>
              <a:path w="1119495" h="34984">
                <a:moveTo>
                  <a:pt x="0" y="0"/>
                </a:moveTo>
                <a:lnTo>
                  <a:pt x="1119495" y="0"/>
                </a:lnTo>
                <a:lnTo>
                  <a:pt x="1119495" y="34984"/>
                </a:lnTo>
                <a:lnTo>
                  <a:pt x="0" y="34984"/>
                </a:lnTo>
                <a:lnTo>
                  <a:pt x="0" y="0"/>
                </a:lnTo>
                <a:close/>
              </a:path>
            </a:pathLst>
          </a:custGeom>
          <a:solidFill>
            <a:srgbClr val="4E9A8C"/>
          </a:solidFill>
          <a:ln/>
        </p:spPr>
      </p:sp>
      <p:sp>
        <p:nvSpPr>
          <p:cNvPr id="5" name="Shape 3"/>
          <p:cNvSpPr/>
          <p:nvPr/>
        </p:nvSpPr>
        <p:spPr>
          <a:xfrm>
            <a:off x="354215" y="1438726"/>
            <a:ext cx="5597475" cy="5116442"/>
          </a:xfrm>
          <a:custGeom>
            <a:avLst/>
            <a:gdLst/>
            <a:ahLst/>
            <a:cxnLst/>
            <a:rect l="l" t="t" r="r" b="b"/>
            <a:pathLst>
              <a:path w="5597475" h="5116442">
                <a:moveTo>
                  <a:pt x="0" y="0"/>
                </a:moveTo>
                <a:lnTo>
                  <a:pt x="5597475" y="0"/>
                </a:lnTo>
                <a:lnTo>
                  <a:pt x="5597475" y="5116442"/>
                </a:lnTo>
                <a:lnTo>
                  <a:pt x="0" y="5116442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1033" y="1618020"/>
            <a:ext cx="5343839" cy="279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53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Budget Allocation Strategy</a:t>
            </a:r>
            <a:endParaRPr lang="en-US" sz="1600" dirty="0"/>
          </a:p>
        </p:txBody>
      </p:sp>
      <p:pic>
        <p:nvPicPr>
          <p:cNvPr id="7" name="Image 0" descr="https://kimi-img.moonshot.cn/pub/slides/26-01-13-21:30:59-d5j4i4o51tq1m5o1704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3509" y="2037831"/>
            <a:ext cx="4749108" cy="4075661"/>
          </a:xfrm>
          <a:prstGeom prst="roundRect">
            <a:avLst>
              <a:gd name="adj" fmla="val 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6256982" y="1434353"/>
            <a:ext cx="5579983" cy="1504321"/>
          </a:xfrm>
          <a:custGeom>
            <a:avLst/>
            <a:gdLst/>
            <a:ahLst/>
            <a:cxnLst/>
            <a:rect l="l" t="t" r="r" b="b"/>
            <a:pathLst>
              <a:path w="5579983" h="1504321">
                <a:moveTo>
                  <a:pt x="0" y="0"/>
                </a:moveTo>
                <a:lnTo>
                  <a:pt x="5579983" y="0"/>
                </a:lnTo>
                <a:lnTo>
                  <a:pt x="5579983" y="1504321"/>
                </a:lnTo>
                <a:lnTo>
                  <a:pt x="0" y="1504321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256982" y="1434353"/>
            <a:ext cx="34984" cy="1504321"/>
          </a:xfrm>
          <a:custGeom>
            <a:avLst/>
            <a:gdLst/>
            <a:ahLst/>
            <a:cxnLst/>
            <a:rect l="l" t="t" r="r" b="b"/>
            <a:pathLst>
              <a:path w="34984" h="1504321">
                <a:moveTo>
                  <a:pt x="0" y="0"/>
                </a:moveTo>
                <a:lnTo>
                  <a:pt x="34984" y="0"/>
                </a:lnTo>
                <a:lnTo>
                  <a:pt x="34984" y="1504321"/>
                </a:lnTo>
                <a:lnTo>
                  <a:pt x="0" y="1504321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0" name="Shape 7"/>
          <p:cNvSpPr/>
          <p:nvPr/>
        </p:nvSpPr>
        <p:spPr>
          <a:xfrm>
            <a:off x="6379427" y="1556798"/>
            <a:ext cx="489779" cy="489779"/>
          </a:xfrm>
          <a:custGeom>
            <a:avLst/>
            <a:gdLst/>
            <a:ahLst/>
            <a:cxnLst/>
            <a:rect l="l" t="t" r="r" b="b"/>
            <a:pathLst>
              <a:path w="489779" h="489779">
                <a:moveTo>
                  <a:pt x="244890" y="0"/>
                </a:moveTo>
                <a:lnTo>
                  <a:pt x="244890" y="0"/>
                </a:lnTo>
                <a:cubicBezTo>
                  <a:pt x="380048" y="0"/>
                  <a:pt x="489779" y="109731"/>
                  <a:pt x="489779" y="244890"/>
                </a:cubicBezTo>
                <a:lnTo>
                  <a:pt x="489779" y="244890"/>
                </a:lnTo>
                <a:cubicBezTo>
                  <a:pt x="489779" y="380048"/>
                  <a:pt x="380048" y="489779"/>
                  <a:pt x="244890" y="489779"/>
                </a:cubicBezTo>
                <a:lnTo>
                  <a:pt x="244890" y="489779"/>
                </a:lnTo>
                <a:cubicBezTo>
                  <a:pt x="109731" y="489779"/>
                  <a:pt x="0" y="380048"/>
                  <a:pt x="0" y="244890"/>
                </a:cubicBezTo>
                <a:lnTo>
                  <a:pt x="0" y="244890"/>
                </a:lnTo>
                <a:cubicBezTo>
                  <a:pt x="0" y="109731"/>
                  <a:pt x="109731" y="0"/>
                  <a:pt x="24489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1" name="Text 8"/>
          <p:cNvSpPr/>
          <p:nvPr/>
        </p:nvSpPr>
        <p:spPr>
          <a:xfrm>
            <a:off x="6584003" y="1661750"/>
            <a:ext cx="183667" cy="279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3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974159" y="1539306"/>
            <a:ext cx="1128241" cy="279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3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Tier 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974159" y="1819179"/>
            <a:ext cx="1102003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0" b="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Highest Impact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379427" y="2099053"/>
            <a:ext cx="2693785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Coverage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379427" y="2308958"/>
            <a:ext cx="2728769" cy="279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3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5-10%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109699" y="2099053"/>
            <a:ext cx="2693785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Budget Allocation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109699" y="2308958"/>
            <a:ext cx="2728769" cy="279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3" b="1" dirty="0">
                <a:solidFill>
                  <a:srgbClr val="4A6C8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50-60%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379427" y="2623816"/>
            <a:ext cx="5422554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Concentrated on </a:t>
            </a:r>
            <a:pPr>
              <a:lnSpc>
                <a:spcPct val="130000"/>
              </a:lnSpc>
            </a:pPr>
            <a:r>
              <a:rPr lang="en-US" sz="1102" b="1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dangerous roads</a:t>
            </a:r>
            <a:pPr>
              <a:lnSpc>
                <a:spcPct val="130000"/>
              </a:lnSpc>
            </a:pPr>
            <a:r>
              <a:rPr lang="en-US" sz="1102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highest accident prevention per dollar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256982" y="3008643"/>
            <a:ext cx="5579983" cy="1504321"/>
          </a:xfrm>
          <a:custGeom>
            <a:avLst/>
            <a:gdLst/>
            <a:ahLst/>
            <a:cxnLst/>
            <a:rect l="l" t="t" r="r" b="b"/>
            <a:pathLst>
              <a:path w="5579983" h="1504321">
                <a:moveTo>
                  <a:pt x="0" y="0"/>
                </a:moveTo>
                <a:lnTo>
                  <a:pt x="5579983" y="0"/>
                </a:lnTo>
                <a:lnTo>
                  <a:pt x="5579983" y="1504321"/>
                </a:lnTo>
                <a:lnTo>
                  <a:pt x="0" y="1504321"/>
                </a:lnTo>
                <a:lnTo>
                  <a:pt x="0" y="0"/>
                </a:lnTo>
                <a:close/>
              </a:path>
            </a:pathLst>
          </a:custGeom>
          <a:solidFill>
            <a:srgbClr val="7D8A99">
              <a:alpha val="10196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6256982" y="3008643"/>
            <a:ext cx="34984" cy="1504321"/>
          </a:xfrm>
          <a:custGeom>
            <a:avLst/>
            <a:gdLst/>
            <a:ahLst/>
            <a:cxnLst/>
            <a:rect l="l" t="t" r="r" b="b"/>
            <a:pathLst>
              <a:path w="34984" h="1504321">
                <a:moveTo>
                  <a:pt x="0" y="0"/>
                </a:moveTo>
                <a:lnTo>
                  <a:pt x="34984" y="0"/>
                </a:lnTo>
                <a:lnTo>
                  <a:pt x="34984" y="1504321"/>
                </a:lnTo>
                <a:lnTo>
                  <a:pt x="0" y="1504321"/>
                </a:lnTo>
                <a:lnTo>
                  <a:pt x="0" y="0"/>
                </a:lnTo>
                <a:close/>
              </a:path>
            </a:pathLst>
          </a:custGeom>
          <a:solidFill>
            <a:srgbClr val="7D8A99"/>
          </a:solidFill>
          <a:ln/>
        </p:spPr>
      </p:sp>
      <p:sp>
        <p:nvSpPr>
          <p:cNvPr id="21" name="Shape 18"/>
          <p:cNvSpPr/>
          <p:nvPr/>
        </p:nvSpPr>
        <p:spPr>
          <a:xfrm>
            <a:off x="6379427" y="3131088"/>
            <a:ext cx="489779" cy="489779"/>
          </a:xfrm>
          <a:custGeom>
            <a:avLst/>
            <a:gdLst/>
            <a:ahLst/>
            <a:cxnLst/>
            <a:rect l="l" t="t" r="r" b="b"/>
            <a:pathLst>
              <a:path w="489779" h="489779">
                <a:moveTo>
                  <a:pt x="244890" y="0"/>
                </a:moveTo>
                <a:lnTo>
                  <a:pt x="244890" y="0"/>
                </a:lnTo>
                <a:cubicBezTo>
                  <a:pt x="380048" y="0"/>
                  <a:pt x="489779" y="109731"/>
                  <a:pt x="489779" y="244890"/>
                </a:cubicBezTo>
                <a:lnTo>
                  <a:pt x="489779" y="244890"/>
                </a:lnTo>
                <a:cubicBezTo>
                  <a:pt x="489779" y="380048"/>
                  <a:pt x="380048" y="489779"/>
                  <a:pt x="244890" y="489779"/>
                </a:cubicBezTo>
                <a:lnTo>
                  <a:pt x="244890" y="489779"/>
                </a:lnTo>
                <a:cubicBezTo>
                  <a:pt x="109731" y="489779"/>
                  <a:pt x="0" y="380048"/>
                  <a:pt x="0" y="244890"/>
                </a:cubicBezTo>
                <a:lnTo>
                  <a:pt x="0" y="244890"/>
                </a:lnTo>
                <a:cubicBezTo>
                  <a:pt x="0" y="109731"/>
                  <a:pt x="109731" y="0"/>
                  <a:pt x="244890" y="0"/>
                </a:cubicBezTo>
                <a:close/>
              </a:path>
            </a:pathLst>
          </a:custGeom>
          <a:solidFill>
            <a:srgbClr val="7D8A99"/>
          </a:solidFill>
          <a:ln/>
        </p:spPr>
      </p:sp>
      <p:sp>
        <p:nvSpPr>
          <p:cNvPr id="22" name="Text 19"/>
          <p:cNvSpPr/>
          <p:nvPr/>
        </p:nvSpPr>
        <p:spPr>
          <a:xfrm>
            <a:off x="6569107" y="3236040"/>
            <a:ext cx="218651" cy="279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3" b="1" dirty="0">
                <a:solidFill>
                  <a:srgbClr val="1A1D2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974159" y="3113595"/>
            <a:ext cx="1067019" cy="279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3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Tier 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974159" y="3393469"/>
            <a:ext cx="1040780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0" b="1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Impact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379427" y="3673343"/>
            <a:ext cx="2693785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Coverage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379427" y="3883248"/>
            <a:ext cx="2728769" cy="279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3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20-30%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9109699" y="3673343"/>
            <a:ext cx="2693785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Budget Allocation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9109699" y="3883248"/>
            <a:ext cx="2728769" cy="279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3" b="1" dirty="0">
                <a:solidFill>
                  <a:srgbClr val="7D8A99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35-40%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379427" y="4198106"/>
            <a:ext cx="5422554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Secondary priority areas with </a:t>
            </a:r>
            <a:pPr>
              <a:lnSpc>
                <a:spcPct val="130000"/>
              </a:lnSpc>
            </a:pPr>
            <a:r>
              <a:rPr lang="en-US" sz="1102" b="1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measurable risk factors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256982" y="4582933"/>
            <a:ext cx="5579983" cy="1504321"/>
          </a:xfrm>
          <a:custGeom>
            <a:avLst/>
            <a:gdLst/>
            <a:ahLst/>
            <a:cxnLst/>
            <a:rect l="l" t="t" r="r" b="b"/>
            <a:pathLst>
              <a:path w="5579983" h="1504321">
                <a:moveTo>
                  <a:pt x="0" y="0"/>
                </a:moveTo>
                <a:lnTo>
                  <a:pt x="5579983" y="0"/>
                </a:lnTo>
                <a:lnTo>
                  <a:pt x="5579983" y="1504321"/>
                </a:lnTo>
                <a:lnTo>
                  <a:pt x="0" y="1504321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5098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6256982" y="4582933"/>
            <a:ext cx="34984" cy="1504321"/>
          </a:xfrm>
          <a:custGeom>
            <a:avLst/>
            <a:gdLst/>
            <a:ahLst/>
            <a:cxnLst/>
            <a:rect l="l" t="t" r="r" b="b"/>
            <a:pathLst>
              <a:path w="34984" h="1504321">
                <a:moveTo>
                  <a:pt x="0" y="0"/>
                </a:moveTo>
                <a:lnTo>
                  <a:pt x="34984" y="0"/>
                </a:lnTo>
                <a:lnTo>
                  <a:pt x="34984" y="1504321"/>
                </a:lnTo>
                <a:lnTo>
                  <a:pt x="0" y="1504321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6379427" y="4705377"/>
            <a:ext cx="489779" cy="489779"/>
          </a:xfrm>
          <a:custGeom>
            <a:avLst/>
            <a:gdLst/>
            <a:ahLst/>
            <a:cxnLst/>
            <a:rect l="l" t="t" r="r" b="b"/>
            <a:pathLst>
              <a:path w="489779" h="489779">
                <a:moveTo>
                  <a:pt x="244890" y="0"/>
                </a:moveTo>
                <a:lnTo>
                  <a:pt x="244890" y="0"/>
                </a:lnTo>
                <a:cubicBezTo>
                  <a:pt x="380048" y="0"/>
                  <a:pt x="489779" y="109731"/>
                  <a:pt x="489779" y="244890"/>
                </a:cubicBezTo>
                <a:lnTo>
                  <a:pt x="489779" y="244890"/>
                </a:lnTo>
                <a:cubicBezTo>
                  <a:pt x="489779" y="380048"/>
                  <a:pt x="380048" y="489779"/>
                  <a:pt x="244890" y="489779"/>
                </a:cubicBezTo>
                <a:lnTo>
                  <a:pt x="244890" y="489779"/>
                </a:lnTo>
                <a:cubicBezTo>
                  <a:pt x="109731" y="489779"/>
                  <a:pt x="0" y="380048"/>
                  <a:pt x="0" y="244890"/>
                </a:cubicBezTo>
                <a:lnTo>
                  <a:pt x="0" y="244890"/>
                </a:lnTo>
                <a:cubicBezTo>
                  <a:pt x="0" y="109731"/>
                  <a:pt x="109731" y="0"/>
                  <a:pt x="244890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6464428" y="4810330"/>
            <a:ext cx="428557" cy="279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3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3-4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974159" y="4687885"/>
            <a:ext cx="979558" cy="279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3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Tier 3-4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6974159" y="4967759"/>
            <a:ext cx="953320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0" b="1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Maintenance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379427" y="5247633"/>
            <a:ext cx="2693785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Coverage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6379427" y="5457538"/>
            <a:ext cx="2728769" cy="279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3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50-70%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9109699" y="5247633"/>
            <a:ext cx="2693785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Budget Allocation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9109699" y="5457538"/>
            <a:ext cx="2728769" cy="279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3" b="1" dirty="0">
                <a:solidFill>
                  <a:srgbClr val="7D8A99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5-10%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6379427" y="5772396"/>
            <a:ext cx="5422554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Low-risk areas requiring </a:t>
            </a:r>
            <a:pPr>
              <a:lnSpc>
                <a:spcPct val="130000"/>
              </a:lnSpc>
            </a:pPr>
            <a:r>
              <a:rPr lang="en-US" sz="1102" b="1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minimal intervention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2852034" y="6661760"/>
            <a:ext cx="6507065" cy="454795"/>
          </a:xfrm>
          <a:custGeom>
            <a:avLst/>
            <a:gdLst/>
            <a:ahLst/>
            <a:cxnLst/>
            <a:rect l="l" t="t" r="r" b="b"/>
            <a:pathLst>
              <a:path w="6507065" h="454795">
                <a:moveTo>
                  <a:pt x="0" y="0"/>
                </a:moveTo>
                <a:lnTo>
                  <a:pt x="6507065" y="0"/>
                </a:lnTo>
                <a:lnTo>
                  <a:pt x="6507065" y="454795"/>
                </a:lnTo>
                <a:lnTo>
                  <a:pt x="0" y="454795"/>
                </a:lnTo>
                <a:lnTo>
                  <a:pt x="0" y="0"/>
                </a:lnTo>
                <a:close/>
              </a:path>
            </a:pathLst>
          </a:custGeom>
          <a:solidFill>
            <a:srgbClr val="4E9A8C">
              <a:alpha val="30196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2852034" y="6661760"/>
            <a:ext cx="34984" cy="454795"/>
          </a:xfrm>
          <a:custGeom>
            <a:avLst/>
            <a:gdLst/>
            <a:ahLst/>
            <a:cxnLst/>
            <a:rect l="l" t="t" r="r" b="b"/>
            <a:pathLst>
              <a:path w="34984" h="454795">
                <a:moveTo>
                  <a:pt x="0" y="0"/>
                </a:moveTo>
                <a:lnTo>
                  <a:pt x="34984" y="0"/>
                </a:lnTo>
                <a:lnTo>
                  <a:pt x="34984" y="454795"/>
                </a:lnTo>
                <a:lnTo>
                  <a:pt x="0" y="454795"/>
                </a:lnTo>
                <a:lnTo>
                  <a:pt x="0" y="0"/>
                </a:lnTo>
                <a:close/>
              </a:path>
            </a:pathLst>
          </a:custGeom>
          <a:solidFill>
            <a:srgbClr val="4E9A8C"/>
          </a:solidFill>
          <a:ln/>
        </p:spPr>
      </p:sp>
      <p:sp>
        <p:nvSpPr>
          <p:cNvPr id="43" name="Text 40"/>
          <p:cNvSpPr/>
          <p:nvPr/>
        </p:nvSpPr>
        <p:spPr>
          <a:xfrm>
            <a:off x="3175638" y="6766713"/>
            <a:ext cx="5877349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77" b="1" dirty="0">
                <a:solidFill>
                  <a:srgbClr val="E0E2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Prevents </a:t>
            </a:r>
            <a:pPr algn="ctr">
              <a:lnSpc>
                <a:spcPct val="120000"/>
              </a:lnSpc>
            </a:pPr>
            <a:r>
              <a:rPr lang="en-US" sz="1377" b="1" dirty="0">
                <a:solidFill>
                  <a:srgbClr val="4E9A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disproportionate number of accidents</a:t>
            </a:r>
            <a:pPr algn="ctr">
              <a:lnSpc>
                <a:spcPct val="120000"/>
              </a:lnSpc>
            </a:pPr>
            <a:r>
              <a:rPr lang="en-US" sz="1377" b="1" dirty="0">
                <a:solidFill>
                  <a:srgbClr val="E0E2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through intelligent targeting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7028" y="337028"/>
            <a:ext cx="11720160" cy="404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85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Board Decision: Three Approvals Needed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37028" y="842571"/>
            <a:ext cx="1078491" cy="33703"/>
          </a:xfrm>
          <a:custGeom>
            <a:avLst/>
            <a:gdLst/>
            <a:ahLst/>
            <a:cxnLst/>
            <a:rect l="l" t="t" r="r" b="b"/>
            <a:pathLst>
              <a:path w="1078491" h="33703">
                <a:moveTo>
                  <a:pt x="0" y="0"/>
                </a:moveTo>
                <a:lnTo>
                  <a:pt x="1078491" y="0"/>
                </a:lnTo>
                <a:lnTo>
                  <a:pt x="1078491" y="33703"/>
                </a:lnTo>
                <a:lnTo>
                  <a:pt x="0" y="33703"/>
                </a:lnTo>
                <a:lnTo>
                  <a:pt x="0" y="0"/>
                </a:lnTo>
                <a:close/>
              </a:path>
            </a:pathLst>
          </a:custGeom>
          <a:solidFill>
            <a:srgbClr val="4E9A8C"/>
          </a:solidFill>
          <a:ln/>
        </p:spPr>
      </p:sp>
      <p:sp>
        <p:nvSpPr>
          <p:cNvPr id="4" name="Shape 2"/>
          <p:cNvSpPr/>
          <p:nvPr/>
        </p:nvSpPr>
        <p:spPr>
          <a:xfrm>
            <a:off x="353880" y="1027936"/>
            <a:ext cx="3673609" cy="6032807"/>
          </a:xfrm>
          <a:custGeom>
            <a:avLst/>
            <a:gdLst/>
            <a:ahLst/>
            <a:cxnLst/>
            <a:rect l="l" t="t" r="r" b="b"/>
            <a:pathLst>
              <a:path w="3673609" h="6032807">
                <a:moveTo>
                  <a:pt x="0" y="0"/>
                </a:moveTo>
                <a:lnTo>
                  <a:pt x="3673609" y="0"/>
                </a:lnTo>
                <a:lnTo>
                  <a:pt x="3673609" y="6032807"/>
                </a:lnTo>
                <a:lnTo>
                  <a:pt x="0" y="6032807"/>
                </a:lnTo>
                <a:lnTo>
                  <a:pt x="0" y="0"/>
                </a:lnTo>
                <a:close/>
              </a:path>
            </a:pathLst>
          </a:custGeom>
          <a:solidFill>
            <a:srgbClr val="4E9A8C">
              <a:alpha val="20000"/>
            </a:srgbClr>
          </a:solidFill>
          <a:ln w="50800">
            <a:solidFill>
              <a:srgbClr val="4E9A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52339" y="1247005"/>
            <a:ext cx="674057" cy="674057"/>
          </a:xfrm>
          <a:custGeom>
            <a:avLst/>
            <a:gdLst/>
            <a:ahLst/>
            <a:cxnLst/>
            <a:rect l="l" t="t" r="r" b="b"/>
            <a:pathLst>
              <a:path w="674057" h="674057">
                <a:moveTo>
                  <a:pt x="337028" y="0"/>
                </a:moveTo>
                <a:lnTo>
                  <a:pt x="337028" y="0"/>
                </a:lnTo>
                <a:cubicBezTo>
                  <a:pt x="523039" y="0"/>
                  <a:pt x="674057" y="151017"/>
                  <a:pt x="674057" y="337028"/>
                </a:cubicBezTo>
                <a:lnTo>
                  <a:pt x="674057" y="337028"/>
                </a:lnTo>
                <a:cubicBezTo>
                  <a:pt x="674057" y="523039"/>
                  <a:pt x="523039" y="674057"/>
                  <a:pt x="337028" y="674057"/>
                </a:cubicBezTo>
                <a:lnTo>
                  <a:pt x="337028" y="674057"/>
                </a:lnTo>
                <a:cubicBezTo>
                  <a:pt x="151017" y="674057"/>
                  <a:pt x="0" y="523039"/>
                  <a:pt x="0" y="337028"/>
                </a:cubicBezTo>
                <a:lnTo>
                  <a:pt x="0" y="337028"/>
                </a:lnTo>
                <a:cubicBezTo>
                  <a:pt x="0" y="151017"/>
                  <a:pt x="151017" y="0"/>
                  <a:pt x="337028" y="0"/>
                </a:cubicBezTo>
                <a:close/>
              </a:path>
            </a:pathLst>
          </a:custGeom>
          <a:solidFill>
            <a:srgbClr val="4E9A8C"/>
          </a:solidFill>
          <a:ln/>
        </p:spPr>
      </p:sp>
      <p:sp>
        <p:nvSpPr>
          <p:cNvPr id="6" name="Text 4"/>
          <p:cNvSpPr/>
          <p:nvPr/>
        </p:nvSpPr>
        <p:spPr>
          <a:xfrm>
            <a:off x="2055346" y="1415519"/>
            <a:ext cx="269623" cy="337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388" b="1" dirty="0">
                <a:solidFill>
                  <a:srgbClr val="1A1D2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9755" y="2055873"/>
            <a:ext cx="3361858" cy="30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90" b="1" dirty="0">
                <a:solidFill>
                  <a:srgbClr val="4E9A8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Approve Phase 1 Funding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9800" y="2820769"/>
            <a:ext cx="3218621" cy="842571"/>
          </a:xfrm>
          <a:custGeom>
            <a:avLst/>
            <a:gdLst/>
            <a:ahLst/>
            <a:cxnLst/>
            <a:rect l="l" t="t" r="r" b="b"/>
            <a:pathLst>
              <a:path w="3218621" h="842571">
                <a:moveTo>
                  <a:pt x="0" y="0"/>
                </a:moveTo>
                <a:lnTo>
                  <a:pt x="3218621" y="0"/>
                </a:lnTo>
                <a:lnTo>
                  <a:pt x="3218621" y="842571"/>
                </a:lnTo>
                <a:lnTo>
                  <a:pt x="0" y="842571"/>
                </a:lnTo>
                <a:lnTo>
                  <a:pt x="0" y="0"/>
                </a:ln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89800" y="2820769"/>
            <a:ext cx="33703" cy="842571"/>
          </a:xfrm>
          <a:custGeom>
            <a:avLst/>
            <a:gdLst/>
            <a:ahLst/>
            <a:cxnLst/>
            <a:rect l="l" t="t" r="r" b="b"/>
            <a:pathLst>
              <a:path w="33703" h="842571">
                <a:moveTo>
                  <a:pt x="0" y="0"/>
                </a:moveTo>
                <a:lnTo>
                  <a:pt x="33703" y="0"/>
                </a:lnTo>
                <a:lnTo>
                  <a:pt x="33703" y="842571"/>
                </a:lnTo>
                <a:lnTo>
                  <a:pt x="0" y="842571"/>
                </a:lnTo>
                <a:lnTo>
                  <a:pt x="0" y="0"/>
                </a:lnTo>
                <a:close/>
              </a:path>
            </a:pathLst>
          </a:custGeom>
          <a:solidFill>
            <a:srgbClr val="4E9A8C"/>
          </a:solidFill>
          <a:ln/>
        </p:spPr>
      </p:sp>
      <p:sp>
        <p:nvSpPr>
          <p:cNvPr id="10" name="Text 8"/>
          <p:cNvSpPr/>
          <p:nvPr/>
        </p:nvSpPr>
        <p:spPr>
          <a:xfrm>
            <a:off x="741462" y="2955581"/>
            <a:ext cx="3007978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4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Investment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1462" y="3225203"/>
            <a:ext cx="3058532" cy="30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9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$4.5-6.5M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9800" y="3798151"/>
            <a:ext cx="3218621" cy="842571"/>
          </a:xfrm>
          <a:custGeom>
            <a:avLst/>
            <a:gdLst/>
            <a:ahLst/>
            <a:cxnLst/>
            <a:rect l="l" t="t" r="r" b="b"/>
            <a:pathLst>
              <a:path w="3218621" h="842571">
                <a:moveTo>
                  <a:pt x="0" y="0"/>
                </a:moveTo>
                <a:lnTo>
                  <a:pt x="3218621" y="0"/>
                </a:lnTo>
                <a:lnTo>
                  <a:pt x="3218621" y="842571"/>
                </a:lnTo>
                <a:lnTo>
                  <a:pt x="0" y="842571"/>
                </a:lnTo>
                <a:lnTo>
                  <a:pt x="0" y="0"/>
                </a:ln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89800" y="3798151"/>
            <a:ext cx="33703" cy="842571"/>
          </a:xfrm>
          <a:custGeom>
            <a:avLst/>
            <a:gdLst/>
            <a:ahLst/>
            <a:cxnLst/>
            <a:rect l="l" t="t" r="r" b="b"/>
            <a:pathLst>
              <a:path w="33703" h="842571">
                <a:moveTo>
                  <a:pt x="0" y="0"/>
                </a:moveTo>
                <a:lnTo>
                  <a:pt x="33703" y="0"/>
                </a:lnTo>
                <a:lnTo>
                  <a:pt x="33703" y="842571"/>
                </a:lnTo>
                <a:lnTo>
                  <a:pt x="0" y="842571"/>
                </a:lnTo>
                <a:lnTo>
                  <a:pt x="0" y="0"/>
                </a:lnTo>
                <a:close/>
              </a:path>
            </a:pathLst>
          </a:custGeom>
          <a:solidFill>
            <a:srgbClr val="4E9A8C"/>
          </a:solidFill>
          <a:ln/>
        </p:spPr>
      </p:sp>
      <p:sp>
        <p:nvSpPr>
          <p:cNvPr id="14" name="Text 12"/>
          <p:cNvSpPr/>
          <p:nvPr/>
        </p:nvSpPr>
        <p:spPr>
          <a:xfrm>
            <a:off x="741462" y="3932963"/>
            <a:ext cx="3007978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4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Timeline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41462" y="4202585"/>
            <a:ext cx="3058532" cy="30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9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6 Months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89800" y="4775534"/>
            <a:ext cx="3218621" cy="1044788"/>
          </a:xfrm>
          <a:custGeom>
            <a:avLst/>
            <a:gdLst/>
            <a:ahLst/>
            <a:cxnLst/>
            <a:rect l="l" t="t" r="r" b="b"/>
            <a:pathLst>
              <a:path w="3218621" h="1044788">
                <a:moveTo>
                  <a:pt x="0" y="0"/>
                </a:moveTo>
                <a:lnTo>
                  <a:pt x="3218621" y="0"/>
                </a:lnTo>
                <a:lnTo>
                  <a:pt x="3218621" y="1044788"/>
                </a:lnTo>
                <a:lnTo>
                  <a:pt x="0" y="1044788"/>
                </a:lnTo>
                <a:lnTo>
                  <a:pt x="0" y="0"/>
                </a:ln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89800" y="4775534"/>
            <a:ext cx="33703" cy="1044788"/>
          </a:xfrm>
          <a:custGeom>
            <a:avLst/>
            <a:gdLst/>
            <a:ahLst/>
            <a:cxnLst/>
            <a:rect l="l" t="t" r="r" b="b"/>
            <a:pathLst>
              <a:path w="33703" h="1044788">
                <a:moveTo>
                  <a:pt x="0" y="0"/>
                </a:moveTo>
                <a:lnTo>
                  <a:pt x="33703" y="0"/>
                </a:lnTo>
                <a:lnTo>
                  <a:pt x="33703" y="1044788"/>
                </a:lnTo>
                <a:lnTo>
                  <a:pt x="0" y="1044788"/>
                </a:lnTo>
                <a:lnTo>
                  <a:pt x="0" y="0"/>
                </a:lnTo>
                <a:close/>
              </a:path>
            </a:pathLst>
          </a:custGeom>
          <a:solidFill>
            <a:srgbClr val="4E9A8C"/>
          </a:solidFill>
          <a:ln/>
        </p:spPr>
      </p:sp>
      <p:sp>
        <p:nvSpPr>
          <p:cNvPr id="18" name="Text 16"/>
          <p:cNvSpPr/>
          <p:nvPr/>
        </p:nvSpPr>
        <p:spPr>
          <a:xfrm>
            <a:off x="741462" y="4910345"/>
            <a:ext cx="3007978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4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 Impact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1462" y="5179968"/>
            <a:ext cx="3033255" cy="269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2" b="1" dirty="0">
                <a:solidFill>
                  <a:srgbClr val="4E9A8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25-35%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1462" y="5449590"/>
            <a:ext cx="3007978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4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Accident Reduction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2948" y="6290318"/>
            <a:ext cx="3235472" cy="16851"/>
          </a:xfrm>
          <a:custGeom>
            <a:avLst/>
            <a:gdLst/>
            <a:ahLst/>
            <a:cxnLst/>
            <a:rect l="l" t="t" r="r" b="b"/>
            <a:pathLst>
              <a:path w="3235472" h="16851">
                <a:moveTo>
                  <a:pt x="0" y="0"/>
                </a:moveTo>
                <a:lnTo>
                  <a:pt x="3235472" y="0"/>
                </a:lnTo>
                <a:lnTo>
                  <a:pt x="3235472" y="16851"/>
                </a:lnTo>
                <a:lnTo>
                  <a:pt x="0" y="16851"/>
                </a:lnTo>
                <a:lnTo>
                  <a:pt x="0" y="0"/>
                </a:lnTo>
                <a:close/>
              </a:path>
            </a:pathLst>
          </a:custGeom>
          <a:solidFill>
            <a:srgbClr val="4E9A8C"/>
          </a:solidFill>
          <a:ln/>
        </p:spPr>
      </p:sp>
      <p:sp>
        <p:nvSpPr>
          <p:cNvPr id="22" name="Shape 20"/>
          <p:cNvSpPr/>
          <p:nvPr/>
        </p:nvSpPr>
        <p:spPr>
          <a:xfrm>
            <a:off x="581374" y="6509386"/>
            <a:ext cx="320177" cy="320177"/>
          </a:xfrm>
          <a:custGeom>
            <a:avLst/>
            <a:gdLst/>
            <a:ahLst/>
            <a:cxnLst/>
            <a:rect l="l" t="t" r="r" b="b"/>
            <a:pathLst>
              <a:path w="320177" h="320177">
                <a:moveTo>
                  <a:pt x="0" y="0"/>
                </a:moveTo>
                <a:lnTo>
                  <a:pt x="320177" y="0"/>
                </a:lnTo>
                <a:lnTo>
                  <a:pt x="320177" y="320177"/>
                </a:lnTo>
                <a:lnTo>
                  <a:pt x="0" y="32017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4E9A8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7737" y="6585218"/>
            <a:ext cx="147450" cy="168514"/>
          </a:xfrm>
          <a:custGeom>
            <a:avLst/>
            <a:gdLst/>
            <a:ahLst/>
            <a:cxnLst/>
            <a:rect l="l" t="t" r="r" b="b"/>
            <a:pathLst>
              <a:path w="147450" h="168514">
                <a:moveTo>
                  <a:pt x="143105" y="23072"/>
                </a:moveTo>
                <a:cubicBezTo>
                  <a:pt x="147812" y="26495"/>
                  <a:pt x="148865" y="33077"/>
                  <a:pt x="145442" y="37784"/>
                </a:cubicBezTo>
                <a:lnTo>
                  <a:pt x="61185" y="153638"/>
                </a:lnTo>
                <a:cubicBezTo>
                  <a:pt x="59375" y="156139"/>
                  <a:pt x="56577" y="157686"/>
                  <a:pt x="53484" y="157949"/>
                </a:cubicBezTo>
                <a:cubicBezTo>
                  <a:pt x="50390" y="158212"/>
                  <a:pt x="47395" y="157060"/>
                  <a:pt x="45222" y="154888"/>
                </a:cubicBezTo>
                <a:lnTo>
                  <a:pt x="3094" y="112760"/>
                </a:lnTo>
                <a:cubicBezTo>
                  <a:pt x="-1020" y="108646"/>
                  <a:pt x="-1020" y="101964"/>
                  <a:pt x="3094" y="97850"/>
                </a:cubicBezTo>
                <a:cubicBezTo>
                  <a:pt x="7208" y="93736"/>
                  <a:pt x="13889" y="93736"/>
                  <a:pt x="18003" y="97850"/>
                </a:cubicBezTo>
                <a:lnTo>
                  <a:pt x="51410" y="131257"/>
                </a:lnTo>
                <a:lnTo>
                  <a:pt x="128426" y="25376"/>
                </a:lnTo>
                <a:cubicBezTo>
                  <a:pt x="131849" y="20669"/>
                  <a:pt x="138432" y="19616"/>
                  <a:pt x="143138" y="23039"/>
                </a:cubicBezTo>
                <a:close/>
              </a:path>
            </a:pathLst>
          </a:custGeom>
          <a:solidFill>
            <a:srgbClr val="4E9A8C"/>
          </a:solidFill>
          <a:ln/>
        </p:spPr>
      </p:sp>
      <p:sp>
        <p:nvSpPr>
          <p:cNvPr id="24" name="Text 22"/>
          <p:cNvSpPr/>
          <p:nvPr/>
        </p:nvSpPr>
        <p:spPr>
          <a:xfrm>
            <a:off x="1011085" y="6534663"/>
            <a:ext cx="1011085" cy="269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2" b="1" dirty="0">
                <a:solidFill>
                  <a:srgbClr val="4E9A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APPROVE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60907" y="1027936"/>
            <a:ext cx="3673609" cy="6032807"/>
          </a:xfrm>
          <a:custGeom>
            <a:avLst/>
            <a:gdLst/>
            <a:ahLst/>
            <a:cxnLst/>
            <a:rect l="l" t="t" r="r" b="b"/>
            <a:pathLst>
              <a:path w="3673609" h="6032807">
                <a:moveTo>
                  <a:pt x="0" y="0"/>
                </a:moveTo>
                <a:lnTo>
                  <a:pt x="3673609" y="0"/>
                </a:lnTo>
                <a:lnTo>
                  <a:pt x="3673609" y="6032807"/>
                </a:lnTo>
                <a:lnTo>
                  <a:pt x="0" y="6032807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20000"/>
            </a:srgbClr>
          </a:solidFill>
          <a:ln w="50800">
            <a:solidFill>
              <a:srgbClr val="4A6C8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59367" y="1247005"/>
            <a:ext cx="674057" cy="674057"/>
          </a:xfrm>
          <a:custGeom>
            <a:avLst/>
            <a:gdLst/>
            <a:ahLst/>
            <a:cxnLst/>
            <a:rect l="l" t="t" r="r" b="b"/>
            <a:pathLst>
              <a:path w="674057" h="674057">
                <a:moveTo>
                  <a:pt x="337028" y="0"/>
                </a:moveTo>
                <a:lnTo>
                  <a:pt x="337028" y="0"/>
                </a:lnTo>
                <a:cubicBezTo>
                  <a:pt x="523039" y="0"/>
                  <a:pt x="674057" y="151017"/>
                  <a:pt x="674057" y="337028"/>
                </a:cubicBezTo>
                <a:lnTo>
                  <a:pt x="674057" y="337028"/>
                </a:lnTo>
                <a:cubicBezTo>
                  <a:pt x="674057" y="523039"/>
                  <a:pt x="523039" y="674057"/>
                  <a:pt x="337028" y="674057"/>
                </a:cubicBezTo>
                <a:lnTo>
                  <a:pt x="337028" y="674057"/>
                </a:lnTo>
                <a:cubicBezTo>
                  <a:pt x="151017" y="674057"/>
                  <a:pt x="0" y="523039"/>
                  <a:pt x="0" y="337028"/>
                </a:cubicBezTo>
                <a:lnTo>
                  <a:pt x="0" y="337028"/>
                </a:lnTo>
                <a:cubicBezTo>
                  <a:pt x="0" y="151017"/>
                  <a:pt x="151017" y="0"/>
                  <a:pt x="337028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7" name="Text 25"/>
          <p:cNvSpPr/>
          <p:nvPr/>
        </p:nvSpPr>
        <p:spPr>
          <a:xfrm>
            <a:off x="5940783" y="1415519"/>
            <a:ext cx="311751" cy="337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388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16783" y="2055873"/>
            <a:ext cx="3361858" cy="30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90" b="1" dirty="0">
                <a:solidFill>
                  <a:srgbClr val="4A6C8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Establish Governance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96827" y="3022986"/>
            <a:ext cx="3218621" cy="775165"/>
          </a:xfrm>
          <a:custGeom>
            <a:avLst/>
            <a:gdLst/>
            <a:ahLst/>
            <a:cxnLst/>
            <a:rect l="l" t="t" r="r" b="b"/>
            <a:pathLst>
              <a:path w="3218621" h="775165">
                <a:moveTo>
                  <a:pt x="0" y="0"/>
                </a:moveTo>
                <a:lnTo>
                  <a:pt x="3218621" y="0"/>
                </a:lnTo>
                <a:lnTo>
                  <a:pt x="3218621" y="775165"/>
                </a:lnTo>
                <a:lnTo>
                  <a:pt x="0" y="775165"/>
                </a:lnTo>
                <a:lnTo>
                  <a:pt x="0" y="0"/>
                </a:ln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496827" y="3022986"/>
            <a:ext cx="33703" cy="775165"/>
          </a:xfrm>
          <a:custGeom>
            <a:avLst/>
            <a:gdLst/>
            <a:ahLst/>
            <a:cxnLst/>
            <a:rect l="l" t="t" r="r" b="b"/>
            <a:pathLst>
              <a:path w="33703" h="775165">
                <a:moveTo>
                  <a:pt x="0" y="0"/>
                </a:moveTo>
                <a:lnTo>
                  <a:pt x="33703" y="0"/>
                </a:lnTo>
                <a:lnTo>
                  <a:pt x="33703" y="775165"/>
                </a:lnTo>
                <a:lnTo>
                  <a:pt x="0" y="775165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1" name="Shape 29"/>
          <p:cNvSpPr/>
          <p:nvPr/>
        </p:nvSpPr>
        <p:spPr>
          <a:xfrm>
            <a:off x="4648490" y="3191500"/>
            <a:ext cx="210643" cy="168514"/>
          </a:xfrm>
          <a:custGeom>
            <a:avLst/>
            <a:gdLst/>
            <a:ahLst/>
            <a:cxnLst/>
            <a:rect l="l" t="t" r="r" b="b"/>
            <a:pathLst>
              <a:path w="210643" h="168514">
                <a:moveTo>
                  <a:pt x="105321" y="5266"/>
                </a:moveTo>
                <a:cubicBezTo>
                  <a:pt x="124213" y="5266"/>
                  <a:pt x="139551" y="20604"/>
                  <a:pt x="139551" y="39496"/>
                </a:cubicBezTo>
                <a:cubicBezTo>
                  <a:pt x="139551" y="58387"/>
                  <a:pt x="124213" y="73725"/>
                  <a:pt x="105321" y="73725"/>
                </a:cubicBezTo>
                <a:cubicBezTo>
                  <a:pt x="86430" y="73725"/>
                  <a:pt x="71092" y="58387"/>
                  <a:pt x="71092" y="39496"/>
                </a:cubicBezTo>
                <a:cubicBezTo>
                  <a:pt x="71092" y="20604"/>
                  <a:pt x="86430" y="5266"/>
                  <a:pt x="105321" y="5266"/>
                </a:cubicBezTo>
                <a:close/>
                <a:moveTo>
                  <a:pt x="31596" y="28963"/>
                </a:moveTo>
                <a:cubicBezTo>
                  <a:pt x="44675" y="28963"/>
                  <a:pt x="55294" y="39582"/>
                  <a:pt x="55294" y="52661"/>
                </a:cubicBezTo>
                <a:cubicBezTo>
                  <a:pt x="55294" y="65740"/>
                  <a:pt x="44675" y="76358"/>
                  <a:pt x="31596" y="76358"/>
                </a:cubicBezTo>
                <a:cubicBezTo>
                  <a:pt x="18518" y="76358"/>
                  <a:pt x="7899" y="65740"/>
                  <a:pt x="7899" y="52661"/>
                </a:cubicBezTo>
                <a:cubicBezTo>
                  <a:pt x="7899" y="39582"/>
                  <a:pt x="18518" y="28963"/>
                  <a:pt x="31596" y="28963"/>
                </a:cubicBezTo>
                <a:close/>
                <a:moveTo>
                  <a:pt x="0" y="136918"/>
                </a:moveTo>
                <a:cubicBezTo>
                  <a:pt x="0" y="113648"/>
                  <a:pt x="18859" y="94789"/>
                  <a:pt x="42129" y="94789"/>
                </a:cubicBezTo>
                <a:cubicBezTo>
                  <a:pt x="46341" y="94789"/>
                  <a:pt x="50423" y="95415"/>
                  <a:pt x="54273" y="96567"/>
                </a:cubicBezTo>
                <a:cubicBezTo>
                  <a:pt x="43445" y="108678"/>
                  <a:pt x="36862" y="124674"/>
                  <a:pt x="36862" y="142184"/>
                </a:cubicBezTo>
                <a:lnTo>
                  <a:pt x="36862" y="147450"/>
                </a:lnTo>
                <a:cubicBezTo>
                  <a:pt x="36862" y="151202"/>
                  <a:pt x="37652" y="154757"/>
                  <a:pt x="39068" y="157982"/>
                </a:cubicBezTo>
                <a:lnTo>
                  <a:pt x="10532" y="157982"/>
                </a:lnTo>
                <a:cubicBezTo>
                  <a:pt x="4707" y="157982"/>
                  <a:pt x="0" y="153275"/>
                  <a:pt x="0" y="147450"/>
                </a:cubicBezTo>
                <a:lnTo>
                  <a:pt x="0" y="136918"/>
                </a:lnTo>
                <a:close/>
                <a:moveTo>
                  <a:pt x="171575" y="157982"/>
                </a:moveTo>
                <a:cubicBezTo>
                  <a:pt x="172990" y="154757"/>
                  <a:pt x="173780" y="151202"/>
                  <a:pt x="173780" y="147450"/>
                </a:cubicBezTo>
                <a:lnTo>
                  <a:pt x="173780" y="142184"/>
                </a:lnTo>
                <a:cubicBezTo>
                  <a:pt x="173780" y="124674"/>
                  <a:pt x="167198" y="108678"/>
                  <a:pt x="156369" y="96567"/>
                </a:cubicBezTo>
                <a:cubicBezTo>
                  <a:pt x="160220" y="95415"/>
                  <a:pt x="164301" y="94789"/>
                  <a:pt x="168514" y="94789"/>
                </a:cubicBezTo>
                <a:cubicBezTo>
                  <a:pt x="191784" y="94789"/>
                  <a:pt x="210643" y="113648"/>
                  <a:pt x="210643" y="136918"/>
                </a:cubicBezTo>
                <a:lnTo>
                  <a:pt x="210643" y="147450"/>
                </a:lnTo>
                <a:cubicBezTo>
                  <a:pt x="210643" y="153275"/>
                  <a:pt x="205936" y="157982"/>
                  <a:pt x="200111" y="157982"/>
                </a:cubicBezTo>
                <a:lnTo>
                  <a:pt x="171575" y="157982"/>
                </a:lnTo>
                <a:close/>
                <a:moveTo>
                  <a:pt x="155349" y="52661"/>
                </a:moveTo>
                <a:cubicBezTo>
                  <a:pt x="155349" y="39582"/>
                  <a:pt x="165967" y="28963"/>
                  <a:pt x="179046" y="28963"/>
                </a:cubicBezTo>
                <a:cubicBezTo>
                  <a:pt x="192125" y="28963"/>
                  <a:pt x="202744" y="39582"/>
                  <a:pt x="202744" y="52661"/>
                </a:cubicBezTo>
                <a:cubicBezTo>
                  <a:pt x="202744" y="65740"/>
                  <a:pt x="192125" y="76358"/>
                  <a:pt x="179046" y="76358"/>
                </a:cubicBezTo>
                <a:cubicBezTo>
                  <a:pt x="165967" y="76358"/>
                  <a:pt x="155349" y="65740"/>
                  <a:pt x="155349" y="52661"/>
                </a:cubicBezTo>
                <a:close/>
                <a:moveTo>
                  <a:pt x="52661" y="142184"/>
                </a:moveTo>
                <a:cubicBezTo>
                  <a:pt x="52661" y="113089"/>
                  <a:pt x="76226" y="89523"/>
                  <a:pt x="105321" y="89523"/>
                </a:cubicBezTo>
                <a:cubicBezTo>
                  <a:pt x="134416" y="89523"/>
                  <a:pt x="157982" y="113089"/>
                  <a:pt x="157982" y="142184"/>
                </a:cubicBezTo>
                <a:lnTo>
                  <a:pt x="157982" y="147450"/>
                </a:lnTo>
                <a:cubicBezTo>
                  <a:pt x="157982" y="153275"/>
                  <a:pt x="153275" y="157982"/>
                  <a:pt x="147450" y="157982"/>
                </a:cubicBezTo>
                <a:lnTo>
                  <a:pt x="63193" y="157982"/>
                </a:lnTo>
                <a:cubicBezTo>
                  <a:pt x="57367" y="157982"/>
                  <a:pt x="52661" y="153275"/>
                  <a:pt x="52661" y="147450"/>
                </a:cubicBezTo>
                <a:lnTo>
                  <a:pt x="52661" y="142184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2" name="Text 30"/>
          <p:cNvSpPr/>
          <p:nvPr/>
        </p:nvSpPr>
        <p:spPr>
          <a:xfrm>
            <a:off x="4926538" y="3157798"/>
            <a:ext cx="2274941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7" b="1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Executive Steering Committee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648490" y="3461123"/>
            <a:ext cx="2999552" cy="202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2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oversight and decision-making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496827" y="3932963"/>
            <a:ext cx="3218621" cy="775165"/>
          </a:xfrm>
          <a:custGeom>
            <a:avLst/>
            <a:gdLst/>
            <a:ahLst/>
            <a:cxnLst/>
            <a:rect l="l" t="t" r="r" b="b"/>
            <a:pathLst>
              <a:path w="3218621" h="775165">
                <a:moveTo>
                  <a:pt x="0" y="0"/>
                </a:moveTo>
                <a:lnTo>
                  <a:pt x="3218621" y="0"/>
                </a:lnTo>
                <a:lnTo>
                  <a:pt x="3218621" y="775165"/>
                </a:lnTo>
                <a:lnTo>
                  <a:pt x="0" y="775165"/>
                </a:lnTo>
                <a:lnTo>
                  <a:pt x="0" y="0"/>
                </a:ln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496827" y="3932963"/>
            <a:ext cx="33703" cy="775165"/>
          </a:xfrm>
          <a:custGeom>
            <a:avLst/>
            <a:gdLst/>
            <a:ahLst/>
            <a:cxnLst/>
            <a:rect l="l" t="t" r="r" b="b"/>
            <a:pathLst>
              <a:path w="33703" h="775165">
                <a:moveTo>
                  <a:pt x="0" y="0"/>
                </a:moveTo>
                <a:lnTo>
                  <a:pt x="33703" y="0"/>
                </a:lnTo>
                <a:lnTo>
                  <a:pt x="33703" y="775165"/>
                </a:lnTo>
                <a:lnTo>
                  <a:pt x="0" y="775165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6" name="Shape 34"/>
          <p:cNvSpPr/>
          <p:nvPr/>
        </p:nvSpPr>
        <p:spPr>
          <a:xfrm>
            <a:off x="4648490" y="4101477"/>
            <a:ext cx="210643" cy="168514"/>
          </a:xfrm>
          <a:custGeom>
            <a:avLst/>
            <a:gdLst/>
            <a:ahLst/>
            <a:cxnLst/>
            <a:rect l="l" t="t" r="r" b="b"/>
            <a:pathLst>
              <a:path w="210643" h="168514">
                <a:moveTo>
                  <a:pt x="136885" y="69282"/>
                </a:moveTo>
                <a:cubicBezTo>
                  <a:pt x="140900" y="68196"/>
                  <a:pt x="145113" y="70105"/>
                  <a:pt x="146923" y="73824"/>
                </a:cubicBezTo>
                <a:lnTo>
                  <a:pt x="153045" y="86199"/>
                </a:lnTo>
                <a:cubicBezTo>
                  <a:pt x="156435" y="86660"/>
                  <a:pt x="159759" y="87581"/>
                  <a:pt x="162886" y="88865"/>
                </a:cubicBezTo>
                <a:lnTo>
                  <a:pt x="174406" y="81196"/>
                </a:lnTo>
                <a:cubicBezTo>
                  <a:pt x="177861" y="78892"/>
                  <a:pt x="182436" y="79353"/>
                  <a:pt x="185366" y="82282"/>
                </a:cubicBezTo>
                <a:lnTo>
                  <a:pt x="191685" y="88602"/>
                </a:lnTo>
                <a:cubicBezTo>
                  <a:pt x="194614" y="91531"/>
                  <a:pt x="195075" y="96139"/>
                  <a:pt x="192771" y="99562"/>
                </a:cubicBezTo>
                <a:lnTo>
                  <a:pt x="185102" y="111048"/>
                </a:lnTo>
                <a:cubicBezTo>
                  <a:pt x="185728" y="112595"/>
                  <a:pt x="186287" y="114208"/>
                  <a:pt x="186748" y="115886"/>
                </a:cubicBezTo>
                <a:cubicBezTo>
                  <a:pt x="187209" y="117565"/>
                  <a:pt x="187505" y="119211"/>
                  <a:pt x="187735" y="120889"/>
                </a:cubicBezTo>
                <a:lnTo>
                  <a:pt x="200143" y="127011"/>
                </a:lnTo>
                <a:cubicBezTo>
                  <a:pt x="203863" y="128854"/>
                  <a:pt x="205772" y="133067"/>
                  <a:pt x="204685" y="137049"/>
                </a:cubicBezTo>
                <a:lnTo>
                  <a:pt x="202382" y="145673"/>
                </a:lnTo>
                <a:cubicBezTo>
                  <a:pt x="201295" y="149655"/>
                  <a:pt x="197576" y="152354"/>
                  <a:pt x="193429" y="152091"/>
                </a:cubicBezTo>
                <a:lnTo>
                  <a:pt x="179606" y="151202"/>
                </a:lnTo>
                <a:cubicBezTo>
                  <a:pt x="177532" y="153868"/>
                  <a:pt x="175130" y="156336"/>
                  <a:pt x="172398" y="158443"/>
                </a:cubicBezTo>
                <a:lnTo>
                  <a:pt x="173287" y="172233"/>
                </a:lnTo>
                <a:cubicBezTo>
                  <a:pt x="173550" y="176380"/>
                  <a:pt x="170851" y="180132"/>
                  <a:pt x="166869" y="181186"/>
                </a:cubicBezTo>
                <a:lnTo>
                  <a:pt x="158245" y="183490"/>
                </a:lnTo>
                <a:cubicBezTo>
                  <a:pt x="154230" y="184576"/>
                  <a:pt x="150050" y="182667"/>
                  <a:pt x="148207" y="178948"/>
                </a:cubicBezTo>
                <a:lnTo>
                  <a:pt x="142085" y="166572"/>
                </a:lnTo>
                <a:cubicBezTo>
                  <a:pt x="138695" y="166112"/>
                  <a:pt x="135371" y="165190"/>
                  <a:pt x="132244" y="163906"/>
                </a:cubicBezTo>
                <a:lnTo>
                  <a:pt x="120725" y="171575"/>
                </a:lnTo>
                <a:cubicBezTo>
                  <a:pt x="117269" y="173879"/>
                  <a:pt x="112694" y="173418"/>
                  <a:pt x="109765" y="170489"/>
                </a:cubicBezTo>
                <a:lnTo>
                  <a:pt x="103445" y="164170"/>
                </a:lnTo>
                <a:cubicBezTo>
                  <a:pt x="100516" y="161240"/>
                  <a:pt x="100055" y="156666"/>
                  <a:pt x="102359" y="153210"/>
                </a:cubicBezTo>
                <a:lnTo>
                  <a:pt x="110028" y="141690"/>
                </a:lnTo>
                <a:cubicBezTo>
                  <a:pt x="109403" y="140143"/>
                  <a:pt x="108843" y="138530"/>
                  <a:pt x="108382" y="136852"/>
                </a:cubicBezTo>
                <a:cubicBezTo>
                  <a:pt x="107921" y="135173"/>
                  <a:pt x="107625" y="133495"/>
                  <a:pt x="107395" y="131849"/>
                </a:cubicBezTo>
                <a:lnTo>
                  <a:pt x="94987" y="125727"/>
                </a:lnTo>
                <a:cubicBezTo>
                  <a:pt x="91268" y="123884"/>
                  <a:pt x="89391" y="119671"/>
                  <a:pt x="90445" y="115689"/>
                </a:cubicBezTo>
                <a:lnTo>
                  <a:pt x="92749" y="107066"/>
                </a:lnTo>
                <a:cubicBezTo>
                  <a:pt x="93835" y="103083"/>
                  <a:pt x="97554" y="100384"/>
                  <a:pt x="101701" y="100648"/>
                </a:cubicBezTo>
                <a:lnTo>
                  <a:pt x="115491" y="101536"/>
                </a:lnTo>
                <a:cubicBezTo>
                  <a:pt x="117565" y="98870"/>
                  <a:pt x="119968" y="96402"/>
                  <a:pt x="122699" y="94296"/>
                </a:cubicBezTo>
                <a:lnTo>
                  <a:pt x="121811" y="80538"/>
                </a:lnTo>
                <a:cubicBezTo>
                  <a:pt x="121547" y="76391"/>
                  <a:pt x="124246" y="72639"/>
                  <a:pt x="128229" y="71586"/>
                </a:cubicBezTo>
                <a:lnTo>
                  <a:pt x="136852" y="69282"/>
                </a:lnTo>
                <a:close/>
                <a:moveTo>
                  <a:pt x="147582" y="111904"/>
                </a:moveTo>
                <a:cubicBezTo>
                  <a:pt x="139589" y="111913"/>
                  <a:pt x="133107" y="118409"/>
                  <a:pt x="133116" y="126402"/>
                </a:cubicBezTo>
                <a:cubicBezTo>
                  <a:pt x="133125" y="134395"/>
                  <a:pt x="139622" y="140876"/>
                  <a:pt x="147614" y="140867"/>
                </a:cubicBezTo>
                <a:cubicBezTo>
                  <a:pt x="155607" y="140858"/>
                  <a:pt x="162089" y="134362"/>
                  <a:pt x="162080" y="126369"/>
                </a:cubicBezTo>
                <a:cubicBezTo>
                  <a:pt x="162071" y="118377"/>
                  <a:pt x="155574" y="111895"/>
                  <a:pt x="147582" y="111904"/>
                </a:cubicBezTo>
                <a:close/>
                <a:moveTo>
                  <a:pt x="74021" y="-14975"/>
                </a:moveTo>
                <a:lnTo>
                  <a:pt x="82644" y="-12671"/>
                </a:lnTo>
                <a:cubicBezTo>
                  <a:pt x="86627" y="-11585"/>
                  <a:pt x="89326" y="-7833"/>
                  <a:pt x="89062" y="-3719"/>
                </a:cubicBezTo>
                <a:lnTo>
                  <a:pt x="88174" y="10038"/>
                </a:lnTo>
                <a:cubicBezTo>
                  <a:pt x="90905" y="12145"/>
                  <a:pt x="93308" y="14580"/>
                  <a:pt x="95382" y="17279"/>
                </a:cubicBezTo>
                <a:lnTo>
                  <a:pt x="109205" y="16391"/>
                </a:lnTo>
                <a:cubicBezTo>
                  <a:pt x="113319" y="16127"/>
                  <a:pt x="117071" y="18826"/>
                  <a:pt x="118157" y="22809"/>
                </a:cubicBezTo>
                <a:lnTo>
                  <a:pt x="120461" y="31432"/>
                </a:lnTo>
                <a:cubicBezTo>
                  <a:pt x="121515" y="35414"/>
                  <a:pt x="119638" y="39627"/>
                  <a:pt x="115919" y="41470"/>
                </a:cubicBezTo>
                <a:lnTo>
                  <a:pt x="103511" y="47592"/>
                </a:lnTo>
                <a:cubicBezTo>
                  <a:pt x="103281" y="49271"/>
                  <a:pt x="102952" y="50949"/>
                  <a:pt x="102524" y="52595"/>
                </a:cubicBezTo>
                <a:cubicBezTo>
                  <a:pt x="102096" y="54240"/>
                  <a:pt x="101503" y="55886"/>
                  <a:pt x="100878" y="57433"/>
                </a:cubicBezTo>
                <a:lnTo>
                  <a:pt x="108547" y="68953"/>
                </a:lnTo>
                <a:cubicBezTo>
                  <a:pt x="110851" y="72408"/>
                  <a:pt x="110390" y="76983"/>
                  <a:pt x="107461" y="79913"/>
                </a:cubicBezTo>
                <a:lnTo>
                  <a:pt x="101141" y="86232"/>
                </a:lnTo>
                <a:cubicBezTo>
                  <a:pt x="98212" y="89161"/>
                  <a:pt x="93637" y="89622"/>
                  <a:pt x="90181" y="87318"/>
                </a:cubicBezTo>
                <a:lnTo>
                  <a:pt x="78662" y="79649"/>
                </a:lnTo>
                <a:cubicBezTo>
                  <a:pt x="75535" y="80933"/>
                  <a:pt x="72211" y="81854"/>
                  <a:pt x="68821" y="82315"/>
                </a:cubicBezTo>
                <a:lnTo>
                  <a:pt x="62699" y="94690"/>
                </a:lnTo>
                <a:cubicBezTo>
                  <a:pt x="60856" y="98410"/>
                  <a:pt x="56643" y="100286"/>
                  <a:pt x="52661" y="99232"/>
                </a:cubicBezTo>
                <a:lnTo>
                  <a:pt x="44037" y="96929"/>
                </a:lnTo>
                <a:cubicBezTo>
                  <a:pt x="40022" y="95842"/>
                  <a:pt x="37356" y="92090"/>
                  <a:pt x="37619" y="87976"/>
                </a:cubicBezTo>
                <a:lnTo>
                  <a:pt x="38508" y="74186"/>
                </a:lnTo>
                <a:cubicBezTo>
                  <a:pt x="35776" y="72079"/>
                  <a:pt x="33374" y="69644"/>
                  <a:pt x="31300" y="66945"/>
                </a:cubicBezTo>
                <a:lnTo>
                  <a:pt x="17477" y="67834"/>
                </a:lnTo>
                <a:cubicBezTo>
                  <a:pt x="13363" y="68097"/>
                  <a:pt x="9611" y="65398"/>
                  <a:pt x="8524" y="61416"/>
                </a:cubicBezTo>
                <a:lnTo>
                  <a:pt x="6221" y="52792"/>
                </a:lnTo>
                <a:cubicBezTo>
                  <a:pt x="5167" y="48810"/>
                  <a:pt x="7043" y="44597"/>
                  <a:pt x="10763" y="42754"/>
                </a:cubicBezTo>
                <a:lnTo>
                  <a:pt x="23171" y="36632"/>
                </a:lnTo>
                <a:cubicBezTo>
                  <a:pt x="23401" y="34954"/>
                  <a:pt x="23730" y="33308"/>
                  <a:pt x="24158" y="31629"/>
                </a:cubicBezTo>
                <a:cubicBezTo>
                  <a:pt x="24619" y="29951"/>
                  <a:pt x="25145" y="28338"/>
                  <a:pt x="25804" y="26791"/>
                </a:cubicBezTo>
                <a:lnTo>
                  <a:pt x="18135" y="15305"/>
                </a:lnTo>
                <a:cubicBezTo>
                  <a:pt x="15831" y="11849"/>
                  <a:pt x="16292" y="7274"/>
                  <a:pt x="19221" y="4345"/>
                </a:cubicBezTo>
                <a:lnTo>
                  <a:pt x="25540" y="-1975"/>
                </a:lnTo>
                <a:cubicBezTo>
                  <a:pt x="28470" y="-4904"/>
                  <a:pt x="33045" y="-5365"/>
                  <a:pt x="36500" y="-3061"/>
                </a:cubicBezTo>
                <a:lnTo>
                  <a:pt x="48020" y="4608"/>
                </a:lnTo>
                <a:cubicBezTo>
                  <a:pt x="51147" y="3324"/>
                  <a:pt x="54471" y="2403"/>
                  <a:pt x="57861" y="1942"/>
                </a:cubicBezTo>
                <a:lnTo>
                  <a:pt x="63983" y="-10433"/>
                </a:lnTo>
                <a:cubicBezTo>
                  <a:pt x="65826" y="-14153"/>
                  <a:pt x="70006" y="-16029"/>
                  <a:pt x="74021" y="-14975"/>
                </a:cubicBezTo>
                <a:close/>
                <a:moveTo>
                  <a:pt x="63324" y="27647"/>
                </a:moveTo>
                <a:cubicBezTo>
                  <a:pt x="55332" y="27647"/>
                  <a:pt x="48843" y="34136"/>
                  <a:pt x="48843" y="42129"/>
                </a:cubicBezTo>
                <a:cubicBezTo>
                  <a:pt x="48843" y="50121"/>
                  <a:pt x="55332" y="56610"/>
                  <a:pt x="63324" y="56610"/>
                </a:cubicBezTo>
                <a:cubicBezTo>
                  <a:pt x="71317" y="56610"/>
                  <a:pt x="77806" y="50121"/>
                  <a:pt x="77806" y="42129"/>
                </a:cubicBezTo>
                <a:cubicBezTo>
                  <a:pt x="77806" y="34136"/>
                  <a:pt x="71317" y="27647"/>
                  <a:pt x="63324" y="27647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7" name="Text 35"/>
          <p:cNvSpPr/>
          <p:nvPr/>
        </p:nvSpPr>
        <p:spPr>
          <a:xfrm>
            <a:off x="4926538" y="4067774"/>
            <a:ext cx="1980041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7" b="1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Execution Team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648490" y="4371100"/>
            <a:ext cx="2999552" cy="202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2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Day-to-day implementation management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496827" y="4842939"/>
            <a:ext cx="3218621" cy="775165"/>
          </a:xfrm>
          <a:custGeom>
            <a:avLst/>
            <a:gdLst/>
            <a:ahLst/>
            <a:cxnLst/>
            <a:rect l="l" t="t" r="r" b="b"/>
            <a:pathLst>
              <a:path w="3218621" h="775165">
                <a:moveTo>
                  <a:pt x="0" y="0"/>
                </a:moveTo>
                <a:lnTo>
                  <a:pt x="3218621" y="0"/>
                </a:lnTo>
                <a:lnTo>
                  <a:pt x="3218621" y="775165"/>
                </a:lnTo>
                <a:lnTo>
                  <a:pt x="0" y="775165"/>
                </a:lnTo>
                <a:lnTo>
                  <a:pt x="0" y="0"/>
                </a:ln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496827" y="4842939"/>
            <a:ext cx="33703" cy="775165"/>
          </a:xfrm>
          <a:custGeom>
            <a:avLst/>
            <a:gdLst/>
            <a:ahLst/>
            <a:cxnLst/>
            <a:rect l="l" t="t" r="r" b="b"/>
            <a:pathLst>
              <a:path w="33703" h="775165">
                <a:moveTo>
                  <a:pt x="0" y="0"/>
                </a:moveTo>
                <a:lnTo>
                  <a:pt x="33703" y="0"/>
                </a:lnTo>
                <a:lnTo>
                  <a:pt x="33703" y="775165"/>
                </a:lnTo>
                <a:lnTo>
                  <a:pt x="0" y="775165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41" name="Shape 39"/>
          <p:cNvSpPr/>
          <p:nvPr/>
        </p:nvSpPr>
        <p:spPr>
          <a:xfrm>
            <a:off x="4680086" y="5011453"/>
            <a:ext cx="147450" cy="168514"/>
          </a:xfrm>
          <a:custGeom>
            <a:avLst/>
            <a:gdLst/>
            <a:ahLst/>
            <a:cxnLst/>
            <a:rect l="l" t="t" r="r" b="b"/>
            <a:pathLst>
              <a:path w="147450" h="168514">
                <a:moveTo>
                  <a:pt x="42129" y="0"/>
                </a:moveTo>
                <a:cubicBezTo>
                  <a:pt x="47954" y="0"/>
                  <a:pt x="52661" y="4707"/>
                  <a:pt x="52661" y="10532"/>
                </a:cubicBezTo>
                <a:lnTo>
                  <a:pt x="52661" y="21064"/>
                </a:lnTo>
                <a:lnTo>
                  <a:pt x="94789" y="21064"/>
                </a:lnTo>
                <a:lnTo>
                  <a:pt x="94789" y="10532"/>
                </a:lnTo>
                <a:cubicBezTo>
                  <a:pt x="94789" y="4707"/>
                  <a:pt x="99496" y="0"/>
                  <a:pt x="105321" y="0"/>
                </a:cubicBezTo>
                <a:cubicBezTo>
                  <a:pt x="111147" y="0"/>
                  <a:pt x="115853" y="4707"/>
                  <a:pt x="115853" y="10532"/>
                </a:cubicBezTo>
                <a:lnTo>
                  <a:pt x="115853" y="21064"/>
                </a:lnTo>
                <a:lnTo>
                  <a:pt x="126386" y="21064"/>
                </a:lnTo>
                <a:cubicBezTo>
                  <a:pt x="138004" y="21064"/>
                  <a:pt x="147450" y="30510"/>
                  <a:pt x="147450" y="42129"/>
                </a:cubicBezTo>
                <a:lnTo>
                  <a:pt x="147450" y="136918"/>
                </a:lnTo>
                <a:cubicBezTo>
                  <a:pt x="147450" y="148536"/>
                  <a:pt x="138004" y="157982"/>
                  <a:pt x="126386" y="157982"/>
                </a:cubicBezTo>
                <a:lnTo>
                  <a:pt x="21064" y="157982"/>
                </a:lnTo>
                <a:cubicBezTo>
                  <a:pt x="9446" y="157982"/>
                  <a:pt x="0" y="148536"/>
                  <a:pt x="0" y="136918"/>
                </a:cubicBezTo>
                <a:lnTo>
                  <a:pt x="0" y="42129"/>
                </a:lnTo>
                <a:cubicBezTo>
                  <a:pt x="0" y="30510"/>
                  <a:pt x="9446" y="21064"/>
                  <a:pt x="21064" y="21064"/>
                </a:cubicBezTo>
                <a:lnTo>
                  <a:pt x="31596" y="21064"/>
                </a:lnTo>
                <a:lnTo>
                  <a:pt x="31596" y="10532"/>
                </a:lnTo>
                <a:cubicBezTo>
                  <a:pt x="31596" y="4707"/>
                  <a:pt x="36303" y="0"/>
                  <a:pt x="42129" y="0"/>
                </a:cubicBezTo>
                <a:close/>
                <a:moveTo>
                  <a:pt x="101503" y="75272"/>
                </a:moveTo>
                <a:cubicBezTo>
                  <a:pt x="103807" y="71586"/>
                  <a:pt x="102688" y="66714"/>
                  <a:pt x="99002" y="64378"/>
                </a:cubicBezTo>
                <a:cubicBezTo>
                  <a:pt x="95316" y="62041"/>
                  <a:pt x="90445" y="63193"/>
                  <a:pt x="88108" y="66879"/>
                </a:cubicBezTo>
                <a:lnTo>
                  <a:pt x="67899" y="99232"/>
                </a:lnTo>
                <a:lnTo>
                  <a:pt x="59013" y="87384"/>
                </a:lnTo>
                <a:cubicBezTo>
                  <a:pt x="56380" y="83895"/>
                  <a:pt x="51443" y="83171"/>
                  <a:pt x="47954" y="85804"/>
                </a:cubicBezTo>
                <a:cubicBezTo>
                  <a:pt x="44465" y="88437"/>
                  <a:pt x="43741" y="93374"/>
                  <a:pt x="46374" y="96863"/>
                </a:cubicBezTo>
                <a:lnTo>
                  <a:pt x="62173" y="117927"/>
                </a:lnTo>
                <a:cubicBezTo>
                  <a:pt x="63719" y="120001"/>
                  <a:pt x="66221" y="121185"/>
                  <a:pt x="68821" y="121087"/>
                </a:cubicBezTo>
                <a:cubicBezTo>
                  <a:pt x="71421" y="120988"/>
                  <a:pt x="73791" y="119606"/>
                  <a:pt x="75173" y="117367"/>
                </a:cubicBezTo>
                <a:lnTo>
                  <a:pt x="101503" y="75239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42" name="Text 40"/>
          <p:cNvSpPr/>
          <p:nvPr/>
        </p:nvSpPr>
        <p:spPr>
          <a:xfrm>
            <a:off x="4926538" y="4977751"/>
            <a:ext cx="1525053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7" b="1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Quarterly Reporting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648490" y="5281076"/>
            <a:ext cx="2999552" cy="202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2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Progress and performance metrics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479975" y="6290318"/>
            <a:ext cx="3235472" cy="16851"/>
          </a:xfrm>
          <a:custGeom>
            <a:avLst/>
            <a:gdLst/>
            <a:ahLst/>
            <a:cxnLst/>
            <a:rect l="l" t="t" r="r" b="b"/>
            <a:pathLst>
              <a:path w="3235472" h="16851">
                <a:moveTo>
                  <a:pt x="0" y="0"/>
                </a:moveTo>
                <a:lnTo>
                  <a:pt x="3235472" y="0"/>
                </a:lnTo>
                <a:lnTo>
                  <a:pt x="3235472" y="16851"/>
                </a:lnTo>
                <a:lnTo>
                  <a:pt x="0" y="16851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45" name="Shape 43"/>
          <p:cNvSpPr/>
          <p:nvPr/>
        </p:nvSpPr>
        <p:spPr>
          <a:xfrm>
            <a:off x="4488401" y="6509386"/>
            <a:ext cx="320177" cy="320177"/>
          </a:xfrm>
          <a:custGeom>
            <a:avLst/>
            <a:gdLst/>
            <a:ahLst/>
            <a:cxnLst/>
            <a:rect l="l" t="t" r="r" b="b"/>
            <a:pathLst>
              <a:path w="320177" h="320177">
                <a:moveTo>
                  <a:pt x="0" y="0"/>
                </a:moveTo>
                <a:lnTo>
                  <a:pt x="320177" y="0"/>
                </a:lnTo>
                <a:lnTo>
                  <a:pt x="320177" y="320177"/>
                </a:lnTo>
                <a:lnTo>
                  <a:pt x="0" y="32017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4A6C8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74765" y="6585218"/>
            <a:ext cx="147450" cy="168514"/>
          </a:xfrm>
          <a:custGeom>
            <a:avLst/>
            <a:gdLst/>
            <a:ahLst/>
            <a:cxnLst/>
            <a:rect l="l" t="t" r="r" b="b"/>
            <a:pathLst>
              <a:path w="147450" h="168514">
                <a:moveTo>
                  <a:pt x="143105" y="23072"/>
                </a:moveTo>
                <a:cubicBezTo>
                  <a:pt x="147812" y="26495"/>
                  <a:pt x="148865" y="33077"/>
                  <a:pt x="145442" y="37784"/>
                </a:cubicBezTo>
                <a:lnTo>
                  <a:pt x="61185" y="153638"/>
                </a:lnTo>
                <a:cubicBezTo>
                  <a:pt x="59375" y="156139"/>
                  <a:pt x="56577" y="157686"/>
                  <a:pt x="53484" y="157949"/>
                </a:cubicBezTo>
                <a:cubicBezTo>
                  <a:pt x="50390" y="158212"/>
                  <a:pt x="47395" y="157060"/>
                  <a:pt x="45222" y="154888"/>
                </a:cubicBezTo>
                <a:lnTo>
                  <a:pt x="3094" y="112760"/>
                </a:lnTo>
                <a:cubicBezTo>
                  <a:pt x="-1020" y="108646"/>
                  <a:pt x="-1020" y="101964"/>
                  <a:pt x="3094" y="97850"/>
                </a:cubicBezTo>
                <a:cubicBezTo>
                  <a:pt x="7208" y="93736"/>
                  <a:pt x="13889" y="93736"/>
                  <a:pt x="18003" y="97850"/>
                </a:cubicBezTo>
                <a:lnTo>
                  <a:pt x="51410" y="131257"/>
                </a:lnTo>
                <a:lnTo>
                  <a:pt x="128426" y="25376"/>
                </a:lnTo>
                <a:cubicBezTo>
                  <a:pt x="131849" y="20669"/>
                  <a:pt x="138432" y="19616"/>
                  <a:pt x="143138" y="23039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47" name="Text 45"/>
          <p:cNvSpPr/>
          <p:nvPr/>
        </p:nvSpPr>
        <p:spPr>
          <a:xfrm>
            <a:off x="4918112" y="6534663"/>
            <a:ext cx="1011085" cy="269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2" b="1" dirty="0">
                <a:solidFill>
                  <a:srgbClr val="4A6C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APPROVE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167934" y="1027936"/>
            <a:ext cx="3673609" cy="6032807"/>
          </a:xfrm>
          <a:custGeom>
            <a:avLst/>
            <a:gdLst/>
            <a:ahLst/>
            <a:cxnLst/>
            <a:rect l="l" t="t" r="r" b="b"/>
            <a:pathLst>
              <a:path w="3673609" h="6032807">
                <a:moveTo>
                  <a:pt x="0" y="0"/>
                </a:moveTo>
                <a:lnTo>
                  <a:pt x="3673609" y="0"/>
                </a:lnTo>
                <a:lnTo>
                  <a:pt x="3673609" y="6032807"/>
                </a:lnTo>
                <a:lnTo>
                  <a:pt x="0" y="6032807"/>
                </a:lnTo>
                <a:lnTo>
                  <a:pt x="0" y="0"/>
                </a:lnTo>
                <a:close/>
              </a:path>
            </a:pathLst>
          </a:custGeom>
          <a:solidFill>
            <a:srgbClr val="7D8A99">
              <a:alpha val="10196"/>
            </a:srgbClr>
          </a:solidFill>
          <a:ln w="50800">
            <a:solidFill>
              <a:srgbClr val="7D8A9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666394" y="1247005"/>
            <a:ext cx="674057" cy="674057"/>
          </a:xfrm>
          <a:custGeom>
            <a:avLst/>
            <a:gdLst/>
            <a:ahLst/>
            <a:cxnLst/>
            <a:rect l="l" t="t" r="r" b="b"/>
            <a:pathLst>
              <a:path w="674057" h="674057">
                <a:moveTo>
                  <a:pt x="337028" y="0"/>
                </a:moveTo>
                <a:lnTo>
                  <a:pt x="337028" y="0"/>
                </a:lnTo>
                <a:cubicBezTo>
                  <a:pt x="523039" y="0"/>
                  <a:pt x="674057" y="151017"/>
                  <a:pt x="674057" y="337028"/>
                </a:cubicBezTo>
                <a:lnTo>
                  <a:pt x="674057" y="337028"/>
                </a:lnTo>
                <a:cubicBezTo>
                  <a:pt x="674057" y="523039"/>
                  <a:pt x="523039" y="674057"/>
                  <a:pt x="337028" y="674057"/>
                </a:cubicBezTo>
                <a:lnTo>
                  <a:pt x="337028" y="674057"/>
                </a:lnTo>
                <a:cubicBezTo>
                  <a:pt x="151017" y="674057"/>
                  <a:pt x="0" y="523039"/>
                  <a:pt x="0" y="337028"/>
                </a:cubicBezTo>
                <a:lnTo>
                  <a:pt x="0" y="337028"/>
                </a:lnTo>
                <a:cubicBezTo>
                  <a:pt x="0" y="151017"/>
                  <a:pt x="151017" y="0"/>
                  <a:pt x="337028" y="0"/>
                </a:cubicBezTo>
                <a:close/>
              </a:path>
            </a:pathLst>
          </a:custGeom>
          <a:solidFill>
            <a:srgbClr val="7D8A99"/>
          </a:solidFill>
          <a:ln/>
        </p:spPr>
      </p:sp>
      <p:sp>
        <p:nvSpPr>
          <p:cNvPr id="50" name="Text 48"/>
          <p:cNvSpPr/>
          <p:nvPr/>
        </p:nvSpPr>
        <p:spPr>
          <a:xfrm>
            <a:off x="9843202" y="1415519"/>
            <a:ext cx="320177" cy="337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388" b="1" dirty="0">
                <a:solidFill>
                  <a:srgbClr val="1A1D2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3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323810" y="2055873"/>
            <a:ext cx="3361858" cy="30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90" b="1" dirty="0">
                <a:solidFill>
                  <a:srgbClr val="7D8A99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Conditional Phase 2 Auth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403854" y="3022986"/>
            <a:ext cx="3218621" cy="775165"/>
          </a:xfrm>
          <a:custGeom>
            <a:avLst/>
            <a:gdLst/>
            <a:ahLst/>
            <a:cxnLst/>
            <a:rect l="l" t="t" r="r" b="b"/>
            <a:pathLst>
              <a:path w="3218621" h="775165">
                <a:moveTo>
                  <a:pt x="0" y="0"/>
                </a:moveTo>
                <a:lnTo>
                  <a:pt x="3218621" y="0"/>
                </a:lnTo>
                <a:lnTo>
                  <a:pt x="3218621" y="775165"/>
                </a:lnTo>
                <a:lnTo>
                  <a:pt x="0" y="775165"/>
                </a:lnTo>
                <a:lnTo>
                  <a:pt x="0" y="0"/>
                </a:ln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403854" y="3022986"/>
            <a:ext cx="33703" cy="775165"/>
          </a:xfrm>
          <a:custGeom>
            <a:avLst/>
            <a:gdLst/>
            <a:ahLst/>
            <a:cxnLst/>
            <a:rect l="l" t="t" r="r" b="b"/>
            <a:pathLst>
              <a:path w="33703" h="775165">
                <a:moveTo>
                  <a:pt x="0" y="0"/>
                </a:moveTo>
                <a:lnTo>
                  <a:pt x="33703" y="0"/>
                </a:lnTo>
                <a:lnTo>
                  <a:pt x="33703" y="775165"/>
                </a:lnTo>
                <a:lnTo>
                  <a:pt x="0" y="775165"/>
                </a:lnTo>
                <a:lnTo>
                  <a:pt x="0" y="0"/>
                </a:lnTo>
                <a:close/>
              </a:path>
            </a:pathLst>
          </a:custGeom>
          <a:solidFill>
            <a:srgbClr val="7D8A99"/>
          </a:solidFill>
          <a:ln/>
        </p:spPr>
      </p:sp>
      <p:sp>
        <p:nvSpPr>
          <p:cNvPr id="54" name="Shape 52"/>
          <p:cNvSpPr/>
          <p:nvPr/>
        </p:nvSpPr>
        <p:spPr>
          <a:xfrm>
            <a:off x="8597645" y="3191500"/>
            <a:ext cx="126386" cy="168514"/>
          </a:xfrm>
          <a:custGeom>
            <a:avLst/>
            <a:gdLst/>
            <a:ahLst/>
            <a:cxnLst/>
            <a:rect l="l" t="t" r="r" b="b"/>
            <a:pathLst>
              <a:path w="126386" h="168514">
                <a:moveTo>
                  <a:pt x="82249" y="21986"/>
                </a:moveTo>
                <a:cubicBezTo>
                  <a:pt x="85672" y="17279"/>
                  <a:pt x="84619" y="10697"/>
                  <a:pt x="79913" y="7274"/>
                </a:cubicBezTo>
                <a:cubicBezTo>
                  <a:pt x="75206" y="3851"/>
                  <a:pt x="68623" y="4904"/>
                  <a:pt x="65201" y="9611"/>
                </a:cubicBezTo>
                <a:lnTo>
                  <a:pt x="30313" y="57565"/>
                </a:lnTo>
                <a:lnTo>
                  <a:pt x="17970" y="45222"/>
                </a:lnTo>
                <a:cubicBezTo>
                  <a:pt x="13856" y="41108"/>
                  <a:pt x="7175" y="41108"/>
                  <a:pt x="3061" y="45222"/>
                </a:cubicBezTo>
                <a:cubicBezTo>
                  <a:pt x="-1053" y="49336"/>
                  <a:pt x="-1053" y="56018"/>
                  <a:pt x="3061" y="60132"/>
                </a:cubicBezTo>
                <a:lnTo>
                  <a:pt x="24125" y="81196"/>
                </a:lnTo>
                <a:cubicBezTo>
                  <a:pt x="26297" y="83368"/>
                  <a:pt x="29325" y="84487"/>
                  <a:pt x="32386" y="84257"/>
                </a:cubicBezTo>
                <a:cubicBezTo>
                  <a:pt x="35447" y="84027"/>
                  <a:pt x="38278" y="82447"/>
                  <a:pt x="40088" y="79945"/>
                </a:cubicBezTo>
                <a:lnTo>
                  <a:pt x="82216" y="22019"/>
                </a:lnTo>
                <a:close/>
                <a:moveTo>
                  <a:pt x="124378" y="66747"/>
                </a:moveTo>
                <a:cubicBezTo>
                  <a:pt x="127801" y="62041"/>
                  <a:pt x="126748" y="55458"/>
                  <a:pt x="122041" y="52035"/>
                </a:cubicBezTo>
                <a:cubicBezTo>
                  <a:pt x="117335" y="48612"/>
                  <a:pt x="110752" y="49666"/>
                  <a:pt x="107329" y="54372"/>
                </a:cubicBezTo>
                <a:lnTo>
                  <a:pt x="51377" y="131290"/>
                </a:lnTo>
                <a:lnTo>
                  <a:pt x="28503" y="108415"/>
                </a:lnTo>
                <a:cubicBezTo>
                  <a:pt x="24388" y="104301"/>
                  <a:pt x="17707" y="104301"/>
                  <a:pt x="13593" y="108415"/>
                </a:cubicBezTo>
                <a:cubicBezTo>
                  <a:pt x="9479" y="112529"/>
                  <a:pt x="9479" y="119211"/>
                  <a:pt x="13593" y="123325"/>
                </a:cubicBezTo>
                <a:lnTo>
                  <a:pt x="45189" y="154921"/>
                </a:lnTo>
                <a:cubicBezTo>
                  <a:pt x="47362" y="157093"/>
                  <a:pt x="50390" y="158212"/>
                  <a:pt x="53451" y="157982"/>
                </a:cubicBezTo>
                <a:cubicBezTo>
                  <a:pt x="56511" y="157752"/>
                  <a:pt x="59342" y="156172"/>
                  <a:pt x="61152" y="153670"/>
                </a:cubicBezTo>
                <a:lnTo>
                  <a:pt x="124345" y="66780"/>
                </a:lnTo>
                <a:close/>
              </a:path>
            </a:pathLst>
          </a:custGeom>
          <a:solidFill>
            <a:srgbClr val="7D8A99"/>
          </a:solidFill>
          <a:ln/>
        </p:spPr>
      </p:sp>
      <p:sp>
        <p:nvSpPr>
          <p:cNvPr id="55" name="Text 53"/>
          <p:cNvSpPr/>
          <p:nvPr/>
        </p:nvSpPr>
        <p:spPr>
          <a:xfrm>
            <a:off x="8833565" y="3157798"/>
            <a:ext cx="1449222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7" b="1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Phase 1 Validates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555517" y="3461123"/>
            <a:ext cx="2999552" cy="202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2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 progression upon success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403854" y="3932963"/>
            <a:ext cx="3218621" cy="775165"/>
          </a:xfrm>
          <a:custGeom>
            <a:avLst/>
            <a:gdLst/>
            <a:ahLst/>
            <a:cxnLst/>
            <a:rect l="l" t="t" r="r" b="b"/>
            <a:pathLst>
              <a:path w="3218621" h="775165">
                <a:moveTo>
                  <a:pt x="0" y="0"/>
                </a:moveTo>
                <a:lnTo>
                  <a:pt x="3218621" y="0"/>
                </a:lnTo>
                <a:lnTo>
                  <a:pt x="3218621" y="775165"/>
                </a:lnTo>
                <a:lnTo>
                  <a:pt x="0" y="775165"/>
                </a:lnTo>
                <a:lnTo>
                  <a:pt x="0" y="0"/>
                </a:ln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403854" y="3932963"/>
            <a:ext cx="33703" cy="775165"/>
          </a:xfrm>
          <a:custGeom>
            <a:avLst/>
            <a:gdLst/>
            <a:ahLst/>
            <a:cxnLst/>
            <a:rect l="l" t="t" r="r" b="b"/>
            <a:pathLst>
              <a:path w="33703" h="775165">
                <a:moveTo>
                  <a:pt x="0" y="0"/>
                </a:moveTo>
                <a:lnTo>
                  <a:pt x="33703" y="0"/>
                </a:lnTo>
                <a:lnTo>
                  <a:pt x="33703" y="775165"/>
                </a:lnTo>
                <a:lnTo>
                  <a:pt x="0" y="775165"/>
                </a:lnTo>
                <a:lnTo>
                  <a:pt x="0" y="0"/>
                </a:lnTo>
                <a:close/>
              </a:path>
            </a:pathLst>
          </a:custGeom>
          <a:solidFill>
            <a:srgbClr val="7D8A99"/>
          </a:solidFill>
          <a:ln/>
        </p:spPr>
      </p:sp>
      <p:sp>
        <p:nvSpPr>
          <p:cNvPr id="59" name="Shape 57"/>
          <p:cNvSpPr/>
          <p:nvPr/>
        </p:nvSpPr>
        <p:spPr>
          <a:xfrm>
            <a:off x="8566049" y="4101477"/>
            <a:ext cx="189578" cy="168514"/>
          </a:xfrm>
          <a:custGeom>
            <a:avLst/>
            <a:gdLst/>
            <a:ahLst/>
            <a:cxnLst/>
            <a:rect l="l" t="t" r="r" b="b"/>
            <a:pathLst>
              <a:path w="189578" h="168514">
                <a:moveTo>
                  <a:pt x="122337" y="14185"/>
                </a:moveTo>
                <a:cubicBezTo>
                  <a:pt x="118519" y="10532"/>
                  <a:pt x="112891" y="9512"/>
                  <a:pt x="108053" y="11585"/>
                </a:cubicBezTo>
                <a:cubicBezTo>
                  <a:pt x="103215" y="13659"/>
                  <a:pt x="100055" y="18431"/>
                  <a:pt x="100055" y="23697"/>
                </a:cubicBezTo>
                <a:lnTo>
                  <a:pt x="100055" y="68558"/>
                </a:lnTo>
                <a:lnTo>
                  <a:pt x="43346" y="14218"/>
                </a:lnTo>
                <a:cubicBezTo>
                  <a:pt x="39528" y="10532"/>
                  <a:pt x="33900" y="9512"/>
                  <a:pt x="29062" y="11585"/>
                </a:cubicBezTo>
                <a:cubicBezTo>
                  <a:pt x="24224" y="13659"/>
                  <a:pt x="21064" y="18431"/>
                  <a:pt x="21064" y="23697"/>
                </a:cubicBezTo>
                <a:lnTo>
                  <a:pt x="21064" y="144817"/>
                </a:lnTo>
                <a:cubicBezTo>
                  <a:pt x="21064" y="150083"/>
                  <a:pt x="24224" y="154855"/>
                  <a:pt x="29062" y="156929"/>
                </a:cubicBezTo>
                <a:cubicBezTo>
                  <a:pt x="33900" y="159002"/>
                  <a:pt x="39528" y="157982"/>
                  <a:pt x="43346" y="154329"/>
                </a:cubicBezTo>
                <a:lnTo>
                  <a:pt x="100055" y="99957"/>
                </a:lnTo>
                <a:lnTo>
                  <a:pt x="100055" y="144817"/>
                </a:lnTo>
                <a:cubicBezTo>
                  <a:pt x="100055" y="150083"/>
                  <a:pt x="103215" y="154855"/>
                  <a:pt x="108053" y="156929"/>
                </a:cubicBezTo>
                <a:cubicBezTo>
                  <a:pt x="112891" y="159002"/>
                  <a:pt x="118519" y="157982"/>
                  <a:pt x="122337" y="154329"/>
                </a:cubicBezTo>
                <a:lnTo>
                  <a:pt x="185530" y="93769"/>
                </a:lnTo>
                <a:cubicBezTo>
                  <a:pt x="188130" y="91300"/>
                  <a:pt x="189578" y="87845"/>
                  <a:pt x="189578" y="84257"/>
                </a:cubicBezTo>
                <a:cubicBezTo>
                  <a:pt x="189578" y="80670"/>
                  <a:pt x="188097" y="77247"/>
                  <a:pt x="185530" y="74745"/>
                </a:cubicBezTo>
                <a:lnTo>
                  <a:pt x="122337" y="14185"/>
                </a:lnTo>
                <a:close/>
              </a:path>
            </a:pathLst>
          </a:custGeom>
          <a:solidFill>
            <a:srgbClr val="7D8A99"/>
          </a:solidFill>
          <a:ln/>
        </p:spPr>
      </p:sp>
      <p:sp>
        <p:nvSpPr>
          <p:cNvPr id="60" name="Text 58"/>
          <p:cNvSpPr/>
          <p:nvPr/>
        </p:nvSpPr>
        <p:spPr>
          <a:xfrm>
            <a:off x="8833565" y="4067774"/>
            <a:ext cx="1592459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7" b="1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Contingent Approval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555517" y="4371100"/>
            <a:ext cx="2999552" cy="202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2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Pre-approved pathway to expansion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403854" y="4842939"/>
            <a:ext cx="3218621" cy="775165"/>
          </a:xfrm>
          <a:custGeom>
            <a:avLst/>
            <a:gdLst/>
            <a:ahLst/>
            <a:cxnLst/>
            <a:rect l="l" t="t" r="r" b="b"/>
            <a:pathLst>
              <a:path w="3218621" h="775165">
                <a:moveTo>
                  <a:pt x="0" y="0"/>
                </a:moveTo>
                <a:lnTo>
                  <a:pt x="3218621" y="0"/>
                </a:lnTo>
                <a:lnTo>
                  <a:pt x="3218621" y="775165"/>
                </a:lnTo>
                <a:lnTo>
                  <a:pt x="0" y="775165"/>
                </a:lnTo>
                <a:lnTo>
                  <a:pt x="0" y="0"/>
                </a:ln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403854" y="4842939"/>
            <a:ext cx="33703" cy="775165"/>
          </a:xfrm>
          <a:custGeom>
            <a:avLst/>
            <a:gdLst/>
            <a:ahLst/>
            <a:cxnLst/>
            <a:rect l="l" t="t" r="r" b="b"/>
            <a:pathLst>
              <a:path w="33703" h="775165">
                <a:moveTo>
                  <a:pt x="0" y="0"/>
                </a:moveTo>
                <a:lnTo>
                  <a:pt x="33703" y="0"/>
                </a:lnTo>
                <a:lnTo>
                  <a:pt x="33703" y="775165"/>
                </a:lnTo>
                <a:lnTo>
                  <a:pt x="0" y="775165"/>
                </a:lnTo>
                <a:lnTo>
                  <a:pt x="0" y="0"/>
                </a:lnTo>
                <a:close/>
              </a:path>
            </a:pathLst>
          </a:custGeom>
          <a:solidFill>
            <a:srgbClr val="7D8A99"/>
          </a:solidFill>
          <a:ln/>
        </p:spPr>
      </p:sp>
      <p:sp>
        <p:nvSpPr>
          <p:cNvPr id="64" name="Shape 62"/>
          <p:cNvSpPr/>
          <p:nvPr/>
        </p:nvSpPr>
        <p:spPr>
          <a:xfrm>
            <a:off x="8576581" y="5011453"/>
            <a:ext cx="168514" cy="168514"/>
          </a:xfrm>
          <a:custGeom>
            <a:avLst/>
            <a:gdLst/>
            <a:ahLst/>
            <a:cxnLst/>
            <a:rect l="l" t="t" r="r" b="b"/>
            <a:pathLst>
              <a:path w="168514" h="168514">
                <a:moveTo>
                  <a:pt x="42129" y="105321"/>
                </a:moveTo>
                <a:lnTo>
                  <a:pt x="8064" y="105321"/>
                </a:lnTo>
                <a:cubicBezTo>
                  <a:pt x="-132" y="105321"/>
                  <a:pt x="-5167" y="96402"/>
                  <a:pt x="-954" y="89359"/>
                </a:cubicBezTo>
                <a:lnTo>
                  <a:pt x="16456" y="60329"/>
                </a:lnTo>
                <a:cubicBezTo>
                  <a:pt x="19320" y="55557"/>
                  <a:pt x="24454" y="52661"/>
                  <a:pt x="30017" y="52661"/>
                </a:cubicBezTo>
                <a:lnTo>
                  <a:pt x="61284" y="52661"/>
                </a:lnTo>
                <a:cubicBezTo>
                  <a:pt x="86331" y="10236"/>
                  <a:pt x="123687" y="8097"/>
                  <a:pt x="148668" y="11750"/>
                </a:cubicBezTo>
                <a:cubicBezTo>
                  <a:pt x="152881" y="12375"/>
                  <a:pt x="156172" y="15667"/>
                  <a:pt x="156764" y="19846"/>
                </a:cubicBezTo>
                <a:cubicBezTo>
                  <a:pt x="160418" y="44827"/>
                  <a:pt x="158278" y="82184"/>
                  <a:pt x="115853" y="107230"/>
                </a:cubicBezTo>
                <a:lnTo>
                  <a:pt x="115853" y="138498"/>
                </a:lnTo>
                <a:cubicBezTo>
                  <a:pt x="115853" y="144060"/>
                  <a:pt x="112957" y="149194"/>
                  <a:pt x="108185" y="152058"/>
                </a:cubicBezTo>
                <a:lnTo>
                  <a:pt x="79156" y="169469"/>
                </a:lnTo>
                <a:cubicBezTo>
                  <a:pt x="72145" y="173681"/>
                  <a:pt x="63193" y="168613"/>
                  <a:pt x="63193" y="160451"/>
                </a:cubicBezTo>
                <a:lnTo>
                  <a:pt x="63193" y="126386"/>
                </a:lnTo>
                <a:cubicBezTo>
                  <a:pt x="63193" y="114767"/>
                  <a:pt x="53747" y="105321"/>
                  <a:pt x="42129" y="105321"/>
                </a:cubicBezTo>
                <a:lnTo>
                  <a:pt x="42096" y="105321"/>
                </a:lnTo>
                <a:close/>
                <a:moveTo>
                  <a:pt x="131652" y="52661"/>
                </a:moveTo>
                <a:cubicBezTo>
                  <a:pt x="131652" y="43941"/>
                  <a:pt x="124573" y="36862"/>
                  <a:pt x="115853" y="36862"/>
                </a:cubicBezTo>
                <a:cubicBezTo>
                  <a:pt x="107134" y="36862"/>
                  <a:pt x="100055" y="43941"/>
                  <a:pt x="100055" y="52661"/>
                </a:cubicBezTo>
                <a:cubicBezTo>
                  <a:pt x="100055" y="61380"/>
                  <a:pt x="107134" y="68459"/>
                  <a:pt x="115853" y="68459"/>
                </a:cubicBezTo>
                <a:cubicBezTo>
                  <a:pt x="124573" y="68459"/>
                  <a:pt x="131652" y="61380"/>
                  <a:pt x="131652" y="52661"/>
                </a:cubicBezTo>
                <a:close/>
              </a:path>
            </a:pathLst>
          </a:custGeom>
          <a:solidFill>
            <a:srgbClr val="7D8A99"/>
          </a:solidFill>
          <a:ln/>
        </p:spPr>
      </p:sp>
      <p:sp>
        <p:nvSpPr>
          <p:cNvPr id="65" name="Text 63"/>
          <p:cNvSpPr/>
          <p:nvPr/>
        </p:nvSpPr>
        <p:spPr>
          <a:xfrm>
            <a:off x="8833565" y="4977751"/>
            <a:ext cx="1668290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7" b="1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Maintains Momentum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555517" y="5281076"/>
            <a:ext cx="2999552" cy="202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2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delays between phases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8387003" y="6290318"/>
            <a:ext cx="3235472" cy="16851"/>
          </a:xfrm>
          <a:custGeom>
            <a:avLst/>
            <a:gdLst/>
            <a:ahLst/>
            <a:cxnLst/>
            <a:rect l="l" t="t" r="r" b="b"/>
            <a:pathLst>
              <a:path w="3235472" h="16851">
                <a:moveTo>
                  <a:pt x="0" y="0"/>
                </a:moveTo>
                <a:lnTo>
                  <a:pt x="3235472" y="0"/>
                </a:lnTo>
                <a:lnTo>
                  <a:pt x="3235472" y="16851"/>
                </a:lnTo>
                <a:lnTo>
                  <a:pt x="0" y="16851"/>
                </a:lnTo>
                <a:lnTo>
                  <a:pt x="0" y="0"/>
                </a:lnTo>
                <a:close/>
              </a:path>
            </a:pathLst>
          </a:custGeom>
          <a:solidFill>
            <a:srgbClr val="7D8A99"/>
          </a:solidFill>
          <a:ln/>
        </p:spPr>
      </p:sp>
      <p:sp>
        <p:nvSpPr>
          <p:cNvPr id="68" name="Shape 66"/>
          <p:cNvSpPr/>
          <p:nvPr/>
        </p:nvSpPr>
        <p:spPr>
          <a:xfrm>
            <a:off x="8395428" y="6509386"/>
            <a:ext cx="320177" cy="320177"/>
          </a:xfrm>
          <a:custGeom>
            <a:avLst/>
            <a:gdLst/>
            <a:ahLst/>
            <a:cxnLst/>
            <a:rect l="l" t="t" r="r" b="b"/>
            <a:pathLst>
              <a:path w="320177" h="320177">
                <a:moveTo>
                  <a:pt x="0" y="0"/>
                </a:moveTo>
                <a:lnTo>
                  <a:pt x="320177" y="0"/>
                </a:lnTo>
                <a:lnTo>
                  <a:pt x="320177" y="320177"/>
                </a:lnTo>
                <a:lnTo>
                  <a:pt x="0" y="32017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7D8A99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481792" y="6585218"/>
            <a:ext cx="147450" cy="168514"/>
          </a:xfrm>
          <a:custGeom>
            <a:avLst/>
            <a:gdLst/>
            <a:ahLst/>
            <a:cxnLst/>
            <a:rect l="l" t="t" r="r" b="b"/>
            <a:pathLst>
              <a:path w="147450" h="168514">
                <a:moveTo>
                  <a:pt x="143105" y="23072"/>
                </a:moveTo>
                <a:cubicBezTo>
                  <a:pt x="147812" y="26495"/>
                  <a:pt x="148865" y="33077"/>
                  <a:pt x="145442" y="37784"/>
                </a:cubicBezTo>
                <a:lnTo>
                  <a:pt x="61185" y="153638"/>
                </a:lnTo>
                <a:cubicBezTo>
                  <a:pt x="59375" y="156139"/>
                  <a:pt x="56577" y="157686"/>
                  <a:pt x="53484" y="157949"/>
                </a:cubicBezTo>
                <a:cubicBezTo>
                  <a:pt x="50390" y="158212"/>
                  <a:pt x="47395" y="157060"/>
                  <a:pt x="45222" y="154888"/>
                </a:cubicBezTo>
                <a:lnTo>
                  <a:pt x="3094" y="112760"/>
                </a:lnTo>
                <a:cubicBezTo>
                  <a:pt x="-1020" y="108646"/>
                  <a:pt x="-1020" y="101964"/>
                  <a:pt x="3094" y="97850"/>
                </a:cubicBezTo>
                <a:cubicBezTo>
                  <a:pt x="7208" y="93736"/>
                  <a:pt x="13889" y="93736"/>
                  <a:pt x="18003" y="97850"/>
                </a:cubicBezTo>
                <a:lnTo>
                  <a:pt x="51410" y="131257"/>
                </a:lnTo>
                <a:lnTo>
                  <a:pt x="128426" y="25376"/>
                </a:lnTo>
                <a:cubicBezTo>
                  <a:pt x="131849" y="20669"/>
                  <a:pt x="138432" y="19616"/>
                  <a:pt x="143138" y="23039"/>
                </a:cubicBezTo>
                <a:close/>
              </a:path>
            </a:pathLst>
          </a:custGeom>
          <a:solidFill>
            <a:srgbClr val="7D8A99"/>
          </a:solidFill>
          <a:ln/>
        </p:spPr>
      </p:sp>
      <p:sp>
        <p:nvSpPr>
          <p:cNvPr id="70" name="Text 68"/>
          <p:cNvSpPr/>
          <p:nvPr/>
        </p:nvSpPr>
        <p:spPr>
          <a:xfrm>
            <a:off x="8825140" y="6534663"/>
            <a:ext cx="1011085" cy="269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2" b="1" dirty="0">
                <a:solidFill>
                  <a:srgbClr val="7D8A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APPROVE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01098d982d1ec52919459024901b390155895721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20758" b="20758"/>
          <a:stretch/>
        </p:blipFill>
        <p:spPr>
          <a:xfrm>
            <a:off x="0" y="0"/>
            <a:ext cx="12192000" cy="7130306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7130306"/>
          </a:xfrm>
          <a:custGeom>
            <a:avLst/>
            <a:gdLst/>
            <a:ahLst/>
            <a:cxnLst/>
            <a:rect l="l" t="t" r="r" b="b"/>
            <a:pathLst>
              <a:path w="12192000" h="7130306">
                <a:moveTo>
                  <a:pt x="0" y="0"/>
                </a:moveTo>
                <a:lnTo>
                  <a:pt x="12192000" y="0"/>
                </a:lnTo>
                <a:lnTo>
                  <a:pt x="12192000" y="7130306"/>
                </a:lnTo>
                <a:lnTo>
                  <a:pt x="0" y="7130306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4">
                  <a:alpha val="90000"/>
                </a:srgbClr>
              </a:gs>
              <a:gs pos="50000">
                <a:srgbClr val="1A1D24">
                  <a:alpha val="95000"/>
                </a:srgbClr>
              </a:gs>
              <a:gs pos="100000">
                <a:srgbClr val="4A6C8C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256288" y="3003"/>
            <a:ext cx="11679423" cy="439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459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Real Impact: Lives Saved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508053" y="588805"/>
            <a:ext cx="1171604" cy="36613"/>
          </a:xfrm>
          <a:custGeom>
            <a:avLst/>
            <a:gdLst/>
            <a:ahLst/>
            <a:cxnLst/>
            <a:rect l="l" t="t" r="r" b="b"/>
            <a:pathLst>
              <a:path w="1171604" h="36613">
                <a:moveTo>
                  <a:pt x="0" y="0"/>
                </a:moveTo>
                <a:lnTo>
                  <a:pt x="1171604" y="0"/>
                </a:lnTo>
                <a:lnTo>
                  <a:pt x="1171604" y="36613"/>
                </a:lnTo>
                <a:lnTo>
                  <a:pt x="0" y="36613"/>
                </a:lnTo>
                <a:lnTo>
                  <a:pt x="0" y="0"/>
                </a:lnTo>
                <a:close/>
              </a:path>
            </a:pathLst>
          </a:custGeom>
          <a:solidFill>
            <a:srgbClr val="4E9A8C"/>
          </a:solidFill>
          <a:ln/>
        </p:spPr>
      </p:sp>
      <p:sp>
        <p:nvSpPr>
          <p:cNvPr id="6" name="Shape 3"/>
          <p:cNvSpPr/>
          <p:nvPr/>
        </p:nvSpPr>
        <p:spPr>
          <a:xfrm>
            <a:off x="3182580" y="863400"/>
            <a:ext cx="5821405" cy="3002234"/>
          </a:xfrm>
          <a:custGeom>
            <a:avLst/>
            <a:gdLst/>
            <a:ahLst/>
            <a:cxnLst/>
            <a:rect l="l" t="t" r="r" b="b"/>
            <a:pathLst>
              <a:path w="5821405" h="3002234">
                <a:moveTo>
                  <a:pt x="0" y="0"/>
                </a:moveTo>
                <a:lnTo>
                  <a:pt x="5821405" y="0"/>
                </a:lnTo>
                <a:lnTo>
                  <a:pt x="5821405" y="3002234"/>
                </a:lnTo>
                <a:lnTo>
                  <a:pt x="0" y="3002234"/>
                </a:lnTo>
                <a:lnTo>
                  <a:pt x="0" y="0"/>
                </a:lnTo>
                <a:close/>
              </a:path>
            </a:pathLst>
          </a:custGeom>
          <a:solidFill>
            <a:srgbClr val="4E9A8C">
              <a:alpha val="20000"/>
            </a:srgbClr>
          </a:solidFill>
          <a:ln w="50800">
            <a:solidFill>
              <a:srgbClr val="4E9A8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819260" y="1174607"/>
            <a:ext cx="549189" cy="549189"/>
          </a:xfrm>
          <a:custGeom>
            <a:avLst/>
            <a:gdLst/>
            <a:ahLst/>
            <a:cxnLst/>
            <a:rect l="l" t="t" r="r" b="b"/>
            <a:pathLst>
              <a:path w="549189" h="549189">
                <a:moveTo>
                  <a:pt x="258505" y="93427"/>
                </a:moveTo>
                <a:lnTo>
                  <a:pt x="274595" y="115630"/>
                </a:lnTo>
                <a:lnTo>
                  <a:pt x="290684" y="93427"/>
                </a:lnTo>
                <a:cubicBezTo>
                  <a:pt x="317500" y="56313"/>
                  <a:pt x="360620" y="34324"/>
                  <a:pt x="406421" y="34324"/>
                </a:cubicBezTo>
                <a:cubicBezTo>
                  <a:pt x="485260" y="34324"/>
                  <a:pt x="549189" y="98253"/>
                  <a:pt x="549189" y="177092"/>
                </a:cubicBezTo>
                <a:lnTo>
                  <a:pt x="549189" y="179881"/>
                </a:lnTo>
                <a:cubicBezTo>
                  <a:pt x="549189" y="300231"/>
                  <a:pt x="399128" y="439995"/>
                  <a:pt x="320825" y="499741"/>
                </a:cubicBezTo>
                <a:cubicBezTo>
                  <a:pt x="307524" y="509823"/>
                  <a:pt x="291220" y="514865"/>
                  <a:pt x="274595" y="514865"/>
                </a:cubicBezTo>
                <a:cubicBezTo>
                  <a:pt x="257969" y="514865"/>
                  <a:pt x="241557" y="509931"/>
                  <a:pt x="228364" y="499741"/>
                </a:cubicBezTo>
                <a:cubicBezTo>
                  <a:pt x="150062" y="439995"/>
                  <a:pt x="0" y="300231"/>
                  <a:pt x="0" y="179881"/>
                </a:cubicBezTo>
                <a:lnTo>
                  <a:pt x="0" y="177092"/>
                </a:lnTo>
                <a:cubicBezTo>
                  <a:pt x="0" y="98253"/>
                  <a:pt x="63929" y="34324"/>
                  <a:pt x="142768" y="34324"/>
                </a:cubicBezTo>
                <a:cubicBezTo>
                  <a:pt x="188569" y="34324"/>
                  <a:pt x="231689" y="56313"/>
                  <a:pt x="258505" y="93427"/>
                </a:cubicBezTo>
                <a:close/>
              </a:path>
            </a:pathLst>
          </a:custGeom>
          <a:solidFill>
            <a:srgbClr val="4E9A8C"/>
          </a:solidFill>
          <a:ln/>
        </p:spPr>
      </p:sp>
      <p:sp>
        <p:nvSpPr>
          <p:cNvPr id="8" name="Text 5"/>
          <p:cNvSpPr/>
          <p:nvPr/>
        </p:nvSpPr>
        <p:spPr>
          <a:xfrm>
            <a:off x="3274111" y="1870247"/>
            <a:ext cx="5638342" cy="878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6919" b="1" dirty="0">
                <a:solidFill>
                  <a:srgbClr val="4E9A8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1,500 - 4,000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411409" y="2822175"/>
            <a:ext cx="5363748" cy="366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595" b="1" dirty="0">
                <a:solidFill>
                  <a:srgbClr val="E0E2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Lives Saved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438868" y="3261526"/>
            <a:ext cx="5308829" cy="292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30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 10 Years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561149" y="4103616"/>
            <a:ext cx="2388973" cy="1913009"/>
          </a:xfrm>
          <a:custGeom>
            <a:avLst/>
            <a:gdLst/>
            <a:ahLst/>
            <a:cxnLst/>
            <a:rect l="l" t="t" r="r" b="b"/>
            <a:pathLst>
              <a:path w="2388973" h="1913009">
                <a:moveTo>
                  <a:pt x="0" y="0"/>
                </a:moveTo>
                <a:lnTo>
                  <a:pt x="2388973" y="0"/>
                </a:lnTo>
                <a:lnTo>
                  <a:pt x="2388973" y="1913009"/>
                </a:lnTo>
                <a:lnTo>
                  <a:pt x="0" y="1913009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3561149" y="4103616"/>
            <a:ext cx="36613" cy="1913009"/>
          </a:xfrm>
          <a:custGeom>
            <a:avLst/>
            <a:gdLst/>
            <a:ahLst/>
            <a:cxnLst/>
            <a:rect l="l" t="t" r="r" b="b"/>
            <a:pathLst>
              <a:path w="36613" h="1913009">
                <a:moveTo>
                  <a:pt x="0" y="0"/>
                </a:moveTo>
                <a:lnTo>
                  <a:pt x="36613" y="0"/>
                </a:lnTo>
                <a:lnTo>
                  <a:pt x="36613" y="1913009"/>
                </a:lnTo>
                <a:lnTo>
                  <a:pt x="0" y="1913009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3" name="Shape 10"/>
          <p:cNvSpPr/>
          <p:nvPr/>
        </p:nvSpPr>
        <p:spPr>
          <a:xfrm>
            <a:off x="4557412" y="4286679"/>
            <a:ext cx="411892" cy="329514"/>
          </a:xfrm>
          <a:custGeom>
            <a:avLst/>
            <a:gdLst/>
            <a:ahLst/>
            <a:cxnLst/>
            <a:rect l="l" t="t" r="r" b="b"/>
            <a:pathLst>
              <a:path w="411892" h="329514">
                <a:moveTo>
                  <a:pt x="205946" y="10297"/>
                </a:moveTo>
                <a:cubicBezTo>
                  <a:pt x="242887" y="10297"/>
                  <a:pt x="272878" y="40289"/>
                  <a:pt x="272878" y="77230"/>
                </a:cubicBezTo>
                <a:cubicBezTo>
                  <a:pt x="272878" y="114171"/>
                  <a:pt x="242887" y="144162"/>
                  <a:pt x="205946" y="144162"/>
                </a:cubicBezTo>
                <a:cubicBezTo>
                  <a:pt x="169005" y="144162"/>
                  <a:pt x="139014" y="114171"/>
                  <a:pt x="139014" y="77230"/>
                </a:cubicBezTo>
                <a:cubicBezTo>
                  <a:pt x="139014" y="40289"/>
                  <a:pt x="169005" y="10297"/>
                  <a:pt x="205946" y="10297"/>
                </a:cubicBezTo>
                <a:close/>
                <a:moveTo>
                  <a:pt x="61784" y="56635"/>
                </a:moveTo>
                <a:cubicBezTo>
                  <a:pt x="87358" y="56635"/>
                  <a:pt x="108122" y="77398"/>
                  <a:pt x="108122" y="102973"/>
                </a:cubicBezTo>
                <a:cubicBezTo>
                  <a:pt x="108122" y="128548"/>
                  <a:pt x="87358" y="149311"/>
                  <a:pt x="61784" y="149311"/>
                </a:cubicBezTo>
                <a:cubicBezTo>
                  <a:pt x="36209" y="149311"/>
                  <a:pt x="15446" y="128548"/>
                  <a:pt x="15446" y="102973"/>
                </a:cubicBezTo>
                <a:cubicBezTo>
                  <a:pt x="15446" y="77398"/>
                  <a:pt x="36209" y="56635"/>
                  <a:pt x="61784" y="56635"/>
                </a:cubicBezTo>
                <a:close/>
                <a:moveTo>
                  <a:pt x="0" y="267730"/>
                </a:moveTo>
                <a:cubicBezTo>
                  <a:pt x="0" y="222229"/>
                  <a:pt x="36877" y="185351"/>
                  <a:pt x="82378" y="185351"/>
                </a:cubicBezTo>
                <a:cubicBezTo>
                  <a:pt x="90616" y="185351"/>
                  <a:pt x="98597" y="186574"/>
                  <a:pt x="106127" y="188827"/>
                </a:cubicBezTo>
                <a:cubicBezTo>
                  <a:pt x="84953" y="212510"/>
                  <a:pt x="72081" y="243789"/>
                  <a:pt x="72081" y="278027"/>
                </a:cubicBezTo>
                <a:lnTo>
                  <a:pt x="72081" y="288324"/>
                </a:lnTo>
                <a:cubicBezTo>
                  <a:pt x="72081" y="295661"/>
                  <a:pt x="73626" y="302612"/>
                  <a:pt x="76393" y="308919"/>
                </a:cubicBezTo>
                <a:lnTo>
                  <a:pt x="20595" y="308919"/>
                </a:lnTo>
                <a:cubicBezTo>
                  <a:pt x="9203" y="308919"/>
                  <a:pt x="0" y="299716"/>
                  <a:pt x="0" y="288324"/>
                </a:cubicBezTo>
                <a:lnTo>
                  <a:pt x="0" y="267730"/>
                </a:lnTo>
                <a:close/>
                <a:moveTo>
                  <a:pt x="335499" y="308919"/>
                </a:moveTo>
                <a:cubicBezTo>
                  <a:pt x="338266" y="302612"/>
                  <a:pt x="339811" y="295661"/>
                  <a:pt x="339811" y="288324"/>
                </a:cubicBezTo>
                <a:lnTo>
                  <a:pt x="339811" y="278027"/>
                </a:lnTo>
                <a:cubicBezTo>
                  <a:pt x="339811" y="243789"/>
                  <a:pt x="326939" y="212510"/>
                  <a:pt x="305765" y="188827"/>
                </a:cubicBezTo>
                <a:cubicBezTo>
                  <a:pt x="313295" y="186574"/>
                  <a:pt x="321276" y="185351"/>
                  <a:pt x="329514" y="185351"/>
                </a:cubicBezTo>
                <a:cubicBezTo>
                  <a:pt x="375015" y="185351"/>
                  <a:pt x="411892" y="222229"/>
                  <a:pt x="411892" y="267730"/>
                </a:cubicBezTo>
                <a:lnTo>
                  <a:pt x="411892" y="288324"/>
                </a:lnTo>
                <a:cubicBezTo>
                  <a:pt x="411892" y="299716"/>
                  <a:pt x="402689" y="308919"/>
                  <a:pt x="391297" y="308919"/>
                </a:cubicBezTo>
                <a:lnTo>
                  <a:pt x="335499" y="308919"/>
                </a:lnTo>
                <a:close/>
                <a:moveTo>
                  <a:pt x="303770" y="102973"/>
                </a:moveTo>
                <a:cubicBezTo>
                  <a:pt x="303770" y="77398"/>
                  <a:pt x="324534" y="56635"/>
                  <a:pt x="350108" y="56635"/>
                </a:cubicBezTo>
                <a:cubicBezTo>
                  <a:pt x="375683" y="56635"/>
                  <a:pt x="396446" y="77398"/>
                  <a:pt x="396446" y="102973"/>
                </a:cubicBezTo>
                <a:cubicBezTo>
                  <a:pt x="396446" y="128548"/>
                  <a:pt x="375683" y="149311"/>
                  <a:pt x="350108" y="149311"/>
                </a:cubicBezTo>
                <a:cubicBezTo>
                  <a:pt x="324534" y="149311"/>
                  <a:pt x="303770" y="128548"/>
                  <a:pt x="303770" y="102973"/>
                </a:cubicBezTo>
                <a:close/>
                <a:moveTo>
                  <a:pt x="102973" y="278027"/>
                </a:moveTo>
                <a:cubicBezTo>
                  <a:pt x="102973" y="221134"/>
                  <a:pt x="149053" y="175054"/>
                  <a:pt x="205946" y="175054"/>
                </a:cubicBezTo>
                <a:cubicBezTo>
                  <a:pt x="262839" y="175054"/>
                  <a:pt x="308919" y="221134"/>
                  <a:pt x="308919" y="278027"/>
                </a:cubicBezTo>
                <a:lnTo>
                  <a:pt x="308919" y="288324"/>
                </a:lnTo>
                <a:cubicBezTo>
                  <a:pt x="308919" y="299716"/>
                  <a:pt x="299716" y="308919"/>
                  <a:pt x="288324" y="308919"/>
                </a:cubicBezTo>
                <a:lnTo>
                  <a:pt x="123568" y="308919"/>
                </a:lnTo>
                <a:cubicBezTo>
                  <a:pt x="112176" y="308919"/>
                  <a:pt x="102973" y="299716"/>
                  <a:pt x="102973" y="288324"/>
                </a:cubicBezTo>
                <a:lnTo>
                  <a:pt x="102973" y="278027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4" name="Text 11"/>
          <p:cNvSpPr/>
          <p:nvPr/>
        </p:nvSpPr>
        <p:spPr>
          <a:xfrm>
            <a:off x="3652680" y="4735184"/>
            <a:ext cx="2224216" cy="439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459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150-250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707599" y="5247760"/>
            <a:ext cx="2114378" cy="292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30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Lives Saved Annually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721329" y="5577274"/>
            <a:ext cx="2086919" cy="2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97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1-2 Implementation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258611" y="4103616"/>
            <a:ext cx="2388973" cy="1913009"/>
          </a:xfrm>
          <a:custGeom>
            <a:avLst/>
            <a:gdLst/>
            <a:ahLst/>
            <a:cxnLst/>
            <a:rect l="l" t="t" r="r" b="b"/>
            <a:pathLst>
              <a:path w="2388973" h="1913009">
                <a:moveTo>
                  <a:pt x="0" y="0"/>
                </a:moveTo>
                <a:lnTo>
                  <a:pt x="2388973" y="0"/>
                </a:lnTo>
                <a:lnTo>
                  <a:pt x="2388973" y="1913009"/>
                </a:lnTo>
                <a:lnTo>
                  <a:pt x="0" y="1913009"/>
                </a:lnTo>
                <a:lnTo>
                  <a:pt x="0" y="0"/>
                </a:lnTo>
                <a:close/>
              </a:path>
            </a:pathLst>
          </a:custGeom>
          <a:solidFill>
            <a:srgbClr val="4E9A8C">
              <a:alpha val="2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6258611" y="4103616"/>
            <a:ext cx="36613" cy="1913009"/>
          </a:xfrm>
          <a:custGeom>
            <a:avLst/>
            <a:gdLst/>
            <a:ahLst/>
            <a:cxnLst/>
            <a:rect l="l" t="t" r="r" b="b"/>
            <a:pathLst>
              <a:path w="36613" h="1913009">
                <a:moveTo>
                  <a:pt x="0" y="0"/>
                </a:moveTo>
                <a:lnTo>
                  <a:pt x="36613" y="0"/>
                </a:lnTo>
                <a:lnTo>
                  <a:pt x="36613" y="1913009"/>
                </a:lnTo>
                <a:lnTo>
                  <a:pt x="0" y="1913009"/>
                </a:lnTo>
                <a:lnTo>
                  <a:pt x="0" y="0"/>
                </a:lnTo>
                <a:close/>
              </a:path>
            </a:pathLst>
          </a:custGeom>
          <a:solidFill>
            <a:srgbClr val="4E9A8C"/>
          </a:solidFill>
          <a:ln/>
        </p:spPr>
      </p:sp>
      <p:sp>
        <p:nvSpPr>
          <p:cNvPr id="19" name="Shape 16"/>
          <p:cNvSpPr/>
          <p:nvPr/>
        </p:nvSpPr>
        <p:spPr>
          <a:xfrm>
            <a:off x="7275470" y="4286679"/>
            <a:ext cx="370703" cy="329514"/>
          </a:xfrm>
          <a:custGeom>
            <a:avLst/>
            <a:gdLst/>
            <a:ahLst/>
            <a:cxnLst/>
            <a:rect l="l" t="t" r="r" b="b"/>
            <a:pathLst>
              <a:path w="370703" h="329514">
                <a:moveTo>
                  <a:pt x="41189" y="82378"/>
                </a:moveTo>
                <a:cubicBezTo>
                  <a:pt x="41189" y="42596"/>
                  <a:pt x="73488" y="10297"/>
                  <a:pt x="113270" y="10297"/>
                </a:cubicBezTo>
                <a:cubicBezTo>
                  <a:pt x="153053" y="10297"/>
                  <a:pt x="185351" y="42596"/>
                  <a:pt x="185351" y="82378"/>
                </a:cubicBezTo>
                <a:cubicBezTo>
                  <a:pt x="185351" y="122161"/>
                  <a:pt x="153053" y="154459"/>
                  <a:pt x="113270" y="154459"/>
                </a:cubicBezTo>
                <a:cubicBezTo>
                  <a:pt x="73488" y="154459"/>
                  <a:pt x="41189" y="122161"/>
                  <a:pt x="41189" y="82378"/>
                </a:cubicBezTo>
                <a:close/>
                <a:moveTo>
                  <a:pt x="0" y="298622"/>
                </a:moveTo>
                <a:cubicBezTo>
                  <a:pt x="0" y="236066"/>
                  <a:pt x="50714" y="185351"/>
                  <a:pt x="113270" y="185351"/>
                </a:cubicBezTo>
                <a:cubicBezTo>
                  <a:pt x="175826" y="185351"/>
                  <a:pt x="226541" y="236066"/>
                  <a:pt x="226541" y="298622"/>
                </a:cubicBezTo>
                <a:lnTo>
                  <a:pt x="226541" y="302483"/>
                </a:lnTo>
                <a:cubicBezTo>
                  <a:pt x="226541" y="317414"/>
                  <a:pt x="214441" y="329514"/>
                  <a:pt x="199510" y="329514"/>
                </a:cubicBezTo>
                <a:lnTo>
                  <a:pt x="27030" y="329514"/>
                </a:lnTo>
                <a:cubicBezTo>
                  <a:pt x="12099" y="329514"/>
                  <a:pt x="0" y="317414"/>
                  <a:pt x="0" y="302483"/>
                </a:cubicBezTo>
                <a:lnTo>
                  <a:pt x="0" y="298622"/>
                </a:lnTo>
                <a:close/>
                <a:moveTo>
                  <a:pt x="278027" y="41189"/>
                </a:moveTo>
                <a:cubicBezTo>
                  <a:pt x="312126" y="41189"/>
                  <a:pt x="339811" y="68874"/>
                  <a:pt x="339811" y="102973"/>
                </a:cubicBezTo>
                <a:cubicBezTo>
                  <a:pt x="339811" y="137072"/>
                  <a:pt x="312126" y="164757"/>
                  <a:pt x="278027" y="164757"/>
                </a:cubicBezTo>
                <a:cubicBezTo>
                  <a:pt x="243928" y="164757"/>
                  <a:pt x="216243" y="137072"/>
                  <a:pt x="216243" y="102973"/>
                </a:cubicBezTo>
                <a:cubicBezTo>
                  <a:pt x="216243" y="68874"/>
                  <a:pt x="243928" y="41189"/>
                  <a:pt x="278027" y="41189"/>
                </a:cubicBezTo>
                <a:close/>
                <a:moveTo>
                  <a:pt x="278027" y="195649"/>
                </a:moveTo>
                <a:cubicBezTo>
                  <a:pt x="329192" y="195649"/>
                  <a:pt x="370703" y="237160"/>
                  <a:pt x="370703" y="288324"/>
                </a:cubicBezTo>
                <a:lnTo>
                  <a:pt x="370703" y="302741"/>
                </a:lnTo>
                <a:cubicBezTo>
                  <a:pt x="370703" y="317543"/>
                  <a:pt x="358732" y="329514"/>
                  <a:pt x="343930" y="329514"/>
                </a:cubicBezTo>
                <a:lnTo>
                  <a:pt x="250739" y="329514"/>
                </a:lnTo>
                <a:cubicBezTo>
                  <a:pt x="254987" y="321469"/>
                  <a:pt x="257432" y="312266"/>
                  <a:pt x="257432" y="302483"/>
                </a:cubicBezTo>
                <a:lnTo>
                  <a:pt x="257432" y="298622"/>
                </a:lnTo>
                <a:cubicBezTo>
                  <a:pt x="257432" y="265477"/>
                  <a:pt x="246234" y="234971"/>
                  <a:pt x="227506" y="210644"/>
                </a:cubicBezTo>
                <a:cubicBezTo>
                  <a:pt x="242051" y="201183"/>
                  <a:pt x="259428" y="195649"/>
                  <a:pt x="278027" y="195649"/>
                </a:cubicBezTo>
                <a:close/>
              </a:path>
            </a:pathLst>
          </a:custGeom>
          <a:solidFill>
            <a:srgbClr val="4E9A8C"/>
          </a:solidFill>
          <a:ln/>
        </p:spPr>
      </p:sp>
      <p:sp>
        <p:nvSpPr>
          <p:cNvPr id="20" name="Text 17"/>
          <p:cNvSpPr/>
          <p:nvPr/>
        </p:nvSpPr>
        <p:spPr>
          <a:xfrm>
            <a:off x="6350143" y="4735184"/>
            <a:ext cx="2224216" cy="439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459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250-400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405062" y="5247760"/>
            <a:ext cx="2114378" cy="292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30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Lives Saved Annually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418792" y="5577274"/>
            <a:ext cx="2086919" cy="2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97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Program Deployment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297477" y="6236301"/>
            <a:ext cx="11597045" cy="897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162" dirty="0">
                <a:solidFill>
                  <a:srgbClr val="E0E2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That's </a:t>
            </a:r>
            <a:pPr algn="ctr">
              <a:lnSpc>
                <a:spcPct val="140000"/>
              </a:lnSpc>
            </a:pPr>
            <a:r>
              <a:rPr lang="en-US" sz="2162" b="1" dirty="0">
                <a:solidFill>
                  <a:srgbClr val="4E9A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families staying intact</a:t>
            </a:r>
            <a:pPr algn="ctr">
              <a:lnSpc>
                <a:spcPct val="140000"/>
              </a:lnSpc>
            </a:pPr>
            <a:r>
              <a:rPr lang="en-US" sz="2162" dirty="0">
                <a:solidFill>
                  <a:srgbClr val="E0E2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2162" b="1" dirty="0">
                <a:solidFill>
                  <a:srgbClr val="4E9A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Communities remaining whole</a:t>
            </a:r>
            <a:pPr algn="ctr">
              <a:lnSpc>
                <a:spcPct val="140000"/>
              </a:lnSpc>
            </a:pPr>
            <a:r>
              <a:rPr lang="en-US" sz="2162" dirty="0">
                <a:solidFill>
                  <a:srgbClr val="E0E2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909638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From Data to Decision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486400" y="1481138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E9A8C"/>
          </a:solidFill>
          <a:ln/>
        </p:spPr>
      </p:sp>
      <p:sp>
        <p:nvSpPr>
          <p:cNvPr id="4" name="Shape 2"/>
          <p:cNvSpPr/>
          <p:nvPr/>
        </p:nvSpPr>
        <p:spPr>
          <a:xfrm>
            <a:off x="979438" y="1752600"/>
            <a:ext cx="5000625" cy="1038225"/>
          </a:xfrm>
          <a:custGeom>
            <a:avLst/>
            <a:gdLst/>
            <a:ahLst/>
            <a:cxnLst/>
            <a:rect l="l" t="t" r="r" b="b"/>
            <a:pathLst>
              <a:path w="5000625" h="1038225">
                <a:moveTo>
                  <a:pt x="0" y="0"/>
                </a:moveTo>
                <a:lnTo>
                  <a:pt x="5000625" y="0"/>
                </a:lnTo>
                <a:lnTo>
                  <a:pt x="5000625" y="1038225"/>
                </a:lnTo>
                <a:lnTo>
                  <a:pt x="0" y="103822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4700" y="194786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E9A8C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369963" y="2100263"/>
            <a:ext cx="142875" cy="228600"/>
          </a:xfrm>
          <a:custGeom>
            <a:avLst/>
            <a:gdLst/>
            <a:ahLst/>
            <a:cxnLst/>
            <a:rect l="l" t="t" r="r" b="b"/>
            <a:pathLst>
              <a:path w="142875" h="228600">
                <a:moveTo>
                  <a:pt x="28575" y="71438"/>
                </a:moveTo>
                <a:cubicBezTo>
                  <a:pt x="28575" y="47774"/>
                  <a:pt x="47774" y="28575"/>
                  <a:pt x="71438" y="28575"/>
                </a:cubicBezTo>
                <a:cubicBezTo>
                  <a:pt x="95101" y="28575"/>
                  <a:pt x="114300" y="47774"/>
                  <a:pt x="114300" y="71438"/>
                </a:cubicBezTo>
                <a:cubicBezTo>
                  <a:pt x="114300" y="90502"/>
                  <a:pt x="101843" y="106665"/>
                  <a:pt x="84609" y="112246"/>
                </a:cubicBezTo>
                <a:cubicBezTo>
                  <a:pt x="71929" y="116354"/>
                  <a:pt x="57150" y="128007"/>
                  <a:pt x="57150" y="146447"/>
                </a:cubicBezTo>
                <a:lnTo>
                  <a:pt x="57150" y="157163"/>
                </a:lnTo>
                <a:cubicBezTo>
                  <a:pt x="57150" y="165065"/>
                  <a:pt x="63535" y="171450"/>
                  <a:pt x="71438" y="171450"/>
                </a:cubicBezTo>
                <a:cubicBezTo>
                  <a:pt x="79340" y="171450"/>
                  <a:pt x="85725" y="165065"/>
                  <a:pt x="85725" y="157163"/>
                </a:cubicBezTo>
                <a:lnTo>
                  <a:pt x="85725" y="146447"/>
                </a:lnTo>
                <a:cubicBezTo>
                  <a:pt x="85725" y="145688"/>
                  <a:pt x="85993" y="144616"/>
                  <a:pt x="87288" y="143188"/>
                </a:cubicBezTo>
                <a:cubicBezTo>
                  <a:pt x="88627" y="141714"/>
                  <a:pt x="90815" y="140285"/>
                  <a:pt x="93405" y="139437"/>
                </a:cubicBezTo>
                <a:cubicBezTo>
                  <a:pt x="122113" y="130195"/>
                  <a:pt x="142875" y="103272"/>
                  <a:pt x="142875" y="71438"/>
                </a:cubicBezTo>
                <a:cubicBezTo>
                  <a:pt x="142875" y="31968"/>
                  <a:pt x="110907" y="0"/>
                  <a:pt x="71438" y="0"/>
                </a:cubicBezTo>
                <a:cubicBezTo>
                  <a:pt x="31968" y="0"/>
                  <a:pt x="0" y="31968"/>
                  <a:pt x="0" y="71438"/>
                </a:cubicBezTo>
                <a:cubicBezTo>
                  <a:pt x="0" y="79340"/>
                  <a:pt x="6385" y="85725"/>
                  <a:pt x="14288" y="85725"/>
                </a:cubicBezTo>
                <a:cubicBezTo>
                  <a:pt x="22190" y="85725"/>
                  <a:pt x="28575" y="79340"/>
                  <a:pt x="28575" y="71438"/>
                </a:cubicBezTo>
                <a:close/>
                <a:moveTo>
                  <a:pt x="71438" y="228600"/>
                </a:moveTo>
                <a:cubicBezTo>
                  <a:pt x="81305" y="228600"/>
                  <a:pt x="89297" y="220608"/>
                  <a:pt x="89297" y="210741"/>
                </a:cubicBezTo>
                <a:cubicBezTo>
                  <a:pt x="89297" y="200873"/>
                  <a:pt x="81305" y="192881"/>
                  <a:pt x="71438" y="192881"/>
                </a:cubicBezTo>
                <a:cubicBezTo>
                  <a:pt x="61570" y="192881"/>
                  <a:pt x="53578" y="200873"/>
                  <a:pt x="53578" y="210741"/>
                </a:cubicBezTo>
                <a:cubicBezTo>
                  <a:pt x="53578" y="220608"/>
                  <a:pt x="61570" y="228600"/>
                  <a:pt x="71438" y="228600"/>
                </a:cubicBezTo>
                <a:close/>
              </a:path>
            </a:pathLst>
          </a:custGeom>
          <a:solidFill>
            <a:srgbClr val="4E9A8C"/>
          </a:solidFill>
          <a:ln/>
        </p:spPr>
      </p:sp>
      <p:sp>
        <p:nvSpPr>
          <p:cNvPr id="7" name="Text 5"/>
          <p:cNvSpPr/>
          <p:nvPr/>
        </p:nvSpPr>
        <p:spPr>
          <a:xfrm>
            <a:off x="1860500" y="1947863"/>
            <a:ext cx="2914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Which roads are most dangerous?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60500" y="2290763"/>
            <a:ext cx="2933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We know. </a:t>
            </a:r>
            <a:pPr>
              <a:lnSpc>
                <a:spcPct val="110000"/>
              </a:lnSpc>
            </a:pPr>
            <a:r>
              <a:rPr lang="en-US" sz="1800" b="1" dirty="0">
                <a:solidFill>
                  <a:srgbClr val="4E9A8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(96% accuracy)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5063" y="1752600"/>
            <a:ext cx="5000625" cy="1038225"/>
          </a:xfrm>
          <a:custGeom>
            <a:avLst/>
            <a:gdLst/>
            <a:ahLst/>
            <a:cxnLst/>
            <a:rect l="l" t="t" r="r" b="b"/>
            <a:pathLst>
              <a:path w="5000625" h="1038225">
                <a:moveTo>
                  <a:pt x="0" y="0"/>
                </a:moveTo>
                <a:lnTo>
                  <a:pt x="5000625" y="0"/>
                </a:lnTo>
                <a:lnTo>
                  <a:pt x="5000625" y="1038225"/>
                </a:lnTo>
                <a:lnTo>
                  <a:pt x="0" y="103822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10325" y="194786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E9A8C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605588" y="2100263"/>
            <a:ext cx="142875" cy="228600"/>
          </a:xfrm>
          <a:custGeom>
            <a:avLst/>
            <a:gdLst/>
            <a:ahLst/>
            <a:cxnLst/>
            <a:rect l="l" t="t" r="r" b="b"/>
            <a:pathLst>
              <a:path w="142875" h="228600">
                <a:moveTo>
                  <a:pt x="28575" y="71438"/>
                </a:moveTo>
                <a:cubicBezTo>
                  <a:pt x="28575" y="47774"/>
                  <a:pt x="47774" y="28575"/>
                  <a:pt x="71438" y="28575"/>
                </a:cubicBezTo>
                <a:cubicBezTo>
                  <a:pt x="95101" y="28575"/>
                  <a:pt x="114300" y="47774"/>
                  <a:pt x="114300" y="71438"/>
                </a:cubicBezTo>
                <a:cubicBezTo>
                  <a:pt x="114300" y="90502"/>
                  <a:pt x="101843" y="106665"/>
                  <a:pt x="84609" y="112246"/>
                </a:cubicBezTo>
                <a:cubicBezTo>
                  <a:pt x="71929" y="116354"/>
                  <a:pt x="57150" y="128007"/>
                  <a:pt x="57150" y="146447"/>
                </a:cubicBezTo>
                <a:lnTo>
                  <a:pt x="57150" y="157163"/>
                </a:lnTo>
                <a:cubicBezTo>
                  <a:pt x="57150" y="165065"/>
                  <a:pt x="63535" y="171450"/>
                  <a:pt x="71438" y="171450"/>
                </a:cubicBezTo>
                <a:cubicBezTo>
                  <a:pt x="79340" y="171450"/>
                  <a:pt x="85725" y="165065"/>
                  <a:pt x="85725" y="157163"/>
                </a:cubicBezTo>
                <a:lnTo>
                  <a:pt x="85725" y="146447"/>
                </a:lnTo>
                <a:cubicBezTo>
                  <a:pt x="85725" y="145688"/>
                  <a:pt x="85993" y="144616"/>
                  <a:pt x="87288" y="143188"/>
                </a:cubicBezTo>
                <a:cubicBezTo>
                  <a:pt x="88627" y="141714"/>
                  <a:pt x="90815" y="140285"/>
                  <a:pt x="93405" y="139437"/>
                </a:cubicBezTo>
                <a:cubicBezTo>
                  <a:pt x="122113" y="130195"/>
                  <a:pt x="142875" y="103272"/>
                  <a:pt x="142875" y="71438"/>
                </a:cubicBezTo>
                <a:cubicBezTo>
                  <a:pt x="142875" y="31968"/>
                  <a:pt x="110907" y="0"/>
                  <a:pt x="71438" y="0"/>
                </a:cubicBezTo>
                <a:cubicBezTo>
                  <a:pt x="31968" y="0"/>
                  <a:pt x="0" y="31968"/>
                  <a:pt x="0" y="71438"/>
                </a:cubicBezTo>
                <a:cubicBezTo>
                  <a:pt x="0" y="79340"/>
                  <a:pt x="6385" y="85725"/>
                  <a:pt x="14288" y="85725"/>
                </a:cubicBezTo>
                <a:cubicBezTo>
                  <a:pt x="22190" y="85725"/>
                  <a:pt x="28575" y="79340"/>
                  <a:pt x="28575" y="71438"/>
                </a:cubicBezTo>
                <a:close/>
                <a:moveTo>
                  <a:pt x="71438" y="228600"/>
                </a:moveTo>
                <a:cubicBezTo>
                  <a:pt x="81305" y="228600"/>
                  <a:pt x="89297" y="220608"/>
                  <a:pt x="89297" y="210741"/>
                </a:cubicBezTo>
                <a:cubicBezTo>
                  <a:pt x="89297" y="200873"/>
                  <a:pt x="81305" y="192881"/>
                  <a:pt x="71438" y="192881"/>
                </a:cubicBezTo>
                <a:cubicBezTo>
                  <a:pt x="61570" y="192881"/>
                  <a:pt x="53578" y="200873"/>
                  <a:pt x="53578" y="210741"/>
                </a:cubicBezTo>
                <a:cubicBezTo>
                  <a:pt x="53578" y="220608"/>
                  <a:pt x="61570" y="228600"/>
                  <a:pt x="71438" y="228600"/>
                </a:cubicBezTo>
                <a:close/>
              </a:path>
            </a:pathLst>
          </a:custGeom>
          <a:solidFill>
            <a:srgbClr val="4E9A8C"/>
          </a:solidFill>
          <a:ln/>
        </p:spPr>
      </p:sp>
      <p:sp>
        <p:nvSpPr>
          <p:cNvPr id="12" name="Text 10"/>
          <p:cNvSpPr/>
          <p:nvPr/>
        </p:nvSpPr>
        <p:spPr>
          <a:xfrm>
            <a:off x="7096125" y="1947863"/>
            <a:ext cx="401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are they dangerous?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96125" y="2290763"/>
            <a:ext cx="4038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We know. </a:t>
            </a:r>
            <a:pPr>
              <a:lnSpc>
                <a:spcPct val="110000"/>
              </a:lnSpc>
            </a:pPr>
            <a:r>
              <a:rPr lang="en-US" sz="1800" b="1" dirty="0">
                <a:solidFill>
                  <a:srgbClr val="4E9A8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(Lighting, speed, curvature)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79438" y="3028950"/>
            <a:ext cx="5000625" cy="1038225"/>
          </a:xfrm>
          <a:custGeom>
            <a:avLst/>
            <a:gdLst/>
            <a:ahLst/>
            <a:cxnLst/>
            <a:rect l="l" t="t" r="r" b="b"/>
            <a:pathLst>
              <a:path w="5000625" h="1038225">
                <a:moveTo>
                  <a:pt x="0" y="0"/>
                </a:moveTo>
                <a:lnTo>
                  <a:pt x="5000625" y="0"/>
                </a:lnTo>
                <a:lnTo>
                  <a:pt x="5000625" y="1038225"/>
                </a:lnTo>
                <a:lnTo>
                  <a:pt x="0" y="103822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74700" y="322421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E9A8C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369963" y="3376613"/>
            <a:ext cx="142875" cy="228600"/>
          </a:xfrm>
          <a:custGeom>
            <a:avLst/>
            <a:gdLst/>
            <a:ahLst/>
            <a:cxnLst/>
            <a:rect l="l" t="t" r="r" b="b"/>
            <a:pathLst>
              <a:path w="142875" h="228600">
                <a:moveTo>
                  <a:pt x="28575" y="71438"/>
                </a:moveTo>
                <a:cubicBezTo>
                  <a:pt x="28575" y="47774"/>
                  <a:pt x="47774" y="28575"/>
                  <a:pt x="71438" y="28575"/>
                </a:cubicBezTo>
                <a:cubicBezTo>
                  <a:pt x="95101" y="28575"/>
                  <a:pt x="114300" y="47774"/>
                  <a:pt x="114300" y="71438"/>
                </a:cubicBezTo>
                <a:cubicBezTo>
                  <a:pt x="114300" y="90502"/>
                  <a:pt x="101843" y="106665"/>
                  <a:pt x="84609" y="112246"/>
                </a:cubicBezTo>
                <a:cubicBezTo>
                  <a:pt x="71929" y="116354"/>
                  <a:pt x="57150" y="128007"/>
                  <a:pt x="57150" y="146447"/>
                </a:cubicBezTo>
                <a:lnTo>
                  <a:pt x="57150" y="157163"/>
                </a:lnTo>
                <a:cubicBezTo>
                  <a:pt x="57150" y="165065"/>
                  <a:pt x="63535" y="171450"/>
                  <a:pt x="71438" y="171450"/>
                </a:cubicBezTo>
                <a:cubicBezTo>
                  <a:pt x="79340" y="171450"/>
                  <a:pt x="85725" y="165065"/>
                  <a:pt x="85725" y="157163"/>
                </a:cubicBezTo>
                <a:lnTo>
                  <a:pt x="85725" y="146447"/>
                </a:lnTo>
                <a:cubicBezTo>
                  <a:pt x="85725" y="145688"/>
                  <a:pt x="85993" y="144616"/>
                  <a:pt x="87288" y="143188"/>
                </a:cubicBezTo>
                <a:cubicBezTo>
                  <a:pt x="88627" y="141714"/>
                  <a:pt x="90815" y="140285"/>
                  <a:pt x="93405" y="139437"/>
                </a:cubicBezTo>
                <a:cubicBezTo>
                  <a:pt x="122113" y="130195"/>
                  <a:pt x="142875" y="103272"/>
                  <a:pt x="142875" y="71438"/>
                </a:cubicBezTo>
                <a:cubicBezTo>
                  <a:pt x="142875" y="31968"/>
                  <a:pt x="110907" y="0"/>
                  <a:pt x="71438" y="0"/>
                </a:cubicBezTo>
                <a:cubicBezTo>
                  <a:pt x="31968" y="0"/>
                  <a:pt x="0" y="31968"/>
                  <a:pt x="0" y="71438"/>
                </a:cubicBezTo>
                <a:cubicBezTo>
                  <a:pt x="0" y="79340"/>
                  <a:pt x="6385" y="85725"/>
                  <a:pt x="14288" y="85725"/>
                </a:cubicBezTo>
                <a:cubicBezTo>
                  <a:pt x="22190" y="85725"/>
                  <a:pt x="28575" y="79340"/>
                  <a:pt x="28575" y="71438"/>
                </a:cubicBezTo>
                <a:close/>
                <a:moveTo>
                  <a:pt x="71438" y="228600"/>
                </a:moveTo>
                <a:cubicBezTo>
                  <a:pt x="81305" y="228600"/>
                  <a:pt x="89297" y="220608"/>
                  <a:pt x="89297" y="210741"/>
                </a:cubicBezTo>
                <a:cubicBezTo>
                  <a:pt x="89297" y="200873"/>
                  <a:pt x="81305" y="192881"/>
                  <a:pt x="71438" y="192881"/>
                </a:cubicBezTo>
                <a:cubicBezTo>
                  <a:pt x="61570" y="192881"/>
                  <a:pt x="53578" y="200873"/>
                  <a:pt x="53578" y="210741"/>
                </a:cubicBezTo>
                <a:cubicBezTo>
                  <a:pt x="53578" y="220608"/>
                  <a:pt x="61570" y="228600"/>
                  <a:pt x="71438" y="228600"/>
                </a:cubicBezTo>
                <a:close/>
              </a:path>
            </a:pathLst>
          </a:custGeom>
          <a:solidFill>
            <a:srgbClr val="4E9A8C"/>
          </a:solidFill>
          <a:ln/>
        </p:spPr>
      </p:sp>
      <p:sp>
        <p:nvSpPr>
          <p:cNvPr id="17" name="Text 15"/>
          <p:cNvSpPr/>
          <p:nvPr/>
        </p:nvSpPr>
        <p:spPr>
          <a:xfrm>
            <a:off x="1860500" y="3224213"/>
            <a:ext cx="3524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interventions work?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860500" y="3567113"/>
            <a:ext cx="3543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We know. </a:t>
            </a:r>
            <a:pPr>
              <a:lnSpc>
                <a:spcPct val="110000"/>
              </a:lnSpc>
            </a:pPr>
            <a:r>
              <a:rPr lang="en-US" sz="1800" b="1" dirty="0">
                <a:solidFill>
                  <a:srgbClr val="4E9A8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(Proven infrastructure)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5063" y="3028950"/>
            <a:ext cx="5000625" cy="1038225"/>
          </a:xfrm>
          <a:custGeom>
            <a:avLst/>
            <a:gdLst/>
            <a:ahLst/>
            <a:cxnLst/>
            <a:rect l="l" t="t" r="r" b="b"/>
            <a:pathLst>
              <a:path w="5000625" h="1038225">
                <a:moveTo>
                  <a:pt x="0" y="0"/>
                </a:moveTo>
                <a:lnTo>
                  <a:pt x="5000625" y="0"/>
                </a:lnTo>
                <a:lnTo>
                  <a:pt x="5000625" y="1038225"/>
                </a:lnTo>
                <a:lnTo>
                  <a:pt x="0" y="103822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10325" y="322421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E9A8C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605588" y="3376613"/>
            <a:ext cx="142875" cy="228600"/>
          </a:xfrm>
          <a:custGeom>
            <a:avLst/>
            <a:gdLst/>
            <a:ahLst/>
            <a:cxnLst/>
            <a:rect l="l" t="t" r="r" b="b"/>
            <a:pathLst>
              <a:path w="142875" h="228600">
                <a:moveTo>
                  <a:pt x="28575" y="71438"/>
                </a:moveTo>
                <a:cubicBezTo>
                  <a:pt x="28575" y="47774"/>
                  <a:pt x="47774" y="28575"/>
                  <a:pt x="71438" y="28575"/>
                </a:cubicBezTo>
                <a:cubicBezTo>
                  <a:pt x="95101" y="28575"/>
                  <a:pt x="114300" y="47774"/>
                  <a:pt x="114300" y="71438"/>
                </a:cubicBezTo>
                <a:cubicBezTo>
                  <a:pt x="114300" y="90502"/>
                  <a:pt x="101843" y="106665"/>
                  <a:pt x="84609" y="112246"/>
                </a:cubicBezTo>
                <a:cubicBezTo>
                  <a:pt x="71929" y="116354"/>
                  <a:pt x="57150" y="128007"/>
                  <a:pt x="57150" y="146447"/>
                </a:cubicBezTo>
                <a:lnTo>
                  <a:pt x="57150" y="157163"/>
                </a:lnTo>
                <a:cubicBezTo>
                  <a:pt x="57150" y="165065"/>
                  <a:pt x="63535" y="171450"/>
                  <a:pt x="71438" y="171450"/>
                </a:cubicBezTo>
                <a:cubicBezTo>
                  <a:pt x="79340" y="171450"/>
                  <a:pt x="85725" y="165065"/>
                  <a:pt x="85725" y="157163"/>
                </a:cubicBezTo>
                <a:lnTo>
                  <a:pt x="85725" y="146447"/>
                </a:lnTo>
                <a:cubicBezTo>
                  <a:pt x="85725" y="145688"/>
                  <a:pt x="85993" y="144616"/>
                  <a:pt x="87288" y="143188"/>
                </a:cubicBezTo>
                <a:cubicBezTo>
                  <a:pt x="88627" y="141714"/>
                  <a:pt x="90815" y="140285"/>
                  <a:pt x="93405" y="139437"/>
                </a:cubicBezTo>
                <a:cubicBezTo>
                  <a:pt x="122113" y="130195"/>
                  <a:pt x="142875" y="103272"/>
                  <a:pt x="142875" y="71438"/>
                </a:cubicBezTo>
                <a:cubicBezTo>
                  <a:pt x="142875" y="31968"/>
                  <a:pt x="110907" y="0"/>
                  <a:pt x="71438" y="0"/>
                </a:cubicBezTo>
                <a:cubicBezTo>
                  <a:pt x="31968" y="0"/>
                  <a:pt x="0" y="31968"/>
                  <a:pt x="0" y="71438"/>
                </a:cubicBezTo>
                <a:cubicBezTo>
                  <a:pt x="0" y="79340"/>
                  <a:pt x="6385" y="85725"/>
                  <a:pt x="14288" y="85725"/>
                </a:cubicBezTo>
                <a:cubicBezTo>
                  <a:pt x="22190" y="85725"/>
                  <a:pt x="28575" y="79340"/>
                  <a:pt x="28575" y="71438"/>
                </a:cubicBezTo>
                <a:close/>
                <a:moveTo>
                  <a:pt x="71438" y="228600"/>
                </a:moveTo>
                <a:cubicBezTo>
                  <a:pt x="81305" y="228600"/>
                  <a:pt x="89297" y="220608"/>
                  <a:pt x="89297" y="210741"/>
                </a:cubicBezTo>
                <a:cubicBezTo>
                  <a:pt x="89297" y="200873"/>
                  <a:pt x="81305" y="192881"/>
                  <a:pt x="71438" y="192881"/>
                </a:cubicBezTo>
                <a:cubicBezTo>
                  <a:pt x="61570" y="192881"/>
                  <a:pt x="53578" y="200873"/>
                  <a:pt x="53578" y="210741"/>
                </a:cubicBezTo>
                <a:cubicBezTo>
                  <a:pt x="53578" y="220608"/>
                  <a:pt x="61570" y="228600"/>
                  <a:pt x="71438" y="228600"/>
                </a:cubicBezTo>
                <a:close/>
              </a:path>
            </a:pathLst>
          </a:custGeom>
          <a:solidFill>
            <a:srgbClr val="4E9A8C"/>
          </a:solidFill>
          <a:ln/>
        </p:spPr>
      </p:sp>
      <p:sp>
        <p:nvSpPr>
          <p:cNvPr id="22" name="Text 20"/>
          <p:cNvSpPr/>
          <p:nvPr/>
        </p:nvSpPr>
        <p:spPr>
          <a:xfrm>
            <a:off x="7096125" y="3224213"/>
            <a:ext cx="2762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7D8A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What's the ROI?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96125" y="3567113"/>
            <a:ext cx="2781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We know. </a:t>
            </a:r>
            <a:pPr>
              <a:lnSpc>
                <a:spcPct val="110000"/>
              </a:lnSpc>
            </a:pPr>
            <a:r>
              <a:rPr lang="en-US" sz="1800" b="1" dirty="0">
                <a:solidFill>
                  <a:srgbClr val="4E9A8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(7-15x annually)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871936" y="4319588"/>
            <a:ext cx="6448425" cy="1609725"/>
          </a:xfrm>
          <a:custGeom>
            <a:avLst/>
            <a:gdLst/>
            <a:ahLst/>
            <a:cxnLst/>
            <a:rect l="l" t="t" r="r" b="b"/>
            <a:pathLst>
              <a:path w="6448425" h="1609725">
                <a:moveTo>
                  <a:pt x="0" y="0"/>
                </a:moveTo>
                <a:lnTo>
                  <a:pt x="6448425" y="0"/>
                </a:lnTo>
                <a:lnTo>
                  <a:pt x="6448425" y="1609725"/>
                </a:lnTo>
                <a:lnTo>
                  <a:pt x="0" y="1609725"/>
                </a:lnTo>
                <a:lnTo>
                  <a:pt x="0" y="0"/>
                </a:lnTo>
                <a:close/>
              </a:path>
            </a:pathLst>
          </a:custGeom>
          <a:solidFill>
            <a:srgbClr val="4E9A8C">
              <a:alpha val="20000"/>
            </a:srgbClr>
          </a:solidFill>
          <a:ln w="50800">
            <a:solidFill>
              <a:srgbClr val="4E9A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33861" y="4567238"/>
            <a:ext cx="61245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70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only question is: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005286" y="5110163"/>
            <a:ext cx="61817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E9A8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Will we act on this evidence?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gd-hbimg.huaban.com/e76e464e9dd7a94ab3c45d104e75fcaaedccc58b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7748" b="7748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4">
                  <a:alpha val="95000"/>
                </a:srgbClr>
              </a:gs>
              <a:gs pos="50000">
                <a:srgbClr val="4A6C8C">
                  <a:alpha val="60000"/>
                </a:srgbClr>
              </a:gs>
              <a:gs pos="100000">
                <a:srgbClr val="1A1D24">
                  <a:alpha val="9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353050" y="762000"/>
            <a:ext cx="1485900" cy="1485900"/>
          </a:xfrm>
          <a:custGeom>
            <a:avLst/>
            <a:gdLst/>
            <a:ahLst/>
            <a:cxnLst/>
            <a:rect l="l" t="t" r="r" b="b"/>
            <a:pathLst>
              <a:path w="1485900" h="1485900">
                <a:moveTo>
                  <a:pt x="742950" y="0"/>
                </a:moveTo>
                <a:lnTo>
                  <a:pt x="742950" y="0"/>
                </a:lnTo>
                <a:cubicBezTo>
                  <a:pt x="1152995" y="0"/>
                  <a:pt x="1485900" y="332905"/>
                  <a:pt x="1485900" y="742950"/>
                </a:cubicBezTo>
                <a:lnTo>
                  <a:pt x="1485900" y="742950"/>
                </a:lnTo>
                <a:cubicBezTo>
                  <a:pt x="1485900" y="1152995"/>
                  <a:pt x="1152995" y="1485900"/>
                  <a:pt x="742950" y="1485900"/>
                </a:cubicBezTo>
                <a:lnTo>
                  <a:pt x="742950" y="1485900"/>
                </a:lnTo>
                <a:cubicBezTo>
                  <a:pt x="332905" y="1485900"/>
                  <a:pt x="0" y="1152995"/>
                  <a:pt x="0" y="742950"/>
                </a:cubicBezTo>
                <a:lnTo>
                  <a:pt x="0" y="742950"/>
                </a:lnTo>
                <a:cubicBezTo>
                  <a:pt x="0" y="332905"/>
                  <a:pt x="332905" y="0"/>
                  <a:pt x="742950" y="0"/>
                </a:cubicBezTo>
                <a:close/>
              </a:path>
            </a:pathLst>
          </a:custGeom>
          <a:solidFill>
            <a:srgbClr val="4E9A8C">
              <a:alpha val="20000"/>
            </a:srgbClr>
          </a:solidFill>
          <a:ln w="50800">
            <a:solidFill>
              <a:srgbClr val="4E9A8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581650" y="1047750"/>
            <a:ext cx="1028700" cy="914400"/>
          </a:xfrm>
          <a:custGeom>
            <a:avLst/>
            <a:gdLst/>
            <a:ahLst/>
            <a:cxnLst/>
            <a:rect l="l" t="t" r="r" b="b"/>
            <a:pathLst>
              <a:path w="1028700" h="914400">
                <a:moveTo>
                  <a:pt x="685800" y="257175"/>
                </a:moveTo>
                <a:cubicBezTo>
                  <a:pt x="685800" y="430768"/>
                  <a:pt x="532209" y="571500"/>
                  <a:pt x="342900" y="571500"/>
                </a:cubicBezTo>
                <a:cubicBezTo>
                  <a:pt x="295215" y="571500"/>
                  <a:pt x="249853" y="562570"/>
                  <a:pt x="208598" y="546497"/>
                </a:cubicBezTo>
                <a:lnTo>
                  <a:pt x="62865" y="623649"/>
                </a:lnTo>
                <a:cubicBezTo>
                  <a:pt x="46256" y="632400"/>
                  <a:pt x="25896" y="629364"/>
                  <a:pt x="12502" y="616148"/>
                </a:cubicBezTo>
                <a:cubicBezTo>
                  <a:pt x="-893" y="602933"/>
                  <a:pt x="-3929" y="582394"/>
                  <a:pt x="5001" y="565785"/>
                </a:cubicBezTo>
                <a:lnTo>
                  <a:pt x="68580" y="445770"/>
                </a:lnTo>
                <a:cubicBezTo>
                  <a:pt x="25539" y="393263"/>
                  <a:pt x="0" y="327898"/>
                  <a:pt x="0" y="257175"/>
                </a:cubicBezTo>
                <a:cubicBezTo>
                  <a:pt x="0" y="83582"/>
                  <a:pt x="153591" y="-57150"/>
                  <a:pt x="342900" y="-57150"/>
                </a:cubicBezTo>
                <a:cubicBezTo>
                  <a:pt x="532209" y="-57150"/>
                  <a:pt x="685800" y="83582"/>
                  <a:pt x="685800" y="257175"/>
                </a:cubicBezTo>
                <a:close/>
                <a:moveTo>
                  <a:pt x="685800" y="914400"/>
                </a:moveTo>
                <a:cubicBezTo>
                  <a:pt x="517743" y="914400"/>
                  <a:pt x="377904" y="803493"/>
                  <a:pt x="348615" y="657225"/>
                </a:cubicBezTo>
                <a:cubicBezTo>
                  <a:pt x="562928" y="654546"/>
                  <a:pt x="749201" y="502027"/>
                  <a:pt x="769739" y="295215"/>
                </a:cubicBezTo>
                <a:cubicBezTo>
                  <a:pt x="918508" y="329505"/>
                  <a:pt x="1028700" y="452914"/>
                  <a:pt x="1028700" y="600075"/>
                </a:cubicBezTo>
                <a:cubicBezTo>
                  <a:pt x="1028700" y="670798"/>
                  <a:pt x="1003161" y="736163"/>
                  <a:pt x="960120" y="788670"/>
                </a:cubicBezTo>
                <a:lnTo>
                  <a:pt x="1023699" y="908685"/>
                </a:lnTo>
                <a:cubicBezTo>
                  <a:pt x="1032450" y="925294"/>
                  <a:pt x="1029414" y="945654"/>
                  <a:pt x="1016198" y="959048"/>
                </a:cubicBezTo>
                <a:cubicBezTo>
                  <a:pt x="1002982" y="972443"/>
                  <a:pt x="982444" y="975479"/>
                  <a:pt x="965835" y="966549"/>
                </a:cubicBezTo>
                <a:lnTo>
                  <a:pt x="820103" y="889397"/>
                </a:lnTo>
                <a:cubicBezTo>
                  <a:pt x="778847" y="905470"/>
                  <a:pt x="733485" y="914400"/>
                  <a:pt x="685800" y="914400"/>
                </a:cubicBezTo>
                <a:close/>
              </a:path>
            </a:pathLst>
          </a:custGeom>
          <a:solidFill>
            <a:srgbClr val="4E9A8C"/>
          </a:solidFill>
          <a:ln/>
        </p:spPr>
      </p:sp>
      <p:sp>
        <p:nvSpPr>
          <p:cNvPr id="6" name="Text 3"/>
          <p:cNvSpPr/>
          <p:nvPr/>
        </p:nvSpPr>
        <p:spPr>
          <a:xfrm>
            <a:off x="2648694" y="2571750"/>
            <a:ext cx="68961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9600" b="1" dirty="0">
                <a:solidFill>
                  <a:srgbClr val="E0E2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Questions?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181600" y="4019550"/>
            <a:ext cx="1828800" cy="76200"/>
          </a:xfrm>
          <a:custGeom>
            <a:avLst/>
            <a:gdLst/>
            <a:ahLst/>
            <a:cxn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4E9A8C"/>
          </a:solidFill>
          <a:ln/>
        </p:spPr>
      </p:sp>
      <p:sp>
        <p:nvSpPr>
          <p:cNvPr id="8" name="Shape 5"/>
          <p:cNvSpPr/>
          <p:nvPr/>
        </p:nvSpPr>
        <p:spPr>
          <a:xfrm>
            <a:off x="2884587" y="4552950"/>
            <a:ext cx="6438900" cy="685800"/>
          </a:xfrm>
          <a:custGeom>
            <a:avLst/>
            <a:gdLst/>
            <a:ahLst/>
            <a:cxnLst/>
            <a:rect l="l" t="t" r="r" b="b"/>
            <a:pathLst>
              <a:path w="6438900" h="685800">
                <a:moveTo>
                  <a:pt x="0" y="0"/>
                </a:moveTo>
                <a:lnTo>
                  <a:pt x="6438900" y="0"/>
                </a:lnTo>
                <a:lnTo>
                  <a:pt x="64389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2884587" y="455295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0" name="Shape 7"/>
          <p:cNvSpPr/>
          <p:nvPr/>
        </p:nvSpPr>
        <p:spPr>
          <a:xfrm>
            <a:off x="3167955" y="475297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0" y="35719"/>
                </a:moveTo>
                <a:cubicBezTo>
                  <a:pt x="0" y="16018"/>
                  <a:pt x="16018" y="0"/>
                  <a:pt x="35719" y="0"/>
                </a:cubicBezTo>
                <a:lnTo>
                  <a:pt x="119156" y="0"/>
                </a:lnTo>
                <a:cubicBezTo>
                  <a:pt x="128643" y="0"/>
                  <a:pt x="137740" y="3739"/>
                  <a:pt x="144438" y="10437"/>
                </a:cubicBezTo>
                <a:lnTo>
                  <a:pt x="203876" y="69931"/>
                </a:lnTo>
                <a:cubicBezTo>
                  <a:pt x="210573" y="76628"/>
                  <a:pt x="214313" y="85725"/>
                  <a:pt x="214313" y="95213"/>
                </a:cubicBezTo>
                <a:lnTo>
                  <a:pt x="214313" y="250031"/>
                </a:lnTo>
                <a:cubicBezTo>
                  <a:pt x="214313" y="269732"/>
                  <a:pt x="198295" y="285750"/>
                  <a:pt x="178594" y="285750"/>
                </a:cubicBezTo>
                <a:lnTo>
                  <a:pt x="35719" y="285750"/>
                </a:lnTo>
                <a:cubicBezTo>
                  <a:pt x="16018" y="285750"/>
                  <a:pt x="0" y="269732"/>
                  <a:pt x="0" y="250031"/>
                </a:cubicBezTo>
                <a:lnTo>
                  <a:pt x="0" y="35719"/>
                </a:lnTo>
                <a:close/>
                <a:moveTo>
                  <a:pt x="116086" y="32649"/>
                </a:moveTo>
                <a:lnTo>
                  <a:pt x="116086" y="84832"/>
                </a:lnTo>
                <a:cubicBezTo>
                  <a:pt x="116086" y="92255"/>
                  <a:pt x="122058" y="98227"/>
                  <a:pt x="129480" y="98227"/>
                </a:cubicBezTo>
                <a:lnTo>
                  <a:pt x="181663" y="98227"/>
                </a:lnTo>
                <a:lnTo>
                  <a:pt x="116086" y="32649"/>
                </a:lnTo>
                <a:close/>
                <a:moveTo>
                  <a:pt x="66973" y="142875"/>
                </a:moveTo>
                <a:cubicBezTo>
                  <a:pt x="59550" y="142875"/>
                  <a:pt x="53578" y="148847"/>
                  <a:pt x="53578" y="156270"/>
                </a:cubicBezTo>
                <a:cubicBezTo>
                  <a:pt x="53578" y="163692"/>
                  <a:pt x="59550" y="169664"/>
                  <a:pt x="66973" y="169664"/>
                </a:cubicBezTo>
                <a:lnTo>
                  <a:pt x="147340" y="169664"/>
                </a:lnTo>
                <a:cubicBezTo>
                  <a:pt x="154763" y="169664"/>
                  <a:pt x="160734" y="163692"/>
                  <a:pt x="160734" y="156270"/>
                </a:cubicBezTo>
                <a:cubicBezTo>
                  <a:pt x="160734" y="148847"/>
                  <a:pt x="154763" y="142875"/>
                  <a:pt x="147340" y="142875"/>
                </a:cubicBezTo>
                <a:lnTo>
                  <a:pt x="66973" y="142875"/>
                </a:lnTo>
                <a:close/>
                <a:moveTo>
                  <a:pt x="66973" y="196453"/>
                </a:moveTo>
                <a:cubicBezTo>
                  <a:pt x="59550" y="196453"/>
                  <a:pt x="53578" y="202425"/>
                  <a:pt x="53578" y="209848"/>
                </a:cubicBezTo>
                <a:cubicBezTo>
                  <a:pt x="53578" y="217270"/>
                  <a:pt x="59550" y="223242"/>
                  <a:pt x="66973" y="223242"/>
                </a:cubicBezTo>
                <a:lnTo>
                  <a:pt x="147340" y="223242"/>
                </a:lnTo>
                <a:cubicBezTo>
                  <a:pt x="154763" y="223242"/>
                  <a:pt x="160734" y="217270"/>
                  <a:pt x="160734" y="209848"/>
                </a:cubicBezTo>
                <a:cubicBezTo>
                  <a:pt x="160734" y="202425"/>
                  <a:pt x="154763" y="196453"/>
                  <a:pt x="147340" y="196453"/>
                </a:cubicBezTo>
                <a:lnTo>
                  <a:pt x="66973" y="196453"/>
                </a:lnTo>
                <a:close/>
              </a:path>
            </a:pathLst>
          </a:custGeom>
          <a:solidFill>
            <a:srgbClr val="4E9A8C"/>
          </a:solidFill>
          <a:ln/>
        </p:spPr>
      </p:sp>
      <p:sp>
        <p:nvSpPr>
          <p:cNvPr id="11" name="Text 8"/>
          <p:cNvSpPr/>
          <p:nvPr/>
        </p:nvSpPr>
        <p:spPr>
          <a:xfrm>
            <a:off x="3603724" y="4743450"/>
            <a:ext cx="56483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E0E2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We've included </a:t>
            </a:r>
            <a:pPr>
              <a:lnSpc>
                <a:spcPct val="110000"/>
              </a:lnSpc>
            </a:pPr>
            <a:r>
              <a:rPr lang="en-US" sz="1800" b="1" dirty="0">
                <a:solidFill>
                  <a:srgbClr val="4E9A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detailed analysis</a:t>
            </a:r>
            <a:pPr>
              <a:lnSpc>
                <a:spcPct val="110000"/>
              </a:lnSpc>
            </a:pPr>
            <a:r>
              <a:rPr lang="en-US" sz="1800" dirty="0">
                <a:solidFill>
                  <a:srgbClr val="E0E2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the executive report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884587" y="5429250"/>
            <a:ext cx="6438900" cy="685800"/>
          </a:xfrm>
          <a:custGeom>
            <a:avLst/>
            <a:gdLst/>
            <a:ahLst/>
            <a:cxnLst/>
            <a:rect l="l" t="t" r="r" b="b"/>
            <a:pathLst>
              <a:path w="6438900" h="685800">
                <a:moveTo>
                  <a:pt x="0" y="0"/>
                </a:moveTo>
                <a:lnTo>
                  <a:pt x="6438900" y="0"/>
                </a:lnTo>
                <a:lnTo>
                  <a:pt x="64389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2884587" y="542925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4" name="Shape 11"/>
          <p:cNvSpPr/>
          <p:nvPr/>
        </p:nvSpPr>
        <p:spPr>
          <a:xfrm>
            <a:off x="3132237" y="56292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7859" y="17859"/>
                </a:moveTo>
                <a:cubicBezTo>
                  <a:pt x="27738" y="17859"/>
                  <a:pt x="35719" y="25840"/>
                  <a:pt x="35719" y="35719"/>
                </a:cubicBezTo>
                <a:lnTo>
                  <a:pt x="35719" y="223242"/>
                </a:lnTo>
                <a:cubicBezTo>
                  <a:pt x="35719" y="228154"/>
                  <a:pt x="39737" y="232172"/>
                  <a:pt x="44648" y="232172"/>
                </a:cubicBezTo>
                <a:lnTo>
                  <a:pt x="267891" y="232172"/>
                </a:lnTo>
                <a:cubicBezTo>
                  <a:pt x="277769" y="232172"/>
                  <a:pt x="285750" y="240153"/>
                  <a:pt x="285750" y="250031"/>
                </a:cubicBezTo>
                <a:cubicBezTo>
                  <a:pt x="285750" y="259910"/>
                  <a:pt x="277769" y="267891"/>
                  <a:pt x="267891" y="267891"/>
                </a:cubicBezTo>
                <a:lnTo>
                  <a:pt x="44648" y="267891"/>
                </a:lnTo>
                <a:cubicBezTo>
                  <a:pt x="19980" y="267891"/>
                  <a:pt x="0" y="247910"/>
                  <a:pt x="0" y="223242"/>
                </a:cubicBezTo>
                <a:lnTo>
                  <a:pt x="0" y="35719"/>
                </a:lnTo>
                <a:cubicBezTo>
                  <a:pt x="0" y="25840"/>
                  <a:pt x="7981" y="17859"/>
                  <a:pt x="17859" y="17859"/>
                </a:cubicBezTo>
                <a:close/>
                <a:moveTo>
                  <a:pt x="71438" y="53578"/>
                </a:moveTo>
                <a:cubicBezTo>
                  <a:pt x="71438" y="43700"/>
                  <a:pt x="79418" y="35719"/>
                  <a:pt x="89297" y="35719"/>
                </a:cubicBezTo>
                <a:lnTo>
                  <a:pt x="196453" y="35719"/>
                </a:lnTo>
                <a:cubicBezTo>
                  <a:pt x="206332" y="35719"/>
                  <a:pt x="214313" y="43700"/>
                  <a:pt x="214313" y="53578"/>
                </a:cubicBezTo>
                <a:cubicBezTo>
                  <a:pt x="214313" y="63457"/>
                  <a:pt x="206332" y="71438"/>
                  <a:pt x="196453" y="71438"/>
                </a:cubicBezTo>
                <a:lnTo>
                  <a:pt x="89297" y="71438"/>
                </a:lnTo>
                <a:cubicBezTo>
                  <a:pt x="79418" y="71438"/>
                  <a:pt x="71438" y="63457"/>
                  <a:pt x="71438" y="53578"/>
                </a:cubicBezTo>
                <a:close/>
                <a:moveTo>
                  <a:pt x="89297" y="98227"/>
                </a:moveTo>
                <a:lnTo>
                  <a:pt x="160734" y="98227"/>
                </a:lnTo>
                <a:cubicBezTo>
                  <a:pt x="170613" y="98227"/>
                  <a:pt x="178594" y="106207"/>
                  <a:pt x="178594" y="116086"/>
                </a:cubicBezTo>
                <a:cubicBezTo>
                  <a:pt x="178594" y="125964"/>
                  <a:pt x="170613" y="133945"/>
                  <a:pt x="160734" y="133945"/>
                </a:cubicBezTo>
                <a:lnTo>
                  <a:pt x="89297" y="133945"/>
                </a:lnTo>
                <a:cubicBezTo>
                  <a:pt x="79418" y="133945"/>
                  <a:pt x="71438" y="125964"/>
                  <a:pt x="71438" y="116086"/>
                </a:cubicBezTo>
                <a:cubicBezTo>
                  <a:pt x="71438" y="106207"/>
                  <a:pt x="79418" y="98227"/>
                  <a:pt x="89297" y="98227"/>
                </a:cubicBezTo>
                <a:close/>
                <a:moveTo>
                  <a:pt x="89297" y="160734"/>
                </a:moveTo>
                <a:lnTo>
                  <a:pt x="232172" y="160734"/>
                </a:lnTo>
                <a:cubicBezTo>
                  <a:pt x="242050" y="160734"/>
                  <a:pt x="250031" y="168715"/>
                  <a:pt x="250031" y="178594"/>
                </a:cubicBezTo>
                <a:cubicBezTo>
                  <a:pt x="250031" y="188472"/>
                  <a:pt x="242050" y="196453"/>
                  <a:pt x="232172" y="196453"/>
                </a:cubicBezTo>
                <a:lnTo>
                  <a:pt x="89297" y="196453"/>
                </a:lnTo>
                <a:cubicBezTo>
                  <a:pt x="79418" y="196453"/>
                  <a:pt x="71438" y="188472"/>
                  <a:pt x="71438" y="178594"/>
                </a:cubicBezTo>
                <a:cubicBezTo>
                  <a:pt x="71438" y="168715"/>
                  <a:pt x="79418" y="160734"/>
                  <a:pt x="89297" y="160734"/>
                </a:cubicBezTo>
                <a:close/>
              </a:path>
            </a:pathLst>
          </a:custGeom>
          <a:solidFill>
            <a:srgbClr val="4E9A8C"/>
          </a:solidFill>
          <a:ln/>
        </p:spPr>
      </p:sp>
      <p:sp>
        <p:nvSpPr>
          <p:cNvPr id="15" name="Text 12"/>
          <p:cNvSpPr/>
          <p:nvPr/>
        </p:nvSpPr>
        <p:spPr>
          <a:xfrm>
            <a:off x="3603724" y="5619750"/>
            <a:ext cx="5381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E9A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Quarterly metrics dashboard</a:t>
            </a:r>
            <a:pPr>
              <a:lnSpc>
                <a:spcPct val="110000"/>
              </a:lnSpc>
            </a:pPr>
            <a:r>
              <a:rPr lang="en-US" sz="1800" dirty="0">
                <a:solidFill>
                  <a:srgbClr val="E0E2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available upon approval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 Safety Analytics - Board Presentation</dc:title>
  <dc:subject>Road Safety Analytics - Board Presentation</dc:subject>
  <dc:creator>Kimi</dc:creator>
  <cp:lastModifiedBy>Kimi</cp:lastModifiedBy>
  <cp:revision>1</cp:revision>
  <dcterms:created xsi:type="dcterms:W3CDTF">2026-01-13T13:31:28Z</dcterms:created>
  <dcterms:modified xsi:type="dcterms:W3CDTF">2026-01-13T13:31:28Z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{"Label":"Road Safety Analytics - Board Presentation","ContentProducer":"001191110108MACG2KBH8F10000","ProduceID":"19bb77bc-9c52-87ad-8000-000044ff80e9","ReservedCode1":"","ContentPropagator":"001191110108MACG2KBH8F20000","PropagateID":"19bb77bc-9c52-87ad-8000-000044ff80e9","ReservedCode2":""}</vt:lpwstr>
  </property>
</Properties>
</file>